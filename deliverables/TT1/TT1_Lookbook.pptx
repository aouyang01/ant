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S001 | E1 | PDF 2 | EXT. WHITMORE ESTATE - GATE - DAY</a:t>
            </a:r>
          </a:p>
          <a:p>
            <a:r>
              <a:t>S003 | E1 | PDF 2 | EXT. WHITMORE ESTATE - GATE - DAY (FLASHBACK)</a:t>
            </a:r>
          </a:p>
          <a:p>
            <a:r>
              <a:t>S057 | E34 | PDF 72 | EXT. WHITMORE ESTATE - FRONT GATE - LATE NIGHT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A001 Thanksgiving wreath</a:t>
            </a:r>
          </a:p>
          <a:p>
            <a:r>
              <a:t>E1 | EXT. WHITMORE ESTATE - GATE - DAY | PDF [2] | SUPER: "THANKSGIVING" A Thanksgiving wreath hangs on the iron gate. Gloria stands outside it, pinning down a résumé the wind keeps trying to curl. Her phone buzzes in her ot</a:t>
            </a:r>
          </a:p>
          <a:p/>
          <a:p>
            <a:r>
              <a:t>A002 Iron gate</a:t>
            </a:r>
          </a:p>
          <a:p>
            <a:r>
              <a:t>E1 | EXT. WHITMORE ESTATE - GATE - DAY | PDF [2] | SUPER: "THANKSGIVING" A Thanksgiving wreath hangs on the iron gate. Gloria stands outside it, pinning down a résumé the wind keeps trying to curl. Her phone buzzes in her other hand. CLOSE ON: the</a:t>
            </a:r>
          </a:p>
          <a:p>
            <a:r>
              <a:t>E1 | EXT. WHITMORE ESTATE - GATE - DAY (FLASHBACK) | PDF [2] | e Butler's arms; a third clutches her bag and hurries out through the iron gate. 2. </a:t>
            </a:r>
          </a:p>
          <a:p/>
          <a:p>
            <a:r>
              <a:t>A003 Résumé</a:t>
            </a:r>
          </a:p>
          <a:p>
            <a:r>
              <a:t>E1 | EXT. WHITMORE ESTATE - GATE - DAY | PDF [2] | eath hangs on the iron gate. Gloria stands outside it, pinning down a résumé the wind keeps trying to curl. Her phone buzzes in her other hand. CLOSE ON: the phone screen — INSERT — PHONE SCREEN: "FINAL NOT</a:t>
            </a:r>
          </a:p>
          <a:p/>
          <a:p>
            <a:r>
              <a:t>A004 Phone / camera phone</a:t>
            </a:r>
          </a:p>
          <a:p>
            <a:r>
              <a:t>E1 | EXT. WHITMORE ESTATE - GATE - DAY | PDF [2] |  outside it, pinning down a résumé the wind keeps trying to curl. Her phone buzzes in her other hand. CLOSE ON: the phone screen — INSERT — PHONE SCREEN: "FINAL NOTICE — Student Loan: Pay in full before Ch</a:t>
            </a:r>
          </a:p>
          <a:p>
            <a:r>
              <a:t>E34 | EXT. WHITMORE ESTATE - FRONT GATE - LATE NIGHT | PDF [72] | Gloria's phone rings. She answers. VIVIAN (O.S.) (on phone) Miss Gloria, I'd like to discuss a deal with you. </a:t>
            </a:r>
          </a:p>
          <a:p/>
          <a:p>
            <a:r>
              <a:t>A005 Loan final-notice screen</a:t>
            </a:r>
          </a:p>
          <a:p>
            <a:r>
              <a:t>E1 | EXT. WHITMORE ESTATE - GATE - DAY | PDF [2] |  her other hand. CLOSE ON: the phone screen — INSERT — PHONE SCREEN: "FINAL NOTICE — Student Loan: Pay in full before Christmas or a substantial late penalty will be added." Gloria presses her lips together and t</a:t>
            </a:r>
          </a:p>
          <a:p/>
          <a:p>
            <a:r>
              <a:t>A006 Uniform / nurse wardrobe handoff</a:t>
            </a:r>
          </a:p>
          <a:p>
            <a:r>
              <a:t>E1 | EXT. WHITMORE ESTATE - GATE - DAY (FLASHBACK) | PDF [2, 3] | pes away tears as she bolts out of the estate; another strips off her uniform and shoves it into the Butler's arms; a third clutches her bag and hurries out through the iron gate. 2.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S002 | E1 | PDF 2 | INT. WHITMORE ESTATE - STUDY - DAY</a:t>
            </a:r>
          </a:p>
          <a:p>
            <a:r>
              <a:t>S004 | E1 | PDF 3 | INT. WHITMORE ESTATE - STUDY - DAY</a:t>
            </a:r>
          </a:p>
          <a:p>
            <a:r>
              <a:t>S014 | E5 | PDF 13 | INT. WHITMORE ESTATE - STUDY - DAY</a:t>
            </a:r>
          </a:p>
          <a:p>
            <a:r>
              <a:t>S015 | E6 | PDF 15 | INT. WHITMORE ESTATE - STUDY - DAY</a:t>
            </a:r>
          </a:p>
          <a:p>
            <a:r>
              <a:t>S066 | E40 | PDF 82 | INT. WHITMORE ESTATE - STUDY - MORNING</a:t>
            </a:r>
          </a:p>
          <a:p>
            <a:r>
              <a:t>S068 | E41 | PDF 84 | INT. WHITMORE ESTATE - STUDY - MORNING</a:t>
            </a:r>
          </a:p>
          <a:p>
            <a:r>
              <a:t>S070 | E42 | PDF 87 | INT. WHITMORE ESTATE - STUDY - MORNING (FLASHBACK)</a:t>
            </a:r>
          </a:p>
          <a:p>
            <a:r>
              <a:t>S080 | E48 | PDF 95 | INT. WHITMORE ESTATE - STUDY - AFTERNOON</a:t>
            </a:r>
          </a:p>
          <a:p>
            <a:r>
              <a:t>S081 | E49 | PDF 96 | INT. WHITMORE ESTATE - STUDY - AFTERNOON - CONTINUOUS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A003 Résumé</a:t>
            </a:r>
          </a:p>
          <a:p>
            <a:r>
              <a:t>E1 | INT. WHITMORE ESTATE - STUDY - DAY | PDF [2] | The Butler sits behind the desk, leafing through the résumé. Gloria stands before him, hands hidden in her sleeves, waiting for him to speak. BUTLER Master Bryce was injured in a car accide</a:t>
            </a:r>
          </a:p>
          <a:p>
            <a:r>
              <a:t>E1 | INT. WHITMORE ESTATE - STUDY - DAY | PDF [3] | Gloria frowns, her eyes dropping to the résumé on the desk. She reaches for it — her fingertips just touch the edge of the paper, then stop. GLORIA (V.O.) But if I can't pay of</a:t>
            </a:r>
          </a:p>
          <a:p/>
          <a:p>
            <a:r>
              <a:t>A004 Phone / camera phone</a:t>
            </a:r>
          </a:p>
          <a:p>
            <a:r>
              <a:t>E5 | INT. WHITMORE ESTATE - STUDY - DAY | PDF [14, 15] | doorway and is about to go in when she hears Bryce's voice. BRYCE (on phone) Did you get the photos? Gloria stops. 14. CLOSE ON: Bryce removes the black button from his chest. A tiny camera is hidden on th</a:t>
            </a:r>
          </a:p>
          <a:p/>
          <a:p>
            <a:r>
              <a:t>A006 Uniform / nurse wardrobe handoff</a:t>
            </a:r>
          </a:p>
          <a:p>
            <a:r>
              <a:t>E1 | INT. WHITMORE ESTATE - STUDY - DAY | PDF [3] | A I have. I'll take it. The Butler gives her a look and sets a folded uniform on the desk. BUTLER Then you're hired. Gloria nods firmly. </a:t>
            </a:r>
          </a:p>
          <a:p/>
          <a:p>
            <a:r>
              <a:t>A007 Desk</a:t>
            </a:r>
          </a:p>
          <a:p>
            <a:r>
              <a:t>E1 | INT. WHITMORE ESTATE - STUDY - DAY | PDF [2] | The Butler sits behind the desk, leafing through the résumé. Gloria stands before him, hands hidden in her sleeves, waiting for him to speak. BUTLER Master Bryce</a:t>
            </a:r>
          </a:p>
          <a:p>
            <a:r>
              <a:t>E1 | INT. WHITMORE ESTATE - STUDY - DAY | PDF [3] | Gloria frowns, her eyes dropping to the résumé on the desk. She reaches for it — her fingertips just touch the edge of the paper, then stop. GLORIA (V.O.) But if I can't pay off the loan b</a:t>
            </a:r>
          </a:p>
          <a:p>
            <a:r>
              <a:t>E5 | INT. WHITMORE ESTATE - STUDY - DAY | PDF [13, 15] | Bryce sits behind the desk. DANIEL, ADRIAN's secretary, stands in front of it and slides a contract over to him. DANIEL This is the share transfer agreement</a:t>
            </a:r>
          </a:p>
          <a:p>
            <a:r>
              <a:t>E6 | INT. WHITMORE ESTATE - STUDY - DAY | PDF [15] | lks into the study carrying the sandwiches. She sets the plate on the desk, her eyes landing on the button camera in Bryce's hand. BRYCE Scared you? GLORIA You — you just said you're going to take care of</a:t>
            </a:r>
          </a:p>
          <a:p>
            <a:r>
              <a:t>E40 | INT. WHITMORE ESTATE - STUDY - MORNING | PDF [82] | in his wheelchair, his expression grim. Adrian stands in front of the desk, both hands braced on the mahogany surface, sneering. ADRIAN You're still thinking over the equity transfer, aren't you? Fine, I'</a:t>
            </a:r>
          </a:p>
          <a:p>
            <a:r>
              <a:t>E41 | INT. WHITMORE ESTATE - STUDY - MORNING | PDF [85, 86, 87] | t laugh, gracefully opens her handbag, and tosses a document onto the desk in front of Bryce. CLOSE ON: "Whitmore Group — Irregular Shareholder Holdings Detail." Bryce scans the document, puzzled. BRYCE W</a:t>
            </a:r>
          </a:p>
          <a:p>
            <a:r>
              <a:t>E42 | INT. WHITMORE ESTATE - STUDY - MORNING (FLASHBACK) | PDF [87] | In the study, Claire leans over the desk, her gaze sharp as a blade, locked on Bryce in his wheelchair. CLAIRE (low, ice-cold) Only if everyone sees you dump her for good</a:t>
            </a:r>
          </a:p>
          <a:p>
            <a:r>
              <a:t>E48 | INT. WHITMORE ESTATE - STUDY - AFTERNOON | PDF [95, 96] | Claire sets the record on the desk. She takes a document from her handbag and slides it in front of Gloria. CLOSE ON: "WHITMORE GROUP SHARE TRANSFER AGREEMENT." Glo</a:t>
            </a:r>
          </a:p>
          <a:p>
            <a:r>
              <a:t>E49 | INT. WHITMORE ESTATE - STUDY - AFTERNOON - CONTINUOUS | PDF [96] | Gloria stares at the share transfer agreement on the desk. The scene at the bridal boutique flashes through her mind again. GLORIA So everything he said today was just to make me leave. C</a:t>
            </a:r>
          </a:p>
          <a:p/>
          <a:p>
            <a:r>
              <a:t>A008 Wheelchair</a:t>
            </a:r>
          </a:p>
          <a:p>
            <a:r>
              <a:t>E6 | INT. WHITMORE ESTATE - STUDY - DAY | PDF [16, 18] | are of them. Not kill them. Gloria doesn't relax. 15. Bryce turns his wheelchair to a chess table nearby. He picks up three black pieces and sets them on the table one by one. BRYCE Samuel Price. He signed beca</a:t>
            </a:r>
          </a:p>
          <a:p>
            <a:r>
              <a:t>E40 | INT. WHITMORE ESTATE - STUDY - MORNING | PDF [82] | The study's heavy curtains are half drawn. Bryce sits in his wheelchair, his expression grim. Adrian stands in front of the desk, both hands braced on the mahogany surface, sneering. ADRIAN You're stil</a:t>
            </a:r>
          </a:p>
          <a:p>
            <a:r>
              <a:t>E41 | INT. WHITMORE ESTATE - STUDY - MORNING | PDF [84, 86, 87] | In the study, Bryce, in his wheelchair, and Claire face each other. Bryce's expression is cold. CLAIRE Bryce, long time no see. Ever since your accident, you haven't se</a:t>
            </a:r>
          </a:p>
          <a:p>
            <a:r>
              <a:t>E42 | INT. WHITMORE ESTATE - STUDY - MORNING (FLASHBACK) | PDF [87] | eans over the desk, her gaze sharp as a blade, locked on Bryce in his wheelchair. CLAIRE (low, ice-cold) Only if everyone sees you dump her for good with their own eyes will Adrian and Vivian let their guard do</a:t>
            </a:r>
          </a:p>
          <a:p>
            <a:r>
              <a:t>E49 | INT. WHITMORE ESTATE - STUDY - AFTERNOON - CONTINUOUS | PDF [97] | fer agreement. GLORIA Adrian switched his meds, kept him trapped in a wheelchair for three years, and still wants to take everything from him. She looks up, her gaze resolute. GLORIA The truth has to come out. </a:t>
            </a:r>
          </a:p>
          <a:p/>
          <a:p>
            <a:r>
              <a:t>A029 Share transfer agreement / supplemental page</a:t>
            </a:r>
          </a:p>
          <a:p>
            <a:r>
              <a:t>E5 | INT. WHITMORE ESTATE - STUDY - DAY | PDF [13, 14, 15] |  and slides a contract over to him. DANIEL This is the share transfer agreement. Mr. Adrian would like you to sign it today. Bryce opens to the first page. Daniel reaches over and flips ahead for him, revealin</a:t>
            </a:r>
          </a:p>
          <a:p>
            <a:r>
              <a:t>E48 | INT. WHITMORE ESTATE - STUDY - AFTERNOON | PDF [95, 96] | lides it in front of Gloria. CLOSE ON: "WHITMORE GROUP SHARE TRANSFER AGREEMENT." Gloria's eyes land on the drafting date. GLORIA Three years ago. The day of Bryce's accident. CLAIRE Adrian had it all ready to</a:t>
            </a:r>
          </a:p>
          <a:p>
            <a:r>
              <a:t>E49 | INT. WHITMORE ESTATE - STUDY - AFTERNOON - CONTINUOUS | PDF [96, 97] | Gloria stares at the share transfer agreement on the desk. The scene at the bridal boutique flashes through her mind again. GLORIA So everything he said today was just to make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A030 Signing pen</a:t>
            </a:r>
          </a:p>
          <a:p>
            <a:r>
              <a:t>E5 | INT. WHITMORE ESTATE - STUDY - DAY | PDF [13, 14] | 't want you to have to worry about the company anymore. Daniel sets a pen on top of the contract. DANIEL You haven't attended a board meeting in three years. Whitmore Group today doesn't need someone who</a:t>
            </a:r>
          </a:p>
          <a:p/>
          <a:p>
            <a:r>
              <a:t>A031 Button camera</a:t>
            </a:r>
          </a:p>
          <a:p>
            <a:r>
              <a:t>E5 | INT. WHITMORE ESTATE - STUDY - DAY | PDF [14, 15] | stops. 14. CLOSE ON: Bryce removes the black button from his chest. A tiny camera is hidden on the back. MALE VOICE (on phone) Got them. The contract and the signatures are crystal clear. BRYCE Samuel Price, Oli</a:t>
            </a:r>
          </a:p>
          <a:p>
            <a:r>
              <a:t>E6 | INT. WHITMORE ESTATE - STUDY - DAY | PDF [15] | e sandwiches. She sets the plate on the desk, her eyes landing on the button camera in Bryce's hand. BRYCE Scared you? GLORIA You — you just said you're going to take care of them. Bryce watches how tense she is, </a:t>
            </a:r>
          </a:p>
          <a:p/>
          <a:p>
            <a:r>
              <a:t>A032 Sandwiches / plate</a:t>
            </a:r>
          </a:p>
          <a:p>
            <a:r>
              <a:t>E5 | INT. WHITMORE ESTATE - STUDY - DAY | PDF [14, 15] | ng too long. Outside the study, Gloria approaches carrying a plate of sandwiches. Through the half-open door she sees Daniel standing over Bryce, looking down on him. Bryce picks up the pen and signs his name o</a:t>
            </a:r>
          </a:p>
          <a:p>
            <a:r>
              <a:t>E6 | INT. WHITMORE ESTATE - STUDY - DAY | PDF [15] | Gloria walks into the study carrying the sandwiches. She sets the plate on the desk, her eyes landing on the button camera in Bryce's hand. BRYCE Scared you? GLORIA You — you just s</a:t>
            </a:r>
          </a:p>
          <a:p/>
          <a:p>
            <a:r>
              <a:t>A033 Chess table</a:t>
            </a:r>
          </a:p>
          <a:p>
            <a:r>
              <a:t>E6 | INT. WHITMORE ESTATE - STUDY - DAY | PDF [16] |  kill them. Gloria doesn't relax. 15. Bryce turns his wheelchair to a chess table nearby. He picks up three black pieces and sets them on the table one by one. BRYCE Samuel Price. He signed because Adrian promis</a:t>
            </a:r>
          </a:p>
          <a:p/>
          <a:p>
            <a:r>
              <a:t>A034 Three black chess pieces</a:t>
            </a:r>
          </a:p>
          <a:p>
            <a:r>
              <a:t>E6 | INT. WHITMORE ESTATE - STUDY - DAY | PDF [16] | Bryce turns his wheelchair to a chess table nearby. He picks up three black pieces and sets them on the table one by one. BRYCE Samuel Price. He signed because Adrian promised him the East Coast warehousing proje</a:t>
            </a:r>
          </a:p>
          <a:p/>
          <a:p>
            <a:r>
              <a:t>A069 Curtains</a:t>
            </a:r>
          </a:p>
          <a:p>
            <a:r>
              <a:t>E40 | INT. WHITMORE ESTATE - STUDY - MORNING | PDF [82] | The study's heavy curtains are half drawn. Bryce sits in his wheelchair, his expression grim. Adrian stands in front of the desk, both hands braced on the 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A130 Claire handbag</a:t>
            </a:r>
          </a:p>
          <a:p>
            <a:r>
              <a:t>E41 | INT. WHITMORE ESTATE - STUDY - MORNING | PDF [85] | won't marry you. 84. Claire gives a light laugh, gracefully opens her handbag, and tosses a document onto the desk in front of Bryce. CLOSE ON: "Whitmore Group — Irregular Shareholder Holdings Detail." Bryce</a:t>
            </a:r>
          </a:p>
          <a:p>
            <a:r>
              <a:t>E48 | INT. WHITMORE ESTATE - STUDY - AFTERNOON | PDF [95] | Claire sets the record on the desk. She takes a document from her handbag and slides it in front of Gloria. CLOSE ON: "WHITMORE GROUP SHARE TRANSFER AGREEMENT." Gloria's eyes land on the drafting date. G</a:t>
            </a:r>
          </a:p>
          <a:p/>
          <a:p>
            <a:r>
              <a:t>A131 Irregular holdings detail</a:t>
            </a:r>
          </a:p>
          <a:p>
            <a:r>
              <a:t>E41 | INT. WHITMORE ESTATE - STUDY - MORNING | PDF [85] | document onto the desk in front of Bryce. CLOSE ON: "Whitmore Group — Irregular Shareholder Holdings Detail." Bryce scans the document, puzzled. BRYCE What's this? CLAIRE I didn't come here to be your Mrs. Whitmore. BRYCE</a:t>
            </a:r>
          </a:p>
          <a:p/>
          <a:p>
            <a:r>
              <a:t>A139 Northbridge purchase records</a:t>
            </a:r>
          </a:p>
          <a:p>
            <a:r>
              <a:t>E48 | INT. WHITMORE ESTATE - STUDY - AFTERNOON | PDF [96] |  desk. CLAIRE The agreement proves Adrian planned this all along. The purchase records prove there's something wrong with the meds. GLORIA But it's still not enough. </a:t>
            </a:r>
          </a:p>
          <a:p>
            <a:r>
              <a:t>E49 | INT. WHITMORE ESTATE - STUDY - AFTERNOON - CONTINUOUS | PDF [96, 97] | he right not to help him. Gloria shakes her head. Gloria picks up the purchase records and stacks them on top of the share transfer agreement. GLORIA Adrian switched his meds, kept him trapped in a wheelchair for thr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S005 | E1 | PDF 3 | INT. WHITMORE ESTATE - SECOND-FLOOR HALLWAY / TOP OF STAIRS - DAY</a:t>
            </a:r>
          </a:p>
          <a:p>
            <a:r>
              <a:t>S006 | E2 | PDF 4 | INT. WHITMORE ESTATE - SECOND-FLOOR HALLWAY - DAY</a:t>
            </a:r>
          </a:p>
          <a:p>
            <a:r>
              <a:t>S029 | E14 | PDF 33 | INT. WHITMORE ESTATE - SECOND-FLOOR HALLWAY - NIGHT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E14 | INT. WHITMORE ESTATE - SECOND-FLOOR HALLWAY - NIGHT | PDF [33] | Gloria clutches her phone and hurries down the long hallway, straight for Bryce's bedroom. She grips the door handle and is about to push it open when she </a:t>
            </a:r>
          </a:p>
          <a:p/>
          <a:p>
            <a:r>
              <a:t>A006 Uniform / nurse wardrobe handoff</a:t>
            </a:r>
          </a:p>
          <a:p>
            <a:r>
              <a:t>E1 | INT. WHITMORE ESTATE - SECOND-FLOOR HALLWAY / TOP OF STAIRS - DAY | PDF [3] | Gloria comes out of the study with her uniform, straightening her cuffs as she walks. She stops short. At the end of the hallway, a wheelchair draped in a blanket is slowly rol</a:t>
            </a:r>
          </a:p>
          <a:p/>
          <a:p>
            <a:r>
              <a:t>A008 Wheelchair</a:t>
            </a:r>
          </a:p>
          <a:p>
            <a:r>
              <a:t>E1 | INT. WHITMORE ESTATE - SECOND-FLOOR HALLWAY / TOP OF STAIRS - DAY | PDF [3, 4] | her cuffs as she walks. She stops short. At the end of the hallway, a wheelchair draped in a blanket is slowly rolling toward the stairs. The blanket bulges in the shape of a person, as if someone has passed ou</a:t>
            </a:r>
          </a:p>
          <a:p>
            <a:r>
              <a:t>E2 | INT. WHITMORE ESTATE - SECOND-FLOOR HALLWAY - DAY | PDF [4, 5, 6] |  still on the floor; Bryce looks down at her, his hand resting on the wheelchair's joystick. Gloria glances at the check, picks it up, and pushes herself up off her knees. She wipes the dust off the check with </a:t>
            </a:r>
          </a:p>
          <a:p/>
          <a:p>
            <a:r>
              <a:t>A009 Blanket</a:t>
            </a:r>
          </a:p>
          <a:p>
            <a:r>
              <a:t>E1 | INT. WHITMORE ESTATE - SECOND-FLOOR HALLWAY / TOP OF STAIRS - DAY | PDF [3, 4] |  She stops short. At the end of the hallway, a wheelchair draped in a blanket is slowly rolling toward the stairs. The blanket bulges in the shape of a person, as if someone has passed out in the chair. GLOR</a:t>
            </a:r>
          </a:p>
          <a:p/>
          <a:p>
            <a:r>
              <a:t>A010 Plastic mannequin / detachable arm</a:t>
            </a:r>
          </a:p>
          <a:p>
            <a:r>
              <a:t>E1 | INT. WHITMORE ESTATE - SECOND-FLOOR HALLWAY / TOP OF STAIRS - DAY | PDF [3, 4] | des off. Gloria freezes. There's no one in the chair — just a plastic mannequin. She sits sprawled on the floor, still clutching half of the mannequin's arm. 3. BRYCE (O.S.) (mocking) Nice reflexes. From the s</a:t>
            </a:r>
          </a:p>
          <a:p/>
          <a:p>
            <a:r>
              <a:t>A011 Checks — dismissal / bribe</a:t>
            </a:r>
          </a:p>
          <a:p>
            <a:r>
              <a:t>E1 | INT. WHITMORE ESTATE - SECOND-FLOOR HALLWAY / TOP OF STAIRS - DAY | PDF [4] | a shoves the mannequin's arm aside and looks up at him. Bryce pulls a check from his pocket, holds it between two fingers, and lets it float down in front of her. BRYCE (dismissive) I don't need a therapis</a:t>
            </a:r>
          </a:p>
          <a:p>
            <a:r>
              <a:t>E2 | INT. WHITMORE ESTATE - SECOND-FLOOR HALLWAY - DAY | PDF [4] | The check lies between them. Gloria is still on the floor; Bryce looks down at her, his hand resting on the wheelchair's joystick. Gloria 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S007 | E2 | PDF 6 | INT. WHITMORE ESTATE - LIVING ROOM - BY THE CALENDAR - DAY</a:t>
            </a:r>
          </a:p>
          <a:p>
            <a:r>
              <a:t>S008 | E3 | PDF 7 | INT. WHITMORE ESTATE - LIVING ROOM - BY THE CALENDAR - DAY</a:t>
            </a:r>
          </a:p>
          <a:p>
            <a:r>
              <a:t>S009 | E4 | PDF 10 | INT. WHITMORE ESTATE - LIVING ROOM / OPEN KITCHEN / DINING ROOM - DAY</a:t>
            </a:r>
          </a:p>
          <a:p>
            <a:r>
              <a:t>S010 | E4 | PDF 11 | INT. WHITMORE ESTATE - OPEN KITCHEN / LIVING ROOM - DAY</a:t>
            </a:r>
          </a:p>
          <a:p>
            <a:r>
              <a:t>S013 | E4 | PDF 12 | INT. WHITMORE ESTATE - OPEN KITCHEN / LIVING ROOM - DAY</a:t>
            </a:r>
          </a:p>
          <a:p>
            <a:r>
              <a:t>S035 | E18 | PDF 42 | INT. WHITMORE ESTATE - LIVING ROOM - DAY</a:t>
            </a:r>
          </a:p>
          <a:p>
            <a:r>
              <a:t>S067 | E40 | PDF 83 | INT. WHITMORE ESTATE - LIVING ROOM - CONTINUOUS</a:t>
            </a:r>
          </a:p>
          <a:p>
            <a:r>
              <a:t>S069 | E42 | PDF 87 | INT. WHITMORE ESTATE - LIVING ROOM - MORNING</a:t>
            </a:r>
          </a:p>
          <a:p>
            <a:r>
              <a:t>S071 | E42 | PDF 87 | INT. WHITMORE ESTATE - LIVING ROOM - MORNING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E18 | INT. WHITMORE ESTATE - LIVING ROOM - DAY | PDF [45] | urns to watch him go, the corners of her lips curving gently. 44. Her phone suddenly buzzes. INSERT — PHONE SCREEN (ANONYMOUS TEXT): "Want to know why Bryce still can't stand?" The next message pops up: an</a:t>
            </a:r>
          </a:p>
          <a:p/>
          <a:p>
            <a:r>
              <a:t>A008 Wheelchair</a:t>
            </a:r>
          </a:p>
          <a:p>
            <a:r>
              <a:t>E2 | INT. WHITMORE ESTATE - LIVING ROOM - BY THE CALENDAR - DAY | PDF [6, 7] | ease the brake, and works the joystick. BRYCE You'll regret this. The wheelchair has barely started moving when Gloria darts around in front of it, arms spread wide to block his way. Bryce stops abruptly — the </a:t>
            </a:r>
          </a:p>
          <a:p>
            <a:r>
              <a:t>E3 | INT. WHITMORE ESTATE - LIVING ROOM - BY THE CALENDAR - DAY | PDF [7, 10] | Gloria braces both hands on the wheelchair's armrests, leaning down toward Bryce. Their faces are less than a hand's width apart. Her eyes hold a triumphant smile; Bryce's </a:t>
            </a:r>
          </a:p>
          <a:p>
            <a:r>
              <a:t>E4 | INT. WHITMORE ESTATE - LIVING ROOM / OPEN KITCHEN / DINING ROOM - DAY | PDF [10, 11] | GLORIA (smiling slyly) It's a medical fact. Gloria flips the wheelchair lock open, pushes Bryce to the doorway of the open kitchen, and brakes. She bends down and re-engages the wheelchair's brake lock</a:t>
            </a:r>
          </a:p>
          <a:p>
            <a:r>
              <a:t>E18 | INT. WHITMORE ESTATE - LIVING ROOM - DAY | PDF [43, 45] | tole her work. You're the one the school disciplined. Bryce turns his wheelchair and stops in front of Gloria. BRYCE (coldly) And now you show up in my house and slander her as a fraud? RYAN Mr. Whitmore, you d</a:t>
            </a:r>
          </a:p>
          <a:p/>
          <a:p>
            <a:r>
              <a:t>A012 Calendar / evolving red circles</a:t>
            </a:r>
          </a:p>
          <a:p>
            <a:r>
              <a:t>E2 | INT. WHITMORE ESTATE - LIVING ROOM - BY THE CALENDAR - DAY | PDF [6, 7] | Gloria pushes Bryce up to the calendar beside the fireplace and steps on the brake. She picks up a red marker and draws a line all the way from Thanksgiving to Christma</a:t>
            </a:r>
          </a:p>
          <a:p/>
          <a:p>
            <a:r>
              <a:t>A013 Red marker</a:t>
            </a:r>
          </a:p>
          <a:p>
            <a:r>
              <a:t>E2 | INT. WHITMORE ESTATE - LIVING ROOM - BY THE CALENDAR - DAY | PDF [6] |  calendar beside the fireplace and steps on the brake. She picks up a red marker and draws a line all the way from Thanksgiving to Christmas. GLORIA Thanksgiving to Christmas. Give me thirty days. BRYCE To do w</a:t>
            </a:r>
          </a:p>
          <a:p/>
          <a:p>
            <a:r>
              <a:t>A014 Fireplace</a:t>
            </a:r>
          </a:p>
          <a:p>
            <a:r>
              <a:t>E2 | INT. WHITMORE ESTATE - LIVING ROOM - BY THE CALENDAR - DAY | PDF [6] | Gloria pushes Bryce up to the calendar beside the fireplace and steps on the brake. She picks up a red marker and draws a line all the way from Thanksgiving to Christmas. GLORIA Thanksgivin</a:t>
            </a:r>
          </a:p>
          <a:p/>
          <a:p>
            <a:r>
              <a:t>A015 Clipboard</a:t>
            </a:r>
          </a:p>
          <a:p>
            <a:r>
              <a:t>E3 | INT. WHITMORE ESTATE - LIVING ROOM - BY THE CALENDAR - DAY | PDF [8, 9] | n the assessment's done. BRYCE I'm not doing it. GLORIA (taking out a clipboard) That's fine. Your body will be very honest~ Gloria crouches down in front of Bryce, off to one side, at his eye level. She doesn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A016 Training counter / number inserts</a:t>
            </a:r>
          </a:p>
          <a:p>
            <a:r>
              <a:t>E4 | INT. WHITMORE ESTATE - LIVING ROOM / OPEN KITCHEN / DINING ROOM - DAY | PDF [11] | ying to do? 10. Gloria raises her other hand and presses the training counter with her thumb. CLOSE ON: the counter lights up. GLORIA (watching him) Starting now — training. She pulls her hand free, turns, w</a:t>
            </a:r>
          </a:p>
          <a:p>
            <a:r>
              <a:t>E4 | INT. WHITMORE ESTATE - OPEN KITCHEN / LIVING ROOM - DAY | PDF [11, 12] |  the plate. Gloria doesn't call him out; she turns and wipes down the counter. BRYCE (voice tight) Pesto pasta. How did you know I like this? GLORIA (wiping the counter) As your trainer, I remember everythin</a:t>
            </a:r>
          </a:p>
          <a:p>
            <a:r>
              <a:t>E4 | INT. WHITMORE ESTATE - OPEN KITCHEN / LIVING ROOM - DAY | PDF [12, 13] | mother is gone; only Gloria remains, her back to him, wiping down the counter. Bryce lowers his head. A single tear falls onto his hand. He wipes it away with his thumb at once, glances up to make sure Glori</a:t>
            </a:r>
          </a:p>
          <a:p/>
          <a:p>
            <a:r>
              <a:t>A017 Apron</a:t>
            </a:r>
          </a:p>
          <a:p>
            <a:r>
              <a:t>E4 | INT. WHITMORE ESTATE - LIVING ROOM / OPEN KITCHEN / DINING ROOM - DAY | PDF [11] | he pulls her hand free, turns, walks into the kitchen, and ties on an apron. Bryce stares at her back, his knuckles still tight. GLORIA (with her back to him) A hundred sets of leg lifts. Finish them, then</a:t>
            </a:r>
          </a:p>
          <a:p>
            <a:r>
              <a:t>E42 | INT. WHITMORE ESTATE - LIVING ROOM - MORNING | PDF [88] |  lower lip, fighting back tears. Fingers trembling, Gloria unties the apron at her waist, rips it off, and hurls it onto the cold floor. GLORIA (resolute, heartbroken) Bryce Whitmore, I wish you both a lif</a:t>
            </a:r>
          </a:p>
          <a:p/>
          <a:p>
            <a:r>
              <a:t>A018 Vegetables</a:t>
            </a:r>
          </a:p>
          <a:p>
            <a:r>
              <a:t>E4 | INT. WHITMORE ESTATE - LIVING ROOM / OPEN KITCHEN / DINING ROOM - DAY | PDF [11] | CE (scoffing) You think one meal is going to tame me? GLORIA (washing vegetables) It's not taming, young master. Bryce leans back in the wheelchair, arms crossed, not moving an inch. </a:t>
            </a:r>
          </a:p>
          <a:p>
            <a:r>
              <a:t>E4 | INT. WHITMORE ESTATE - OPEN KITCHEN / LIVING ROOM - DAY | PDF [11] | TIME-LAPSE — Gloria washes vegetables, boils water, chops and preps, moving back and forth in the kitchen. Bryce stays put the whole time: first tapping the armrest, t</a:t>
            </a:r>
          </a:p>
          <a:p/>
          <a:p>
            <a:r>
              <a:t>A019 Pesto pasta / hot and cold plates</a:t>
            </a:r>
          </a:p>
          <a:p>
            <a:r>
              <a:t>E4 | INT. WHITMORE ESTATE - OPEN KITCHEN / LIVING ROOM - DAY | PDF [11, 12] | propping his forehead on his hand, staring out the window. A plate of pesto pasta is set down in front of Bryce. Steam rises toward him. His nostrils flare slightly; the hand tapping the armrest stops. When he t</a:t>
            </a:r>
          </a:p>
          <a:p/>
          <a:p>
            <a:r>
              <a:t>A020 Dining table</a:t>
            </a:r>
          </a:p>
          <a:p>
            <a:r>
              <a:t>E4 | INT. WHITMORE ESTATE - OPEN KITCHEN / LIVING ROOM - DAY | PDF [11] | er; he reaches for the plate. Gloria moves it away, setting it on the dining table a little farther from him. His hand stops in midair. 11. GLORIA Finish your training first. His eyes stay on the plate. Gloria do</a:t>
            </a:r>
          </a:p>
          <a:p/>
          <a:p>
            <a:r>
              <a:t>A022 Wiping rag</a:t>
            </a:r>
          </a:p>
          <a:p>
            <a:r>
              <a:t>E4 | INT. WHITMORE ESTATE - OPEN KITCHEN / LIVING ROOM - DAY | PDF [12] | foot a little off the footrest. CLOSE ON: the counter jumps to 1. The rag in Gloria's hand pauses for an instant. She looks back at him; a flicker of heartache crosses her eyes. 12. MONTAGE — TRAINING: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A023 Training log / log sheet</a:t>
            </a:r>
          </a:p>
          <a:p>
            <a:r>
              <a:t>E4 | INT. WHITMORE ESTATE - OPEN KITCHEN / LIVING ROOM - DAY | PDF [13] | him cold; his eyes redden again. Gloria lowers her eyes and opens her log sheet, giving him time to pull himself together. </a:t>
            </a:r>
          </a:p>
          <a:p/>
          <a:p>
            <a:r>
              <a:t>A024 Watch</a:t>
            </a:r>
          </a:p>
          <a:p>
            <a:r>
              <a:t>E4 | INT. WHITMORE ESTATE - OPEN KITCHEN / LIVING ROOM - DAY | PDF [11] | tays put the whole time: first tapping the armrest, then checking his watch, and finally propping his forehead on his hand, staring out the window. A plate of pesto pasta is set down in front of Bryce. Ste</a:t>
            </a:r>
          </a:p>
          <a:p>
            <a:r>
              <a:t>E18 | INT. WHITMORE ESTATE - LIVING ROOM - DAY | PDF [44] | for training, Miss Reed. Let's go. He rolls past Gloria. She turns to watch him go, the corners of her lips curving gently. 44. Her phone suddenly buzzes. INSERT — PHONE SCREEN (ANONYMOUS TEXT): "Want to k</a:t>
            </a:r>
          </a:p>
          <a:p>
            <a:r>
              <a:t>E42 | INT. WHITMORE ESTATE - LIVING ROOM - MORNING | PDF [87] | e, Adrian and Vivian trade a smug look, arms folded, smirking as they watch the show. </a:t>
            </a:r>
          </a:p>
          <a:p/>
          <a:p>
            <a:r>
              <a:t>A025 Window / blinds</a:t>
            </a:r>
          </a:p>
          <a:p>
            <a:r>
              <a:t>E4 | INT. WHITMORE ESTATE - OPEN KITCHEN / LIVING ROOM - DAY | PDF [11] | watch, and finally propping his forehead on his hand, staring out the window. A plate of pesto pasta is set down in front of Bryce. Steam rises toward him. His nostrils flare slightly; the hand tapping the </a:t>
            </a:r>
          </a:p>
          <a:p/>
          <a:p>
            <a:r>
              <a:t>A029 Share transfer agreement / supplemental page</a:t>
            </a:r>
          </a:p>
          <a:p>
            <a:r>
              <a:t>E3 | INT. WHITMORE ESTATE - LIVING ROOM - BY THE CALENDAR - DAY | PDF [9] | ) Knee reflex is present. Quads are responding, and the adductors can contract too. BRYCE (staring at her) Are you done? GLORIA It's not that you can't feel anything. You just won't cooperate. Gloria releases</a:t>
            </a:r>
          </a:p>
          <a:p/>
          <a:p>
            <a:r>
              <a:t>A075 Manila envelope</a:t>
            </a:r>
          </a:p>
          <a:p>
            <a:r>
              <a:t>E18 | INT. WHITMORE ESTATE - LIVING ROOM - DAY | PDF [42] | The manila envelope lands at Ryan's feet. RYAN What is this? BRYCE Don't you know better than anyone? Ryan bends down, picks up the envelope, and pul</a:t>
            </a:r>
          </a:p>
          <a:p/>
          <a:p>
            <a:r>
              <a:t>A076 University disciplinary notice</a:t>
            </a:r>
          </a:p>
          <a:p>
            <a:r>
              <a:t>E18 | INT. WHITMORE ESTATE - LIVING ROOM - DAY | PDF [42, 44] | e envelope, and pulls out the document inside. CLOSE ON: A university disciplinary notice. INSERT — DOCUMENT: "Ryan Collins attempted to copy Gloria Reed's exam. Exam score voided. Graduation delayed." 42. The blood dra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A077 Anonymous texts / remote address</a:t>
            </a:r>
          </a:p>
          <a:p>
            <a:r>
              <a:t>E18 | INT. WHITMORE ESTATE - LIVING ROOM - DAY | PDF [45] | curving gently. 44. Her phone suddenly buzzes. INSERT — PHONE SCREEN (ANONYMOUS TEXT): "Want to know why Bryce still can't stand?" The next message pops up: an address somewhere remote. INSERT — PHONE SCREEN (ANONY</a:t>
            </a:r>
          </a:p>
          <a:p/>
          <a:p>
            <a:r>
              <a:t>A122 Front door / latch</a:t>
            </a:r>
          </a:p>
          <a:p>
            <a:r>
              <a:t>E42 | INT. WHITMORE ESTATE - LIVING ROOM - MORNING | PDF [88] | lifetime of happiness. Gloria turns decisively and strides toward the front door. Bryce's eyes stay fixed on her retreating back. Gloria steps out the front door, falters, and can't help looking back. The heavy</a:t>
            </a:r>
          </a:p>
          <a:p/>
          <a:p>
            <a:r>
              <a:t>A127 Leather sofa</a:t>
            </a:r>
          </a:p>
          <a:p>
            <a:r>
              <a:t>E40 | INT. WHITMORE ESTATE - LIVING ROOM - CONTINUOUS | PDF [83] | The living room. Claire sits primly on the leather sofa, drinking from a teacup. Vivian, also holding a teacup, eyes Gloria, who stands off to one side, with contempt. VIVIAN (cuttingly</a:t>
            </a:r>
          </a:p>
          <a:p/>
          <a:p>
            <a:r>
              <a:t>A128 Teacups / Darjeeling tea / milk</a:t>
            </a:r>
          </a:p>
          <a:p>
            <a:r>
              <a:t>E40 | INT. WHITMORE ESTATE - LIVING ROOM - CONTINUOUS | PDF [83] |  living room. Claire sits primly on the leather sofa, drinking from a teacup. Vivian, also holding a teacup, eyes Gloria, who stands off to one side, with contempt. VIVIAN (cuttingly) What is this garbage t</a:t>
            </a:r>
          </a:p>
          <a:p/>
          <a:p>
            <a:r>
              <a:t>A129 Coffee table</a:t>
            </a:r>
          </a:p>
          <a:p>
            <a:r>
              <a:t>E40 | INT. WHITMORE ESTATE - LIVING ROOM - CONTINUOUS | PDF [83] |  You actually dare to serve this? Vivian slams her teacup down on the coffee table. VIVIAN Go make Claire a cup of black tea. And remember, she only drinks Darjeeling. One extra drop of milk and she can't swallow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S009 | E4 | PDF 10 | INT. WHITMORE ESTATE - LIVING ROOM / OPEN KITCHEN / DINING ROOM - DAY</a:t>
            </a:r>
          </a:p>
          <a:p>
            <a:r>
              <a:t>S010 | E4 | PDF 11 | INT. WHITMORE ESTATE - OPEN KITCHEN / LIVING ROOM - DAY</a:t>
            </a:r>
          </a:p>
          <a:p>
            <a:r>
              <a:t>S013 | E4 | PDF 12 | INT. WHITMORE ESTATE - OPEN KITCHEN / LIVING ROOM - DAY</a:t>
            </a:r>
          </a:p>
          <a:p>
            <a:r>
              <a:t>S064 | E39 | PDF 80 | INT. WHITMORE ESTATE - OPEN KITCHEN - MORNING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E4 | INT. WHITMORE ESTATE - LIVING ROOM / OPEN KITCHEN / DINING ROOM - DAY | PDF [10, 11] | GLORIA (smiling slyly) It's a medical fact. Gloria flips the wheelchair lock open, pushes Bryce to the doorway of the open kitchen, and brakes. She bends down and re-engages the wheelchair's brake lock</a:t>
            </a:r>
          </a:p>
          <a:p>
            <a:r>
              <a:t>E39 | INT. WHITMORE ESTATE - OPEN KITCHEN - MORNING | PDF [80, 81] | s her head down, cooking breakfast. Behind her comes the soft roll of wheelchair wheels. Bryce stops his wheelchair beside the counter, looking refreshed, a tender smile on his face. GLORIA (without turning aro</a:t>
            </a:r>
          </a:p>
          <a:p/>
          <a:p>
            <a:r>
              <a:t>A016 Training counter / number inserts</a:t>
            </a:r>
          </a:p>
          <a:p>
            <a:r>
              <a:t>E4 | INT. WHITMORE ESTATE - LIVING ROOM / OPEN KITCHEN / DINING ROOM - DAY | PDF [11] | ying to do? 10. Gloria raises her other hand and presses the training counter with her thumb. CLOSE ON: the counter lights up. GLORIA (watching him) Starting now — training. She pulls her hand free, turns, w</a:t>
            </a:r>
          </a:p>
          <a:p>
            <a:r>
              <a:t>E4 | INT. WHITMORE ESTATE - OPEN KITCHEN / LIVING ROOM - DAY | PDF [11, 12] |  the plate. Gloria doesn't call him out; she turns and wipes down the counter. BRYCE (voice tight) Pesto pasta. How did you know I like this? GLORIA (wiping the counter) As your trainer, I remember everythin</a:t>
            </a:r>
          </a:p>
          <a:p>
            <a:r>
              <a:t>E4 | INT. WHITMORE ESTATE - OPEN KITCHEN / LIVING ROOM - DAY | PDF [12, 13] | mother is gone; only Gloria remains, her back to him, wiping down the counter. Bryce lowers his head. A single tear falls onto his hand. He wipes it away with his thumb at once, glances up to make sure Glori</a:t>
            </a:r>
          </a:p>
          <a:p>
            <a:r>
              <a:t>E39 | INT. WHITMORE ESTATE - OPEN KITCHEN - MORNING | PDF [80] | Early morning sunlight slants through the blinds onto the counter. Eggs sizzle in a frying pan. Gloria, in a loose house sweater and an apron, has her head down, cooking breakfast. Behind her com</a:t>
            </a:r>
          </a:p>
          <a:p/>
          <a:p>
            <a:r>
              <a:t>A017 Apron</a:t>
            </a:r>
          </a:p>
          <a:p>
            <a:r>
              <a:t>E4 | INT. WHITMORE ESTATE - LIVING ROOM / OPEN KITCHEN / DINING ROOM - DAY | PDF [11] | he pulls her hand free, turns, walks into the kitchen, and ties on an apron. Bryce stares at her back, his knuckles still tight. GLORIA (with her back to him) A hundred sets of leg lifts. Finish them, then</a:t>
            </a:r>
          </a:p>
          <a:p>
            <a:r>
              <a:t>E39 | INT. WHITMORE ESTATE - OPEN KITCHEN - MORNING | PDF [80, 81] |  Eggs sizzle in a frying pan. Gloria, in a loose house sweater and an apron, has her head down, cooking breakfast. Behind her comes the soft roll of wheelchair wheels. Bryce stops his wheelchair beside the</a:t>
            </a:r>
          </a:p>
          <a:p/>
          <a:p>
            <a:r>
              <a:t>A018 Vegetables</a:t>
            </a:r>
          </a:p>
          <a:p>
            <a:r>
              <a:t>E4 | INT. WHITMORE ESTATE - LIVING ROOM / OPEN KITCHEN / DINING ROOM - DAY | PDF [11] | CE (scoffing) You think one meal is going to tame me? GLORIA (washing vegetables) It's not taming, young master. Bryce leans back in the wheelchair, arms crossed, not moving an inch. </a:t>
            </a:r>
          </a:p>
          <a:p>
            <a:r>
              <a:t>E4 | INT. WHITMORE ESTATE - OPEN KITCHEN / LIVING ROOM - DAY | PDF [11] | TIME-LAPSE — Gloria washes vegetables, boils water, chops and preps, moving back and forth in the kitchen. Bryce stays put the whole time: first tapping the armrest, t</a:t>
            </a:r>
          </a:p>
          <a:p/>
          <a:p>
            <a:r>
              <a:t>A019 Pesto pasta / hot and cold plates</a:t>
            </a:r>
          </a:p>
          <a:p>
            <a:r>
              <a:t>E4 | INT. WHITMORE ESTATE - OPEN KITCHEN / LIVING ROOM - DAY | PDF [11, 12] | propping his forehead on his hand, staring out the window. A plate of pesto pasta is set down in front of Bryce. Steam rises toward him. His nostrils flare slightly; the hand tapping the armrest stops. When he t</a:t>
            </a:r>
          </a:p>
          <a:p/>
          <a:p>
            <a:r>
              <a:t>A020 Dining table</a:t>
            </a:r>
          </a:p>
          <a:p>
            <a:r>
              <a:t>E4 | INT. WHITMORE ESTATE - OPEN KITCHEN / LIVING ROOM - DAY | PDF [11] | er; he reaches for the plate. Gloria moves it away, setting it on the dining table a little farther from him. His hand stops in midair. 11. GLORIA Finish your training first. His eyes stay on the plate. Gloria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A022 Wiping rag</a:t>
            </a:r>
          </a:p>
          <a:p>
            <a:r>
              <a:t>E4 | INT. WHITMORE ESTATE - OPEN KITCHEN / LIVING ROOM - DAY | PDF [12] | foot a little off the footrest. CLOSE ON: the counter jumps to 1. The rag in Gloria's hand pauses for an instant. She looks back at him; a flicker of heartache crosses her eyes. 12. MONTAGE — TRAINING: B</a:t>
            </a:r>
          </a:p>
          <a:p/>
          <a:p>
            <a:r>
              <a:t>A023 Training log / log sheet</a:t>
            </a:r>
          </a:p>
          <a:p>
            <a:r>
              <a:t>E4 | INT. WHITMORE ESTATE - OPEN KITCHEN / LIVING ROOM - DAY | PDF [13] | him cold; his eyes redden again. Gloria lowers her eyes and opens her log sheet, giving him time to pull himself together. </a:t>
            </a:r>
          </a:p>
          <a:p/>
          <a:p>
            <a:r>
              <a:t>A024 Watch</a:t>
            </a:r>
          </a:p>
          <a:p>
            <a:r>
              <a:t>E4 | INT. WHITMORE ESTATE - OPEN KITCHEN / LIVING ROOM - DAY | PDF [11] | tays put the whole time: first tapping the armrest, then checking his watch, and finally propping his forehead on his hand, staring out the window. A plate of pesto pasta is set down in front of Bryce. Ste</a:t>
            </a:r>
          </a:p>
          <a:p/>
          <a:p>
            <a:r>
              <a:t>A025 Window / blinds</a:t>
            </a:r>
          </a:p>
          <a:p>
            <a:r>
              <a:t>E4 | INT. WHITMORE ESTATE - OPEN KITCHEN / LIVING ROOM - DAY | PDF [11] | watch, and finally propping his forehead on his hand, staring out the window. A plate of pesto pasta is set down in front of Bryce. Steam rises toward him. His nostrils flare slightly; the hand tapping the </a:t>
            </a:r>
          </a:p>
          <a:p>
            <a:r>
              <a:t>E39 | INT. WHITMORE ESTATE - OPEN KITCHEN - MORNING | PDF [80] | Early morning sunlight slants through the blinds onto the counter. Eggs sizzle in a frying pan. Gloria, in a loose house sweater and an apron, has her head down, cooking breakfas</a:t>
            </a:r>
          </a:p>
          <a:p/>
          <a:p>
            <a:r>
              <a:t>A125 Eggs / frying pan / breakfast</a:t>
            </a:r>
          </a:p>
          <a:p>
            <a:r>
              <a:t>E39 | INT. WHITMORE ESTATE - OPEN KITCHEN - MORNING | PDF [80] | Early morning sunlight slants through the blinds onto the counter. Eggs sizzle in a frying pan. Gloria, in a loose house sweater and an apron, has her head down, cooking breakfast. Behind her comes the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S009 | E4 | PDF 10 | INT. WHITMORE ESTATE - LIVING ROOM / OPEN KITCHEN / DINING ROOM - DAY</a:t>
            </a:r>
          </a:p>
          <a:p>
            <a:r>
              <a:t>S011 | E4 | PDF 12 | INT. WHITMORE ESTATE - DINING ROOM - DAY (FLASHBACK)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E4 | INT. WHITMORE ESTATE - LIVING ROOM / OPEN KITCHEN / DINING ROOM - DAY | PDF [10, 11] | GLORIA (smiling slyly) It's a medical fact. Gloria flips the wheelchair lock open, pushes Bryce to the doorway of the open kitchen, and brakes. She bends down and re-engages the wheelchair's brake lock</a:t>
            </a:r>
          </a:p>
          <a:p/>
          <a:p>
            <a:r>
              <a:t>A016 Training counter / number inserts</a:t>
            </a:r>
          </a:p>
          <a:p>
            <a:r>
              <a:t>E4 | INT. WHITMORE ESTATE - LIVING ROOM / OPEN KITCHEN / DINING ROOM - DAY | PDF [11] | ying to do? 10. Gloria raises her other hand and presses the training counter with her thumb. CLOSE ON: the counter lights up. GLORIA (watching him) Starting now — training. She pulls her hand free, turns, w</a:t>
            </a:r>
          </a:p>
          <a:p/>
          <a:p>
            <a:r>
              <a:t>A017 Apron</a:t>
            </a:r>
          </a:p>
          <a:p>
            <a:r>
              <a:t>E4 | INT. WHITMORE ESTATE - LIVING ROOM / OPEN KITCHEN / DINING ROOM - DAY | PDF [11] | he pulls her hand free, turns, walks into the kitchen, and ties on an apron. Bryce stares at her back, his knuckles still tight. GLORIA (with her back to him) A hundred sets of leg lifts. Finish them, then</a:t>
            </a:r>
          </a:p>
          <a:p/>
          <a:p>
            <a:r>
              <a:t>A018 Vegetables</a:t>
            </a:r>
          </a:p>
          <a:p>
            <a:r>
              <a:t>E4 | INT. WHITMORE ESTATE - LIVING ROOM / OPEN KITCHEN / DINING ROOM - DAY | PDF [11] | CE (scoffing) You think one meal is going to tame me? GLORIA (washing vegetables) It's not taming, young master. Bryce leans back in the wheelchair, arms crossed, not moving an inch. </a:t>
            </a:r>
          </a:p>
          <a:p/>
          <a:p>
            <a:r>
              <a:t>A019 Pesto pasta / hot and cold plates</a:t>
            </a:r>
          </a:p>
          <a:p>
            <a:r>
              <a:t>E4 | INT. WHITMORE ESTATE - DINING ROOM - DAY (FLASHBACK) | PDF [12] | light. Young Bryce sits at the table; MOTHER gently slides a plate of pesto pasta in front of him. MOTHER (lovingly) Mommy remembers — this is our Bryce's favorite.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S012 | E4 | PDF 12 | EXT. ROAD - NIGHT (FLASHBACK)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A026 Overturned accident car</a:t>
            </a:r>
          </a:p>
          <a:p>
            <a:r>
              <a:t>E4 | EXT. ROAD - NIGHT (FLASHBACK) | PDF [12] | Glaring white headlights sweep over an overturned car. Adult Bryce, his face covered in blood, drags his injured leg across the broken glass, desperately crawling toward his mother, w</a:t>
            </a:r>
          </a:p>
          <a:p/>
          <a:p>
            <a:r>
              <a:t>A027 Broken glass</a:t>
            </a:r>
          </a:p>
          <a:p>
            <a:r>
              <a:t>E4 | EXT. ROAD - NIGHT (FLASHBACK) | PDF [12] | lt Bryce, his face covered in blood, drags his injured leg across the broken glass, desperately crawling toward his mother, who lies in a pool of blood. BRYCE (hoarse) Mom! </a:t>
            </a:r>
          </a:p>
          <a:p/>
          <a:p>
            <a:r>
              <a:t>A028 Blood dressing</a:t>
            </a:r>
          </a:p>
          <a:p>
            <a:r>
              <a:t>E4 | EXT. ROAD - NIGHT (FLASHBACK) | PDF [12] | lights sweep over an overturned car. Adult Bryce, his face covered in blood, drags his injured leg across the broken glass, desperately crawling toward his mother, who lies in a pool of blood. BRYCE (hoars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S016 | E7 | PDF 18 | INT. WHITMORE ESTATE - REHAB ROOM - DAY</a:t>
            </a:r>
          </a:p>
          <a:p>
            <a:r>
              <a:t>S017 | E8 | PDF 20 | INT. WHITMORE ESTATE - REHAB ROOM - DAY</a:t>
            </a:r>
          </a:p>
          <a:p>
            <a:r>
              <a:t>S025 | E11 | PDF 27 | INT. WHITMORE ESTATE - REHAB ROOM - NIGHT</a:t>
            </a:r>
          </a:p>
          <a:p>
            <a:r>
              <a:t>S026 | E12 | PDF 28 | INT. WHITMORE ESTATE - REHAB ROOM - NIGHT</a:t>
            </a:r>
          </a:p>
          <a:p>
            <a:r>
              <a:t>S027 | E13 | PDF 30 | INT. WHITMORE ESTATE - REHAB ROOM - NIGHT</a:t>
            </a:r>
          </a:p>
          <a:p>
            <a:r>
              <a:t>S085 | E52 | PDF 101 | INT. WHITMORE ESTATE - REHAB ROOM - NIGHT (SECURITY FOOTAGE)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E13 | INT. WHITMORE ESTATE - REHAB ROOM - NIGHT | PDF [32, 33] | ith a tissue. CLOSE ON: She sets the pill on the table, takes out her phone, and snaps shot after shot of the front, the back, and the score line. Gloria opens her professor's WhatsApp chat and attaches th</a:t>
            </a:r>
          </a:p>
          <a:p/>
          <a:p>
            <a:r>
              <a:t>A008 Wheelchair</a:t>
            </a:r>
          </a:p>
          <a:p>
            <a:r>
              <a:t>E7 | INT. WHITMORE ESTATE - REHAB ROOM - DAY | PDF [18, 19, 20] | as Gloria draws a red circle on that date. Day one. Bryce sits in his wheelchair with a resistance band looped around his ankle, slowly doing resisted leg lifts. Gloria crouches to the side, watching his form. </a:t>
            </a:r>
          </a:p>
          <a:p>
            <a:r>
              <a:t>E8 | INT. WHITMORE ESTATE - REHAB ROOM - DAY | PDF [20, 21] | ety rope; twice she fails to wind it neatly. Bryce gets back into the wheelchair and looks at the calendar on the wall. Christmas Day is circled heavily in red. BRYCE (low) Five seconds. GLORIA What? BRYCE Five</a:t>
            </a:r>
          </a:p>
          <a:p>
            <a:r>
              <a:t>E12 | INT. WHITMORE ESTATE - REHAB ROOM - NIGHT | PDF [28, 30] | ough Gloria's training logs from the past few days. Bryce sits in his wheelchair, his expression calm. Gloria stands at his side. DR. HARRIS How have you been feeling these past few days? BRYCE You're the docto</a:t>
            </a:r>
          </a:p>
          <a:p>
            <a:r>
              <a:t>E13 | INT. WHITMORE ESTATE - REHAB ROOM - NIGHT | PDF [30, 32, 33] | lashes across the floor. SLOW MOTION — Bryce flicks the joystick. The wheelchair rolls forward just in time to catch Gloria. Gloria lands sideways on Bryce's lap. He holds her waist with one hand and steadies h</a:t>
            </a:r>
          </a:p>
          <a:p/>
          <a:p>
            <a:r>
              <a:t>A012 Calendar / evolving red circles</a:t>
            </a:r>
          </a:p>
          <a:p>
            <a:r>
              <a:t>E7 | INT. WHITMORE ESTATE - REHAB ROOM - DAY | PDF [18, 19, 20] |  set to mark different days. At the end of each set, QUICK CUT to the calendar as Gloria draws a red circle on that date. Day one. Bryce sits in his wheelchair with a resistance band looped around his ankle, </a:t>
            </a:r>
          </a:p>
          <a:p>
            <a:r>
              <a:t>E8 | INT. WHITMORE ESTATE - REHAB ROOM - DAY | PDF [20, 21] |  wind it neatly. Bryce gets back into the wheelchair and looks at the calendar on the wall. Christmas Day is circled heavily in red. BRYCE (low) Five seconds. GLORIA What? BRYCE Five seconds isn't enough. He </a:t>
            </a:r>
          </a:p>
          <a:p/>
          <a:p>
            <a:r>
              <a:t>A015 Clipboard</a:t>
            </a:r>
          </a:p>
          <a:p>
            <a:r>
              <a:t>E8 | INT. WHITMORE ESTATE - REHAB ROOM - DAY | PDF [21] | ks at the calendar and pulls a Christmas market flyer from behind her clipboard. GLORIA So we'll switch up the training. She hands the flyer to Bryce. GLORIA Come with me to the Christmas market. BRYCE What ki</a:t>
            </a:r>
          </a:p>
          <a:p/>
          <a:p>
            <a:r>
              <a:t>A023 Training log / log sheet</a:t>
            </a:r>
          </a:p>
          <a:p>
            <a:r>
              <a:t>E11 | INT. WHITMORE ESTATE - REHAB ROOM - NIGHT | PDF [27, 28] | cal bag. He looks at Bryce's legs first, then his eyes sweep over the training log Gloria left to one side. 27. DR. HARRIS (gently) Master Bryce, I've brought your new medication. He opens the bag, takes out a pi</a:t>
            </a:r>
          </a:p>
          <a:p>
            <a:r>
              <a:t>E12 | INT. WHITMORE ESTATE - REHAB ROOM - NIGHT | PDF [28, 29] | shoots him a look. Dr. Harris looks at the two of them and closes the training log. DR. HARRIS Don't worry if there's no progress. Your injury is severe. It's hard to see any noticeable change in a short time. BR</a:t>
            </a:r>
          </a:p>
          <a:p/>
          <a:p>
            <a:r>
              <a:t>A027 Broken glass</a:t>
            </a:r>
          </a:p>
          <a:p>
            <a:r>
              <a:t>E13 | INT. WHITMORE ESTATE - REHAB ROOM - NIGHT | PDF [31, 32] | lder with the other. 30. The pill cup hits the floor. White pills and broken glass scatter everywhere. Dr. Harris frowns down at the floor. GLORIA (shaken) Sorry. I lost my footing. Bryce doesn't even glance at 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A035 Resistance band</a:t>
            </a:r>
          </a:p>
          <a:p>
            <a:r>
              <a:t>E7 | INT. WHITMORE ESTATE - REHAB ROOM - DAY | PDF [18] | red circle on that date. Day one. Bryce sits in his wheelchair with a resistance band looped around his ankle, slowly doing resisted leg lifts. Gloria crouches to the side, watching his form. BRYCE Lift it up, put i</a:t>
            </a:r>
          </a:p>
          <a:p/>
          <a:p>
            <a:r>
              <a:t>A036 Training / treatment table</a:t>
            </a:r>
          </a:p>
          <a:p>
            <a:r>
              <a:t>E7 | INT. WHITMORE ESTATE - REHAB ROOM - DAY | PDF [18, 19] | draws a red circle on the day. Day two. Bryce sits on the edge of the training table, reaching for a target. Just as he's about to touch it, Gloria pushes it farther away. BRYCE Can you stop moving it? GLORIA You m</a:t>
            </a:r>
          </a:p>
          <a:p>
            <a:r>
              <a:t>E11 | INT. WHITMORE ESTATE - REHAB ROOM - NIGHT | PDF [27, 28] | The next morning. Bryce sits on the edge of the training table, a safety belt buckled around his waist. Bryce braces both hands on her shoulders. Their chests are nearly touching, yet Bryce av</a:t>
            </a:r>
          </a:p>
          <a:p>
            <a:r>
              <a:t>E12 | INT. WHITMORE ESTATE - REHAB ROOM - NIGHT | PDF [28] | Dr. Harris stands by the training table, flipping through Gloria's training logs from the past few days. Bryce sits in his wheelchair, his expression calm. Gloria stands</a:t>
            </a:r>
          </a:p>
          <a:p/>
          <a:p>
            <a:r>
              <a:t>A037 Reach target</a:t>
            </a:r>
          </a:p>
          <a:p>
            <a:r>
              <a:t>E7 | INT. WHITMORE ESTATE - REHAB ROOM - DAY | PDF [18] | Day two. Bryce sits on the edge of the training table, reaching for a target. Just as he's about to touch it, Gloria pushes it farther away. BRYCE Can you stop moving it? GLORIA You move, I'll stop. Bryce g</a:t>
            </a:r>
          </a:p>
          <a:p/>
          <a:p>
            <a:r>
              <a:t>A038 Training / safety belt</a:t>
            </a:r>
          </a:p>
          <a:p>
            <a:r>
              <a:t>E7 | INT. WHITMORE ESTATE - REHAB ROOM - DAY | PDF [19, 20] |  goes down. Day N. Bryce sits on the edge of the treatment table. The training belt around his waist is tied to a safety rope in Gloria's hand. GLORIA Plant your feet. Lean forward, and up again. BRYCE I don't nee</a:t>
            </a:r>
          </a:p>
          <a:p>
            <a:r>
              <a:t>E8 | INT. WHITMORE ESTATE - REHAB ROOM - DAY | PDF [20] | nds. GLORIA What? BRYCE Five seconds isn't enough. He reaches for the safety belt; his arms are still shaking. BRYCE Again. Gloria holds the belt down. GLORIA You've already trained three hours today. 20. BRYCE </a:t>
            </a:r>
          </a:p>
          <a:p>
            <a:r>
              <a:t>E11 | INT. WHITMORE ESTATE - REHAB ROOM - NIGHT | PDF [27] | The next morning. Bryce sits on the edge of the training table, a safety belt buckled around his waist. Bryce braces both hands on her shoulders. Their chests are nearly touching, yet Bryce avoids her eyes, </a:t>
            </a:r>
          </a:p>
          <a:p/>
          <a:p>
            <a:r>
              <a:t>A039 Safety rope</a:t>
            </a:r>
          </a:p>
          <a:p>
            <a:r>
              <a:t>E7 | INT. WHITMORE ESTATE - REHAB ROOM - DAY | PDF [19, 20] |  the treatment table. The training belt around his waist is tied to a safety rope in Gloria's hand. GLORIA Plant your feet. Lean forward, and up again. BRYCE I don't need that. Let go. Gloria slowly lets the rop</a:t>
            </a:r>
          </a:p>
          <a:p>
            <a:r>
              <a:t>E8 | INT. WHITMORE ESTATE - REHAB ROOM - DAY | PDF [20] |  head to straighten his cuffs. Gloria turns her back and coils up the safety rope; twice she fails to wind it neatly. Bryce gets back into the wheelchair and looks at the calendar on the wall. Christmas Day is c</a:t>
            </a:r>
          </a:p>
          <a:p/>
          <a:p>
            <a:r>
              <a:t>A040 Training mat</a:t>
            </a:r>
          </a:p>
          <a:p>
            <a:r>
              <a:t>E7 | INT. WHITMORE ESTATE - REHAB ROOM - DAY | PDF [19] | loria lunges to catch him, and his weight carries her down toward the mat. 19. SLOW MOTION — Bryce hooks one arm around her waist and cushions the back of her head with his other hand. They roll sideways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A041 Market flyer</a:t>
            </a:r>
          </a:p>
          <a:p>
            <a:r>
              <a:t>E8 | INT. WHITMORE ESTATE - REHAB ROOM - DAY | PDF [21] | me to rest. Gloria looks at the calendar and pulls a Christmas market flyer from behind her clipboard. GLORIA So we'll switch up the training. She hands the flyer to Bryce. GLORIA Come with me to the Chris</a:t>
            </a:r>
          </a:p>
          <a:p/>
          <a:p>
            <a:r>
              <a:t>A056 Dark medical bag / kit</a:t>
            </a:r>
          </a:p>
          <a:p>
            <a:r>
              <a:t>E11 | INT. WHITMORE ESTATE - REHAB ROOM - NIGHT | PDF [27] | ok toward the door. Dr. Harris appears in the doorway carrying a dark medical bag. He looks at Bryce's legs first, then his eyes sweep over the training log Gloria left to one side. 27. DR. HARRIS (gently) Maste</a:t>
            </a:r>
          </a:p>
          <a:p>
            <a:r>
              <a:t>E12 | INT. WHITMORE ESTATE - REHAB ROOM - NIGHT | PDF [29] | ; the corner of his mouth twitches, just barely. Dr. Harris opens his medical bag, takes out a new pill bottle, and tips one more white tablet into the pill cup. DR. HARRIS We're increasing the dose starting tod</a:t>
            </a:r>
          </a:p>
          <a:p>
            <a:r>
              <a:t>E13 | INT. WHITMORE ESTATE - REHAB ROOM - NIGHT | PDF [31] | o get me a fresh dose. Dr. Harris swallows his anger and packs up his medical kit. DR. HARRIS I'll bring new ones tomorrow. He turns and leaves. The door shuts. The rehab room goes quiet. Gloria is still on Bryc</a:t>
            </a:r>
          </a:p>
          <a:p/>
          <a:p>
            <a:r>
              <a:t>A057 Pill bottles</a:t>
            </a:r>
          </a:p>
          <a:p>
            <a:r>
              <a:t>E11 | INT. WHITMORE ESTATE - REHAB ROOM - NIGHT | PDF [28] | ryce, I've brought your new medication. He opens the bag, takes out a pill bottle, and sets it on top of the training log. DR. HARRIS (looking at Bryce) I hear there have been some changes lately. Good timing — </a:t>
            </a:r>
          </a:p>
          <a:p>
            <a:r>
              <a:t>E12 | INT. WHITMORE ESTATE - REHAB ROOM - NIGHT | PDF [28, 29] | tches, just barely. Dr. Harris opens his medical bag, takes out a new pill bottle, and tips one more white tablet into the pill cup. DR. HARRIS We're increasing the dose starting today. GLORIA Why? DR. HARRIS It</a:t>
            </a:r>
          </a:p>
          <a:p/>
          <a:p>
            <a:r>
              <a:t>A058 White pills / dropped pills</a:t>
            </a:r>
          </a:p>
          <a:p>
            <a:r>
              <a:t>E12 | INT. WHITMORE ESTATE - REHAB ROOM - NIGHT | PDF [29] | opens his medical bag, takes out a new pill bottle, and tips one more white tablet into the pill cup. DR. HARRIS We're increasing the dose starting today. GLORIA Why? DR. HARRIS It helps stabilize his nerves, and</a:t>
            </a:r>
          </a:p>
          <a:p/>
          <a:p>
            <a:r>
              <a:t>A059 Pill cup</a:t>
            </a:r>
          </a:p>
          <a:p>
            <a:r>
              <a:t>E12 | INT. WHITMORE ESTATE - REHAB ROOM - NIGHT | PDF [29, 30] |  takes out a new pill bottle, and tips one more white tablet into the pill cup. DR. HARRIS We're increasing the dose starting today. GLORIA Why? DR. HARRIS It helps stabilize his nerves, and it'll ease the di</a:t>
            </a:r>
          </a:p>
          <a:p>
            <a:r>
              <a:t>E13 | INT. WHITMORE ESTATE - REHAB ROOM - NIGHT | PDF [30, 31] | waist with one hand and steadies her shoulder with the other. 30. The pill cup hits the floor. White pills and broken glass scatter everywhere. Dr. Harris frowns down at the floor. GLORIA (shaken) Sorry. I lo</a:t>
            </a:r>
          </a:p>
          <a:p/>
          <a:p>
            <a:r>
              <a:t>A060 Water glass</a:t>
            </a:r>
          </a:p>
          <a:p>
            <a:r>
              <a:t>E12 | INT. WHITMORE ESTATE - REHAB ROOM - NIGHT | PDF [30] | CE Miss Reed. Water. Gloria holds his gaze for a second, picks up the glass from the table, and turns to pour some water. She walks back carrying the water. Suddenly Gloria's left foot catches her right. GLORIA (crying 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A061 Tissue</a:t>
            </a:r>
          </a:p>
          <a:p>
            <a:r>
              <a:t>E13 | INT. WHITMORE ESTATE - REHAB ROOM - NIGHT | PDF [32] | rouches, avoids the broken glass, and picks up one intact pill with a tissue. CLOSE ON: She sets the pill on the table, takes out her phone, and snaps shot after shot of the front, the back, and the score l</a:t>
            </a:r>
          </a:p>
          <a:p/>
          <a:p>
            <a:r>
              <a:t>A062 Medication photo / WhatsApp chat</a:t>
            </a:r>
          </a:p>
          <a:p>
            <a:r>
              <a:t>E13 | INT. WHITMORE ESTATE - REHAB ROOM - NIGHT | PDF [32] | the front, the back, and the score line. Gloria opens her professor's WhatsApp chat and attaches the photos. GLORIA (typing) Professor, could you help me identify this medication, and what long-term use would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S018 | E8 | PDF 21 | EXT. CHRISTMAS MARKET - ENTRANCE - NIGHT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E8 | EXT. CHRISTMAS MARKET - ENTRANCE - NIGHT | PDF [21, 22] | ides of the street. Crowds keep pouring in under the archway. Bryce's wheelchair stops at the end of the street. A passerby brushes past the side of his chair, and his fingers suddenly tighten on the armrest. B</a:t>
            </a:r>
          </a:p>
          <a:p/>
          <a:p>
            <a:r>
              <a:t>A042 Market archway</a:t>
            </a:r>
          </a:p>
          <a:p>
            <a:r>
              <a:t>E8 | EXT. CHRISTMAS MARKET - ENTRANCE - NIGHT | PDF [21] | ights line both sides of the street. Crowds keep pouring in under the archway. Bryce's wheelchair stops at the end of the street. A passerby brushes past the side of his chair, and his fingers suddenly tight</a:t>
            </a:r>
          </a:p>
          <a:p/>
          <a:p>
            <a:r>
              <a:t>A043 String lights</a:t>
            </a:r>
          </a:p>
          <a:p>
            <a:r>
              <a:t>E8 | EXT. CHRISTMAS MARKET - ENTRANCE - NIGHT | PDF [21, 22] | Warm yellow string lights line both sides of the street. Crowds keep pouring in under the archway. Bryce's wheelchair stops at the end of the street. A pas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S019 | E9 | PDF 22 | EXT. CHRISTMAS MARKET - MAIN STREET - NIGHT</a:t>
            </a:r>
          </a:p>
          <a:p>
            <a:r>
              <a:t>S021 | E10 | PDF 23 | EXT. CHRISTMAS MARKET - MAIN STREET - NIGHT</a:t>
            </a:r>
          </a:p>
          <a:p>
            <a:r>
              <a:t>S022 | E10 | PDF 24 | EXT. CHRISTMAS MARKET - NIGHT</a:t>
            </a:r>
          </a:p>
          <a:p>
            <a:r>
              <a:t>S093 | E58 | PDF 109 | EXT. CHRISTMAS MARKET - CHRISTMAS EVE - NIGHT</a:t>
            </a:r>
          </a:p>
          <a:p>
            <a:r>
              <a:t>S094 | E59 | PDF 110 | EXT. CHRISTMAS MARKET - CHRISTMAS EVE - NIGHT -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E9 | EXT. CHRISTMAS MARKET - MAIN STREET - NIGHT | PDF [22] | ssersby recognize Bryce and murmur among themselves. Someone raises a phone, pointing the camera at him. PASSERBY A (quietly) Isn't that the Whitmore heir? Bryce's hand on the joystick pauses for an instan</a:t>
            </a:r>
          </a:p>
          <a:p>
            <a:r>
              <a:t>E10 | EXT. CHRISTMAS MARKET - MAIN STREET - NIGHT | PDF [24] | PASSERBY WOMAN (O.S.) Mr. Whitmore? A few passersby around them stop, phone cameras turning toward the two of them. Gloria and Bryce instantly let go of each other. PASSERBY MAN Are you guys okay? GLORIA A</a:t>
            </a:r>
          </a:p>
          <a:p/>
          <a:p>
            <a:r>
              <a:t>A008 Wheelchair</a:t>
            </a:r>
          </a:p>
          <a:p>
            <a:r>
              <a:t>E9 | EXT. CHRISTMAS MARKET - MAIN STREET - NIGHT | PDF [22] | ore heir? Bryce's hand on the joystick pauses for an instant, and the wheelchair slows with it. Gloria steps up beside him and rests her palm on his tense shoulder. GLORIA (low) You haven't done anything wrong.</a:t>
            </a:r>
          </a:p>
          <a:p>
            <a:r>
              <a:t>E10 | EXT. CHRISTMAS MARKET - MAIN STREET - NIGHT | PDF [23, 24] | Gloria tries loosening two fingers, and the wheelchair wobbles again at once. Startled, she grabs on tight again, the tip of her nose nearly brushing his chin. 23. GLORIA If you don't </a:t>
            </a:r>
          </a:p>
          <a:p>
            <a:r>
              <a:t>E10 | EXT. CHRISTMAS MARKET - NIGHT | PDF [24, 25] | ia, arms full of shopping bags, stumbles along after Bryce's electric wheelchair. She eyes Bryce's empty lap, and her eyes light up with an idea. BRYCE (instantly on guard) Don't even think about it. GLORIA Let</a:t>
            </a:r>
          </a:p>
          <a:p/>
          <a:p>
            <a:r>
              <a:t>A047 Light-up reindeer hats / antler headband</a:t>
            </a:r>
          </a:p>
          <a:p>
            <a:r>
              <a:t>E10 | EXT. CHRISTMAS MARKET - NIGHT | PDF [24, 25] | . BRYCE (pretending to be annoyed) Get off. Gloria plops the matching reindeer hat on his head; the two glowing antlers wobble side to side. 24. GLORIA (happily) Let's go! Reindeer Number One! Bryce doesn't t</a:t>
            </a:r>
          </a:p>
          <a:p>
            <a:r>
              <a:t>E59 | EXT. CHRISTMAS MARKET - CHRISTMAS EVE - NIGHT - CONTINUOUS | PDF [111, 112] | e you? BRYCE I can't ask you to believe me right now. Bryce holds the reindeer headband out to her. BRYCE But from today on, every decision about us, we make together. Gloria looks at the headband but doesn't</a:t>
            </a:r>
          </a:p>
          <a:p/>
          <a:p>
            <a:r>
              <a:t>A048 Market curb</a:t>
            </a:r>
          </a:p>
          <a:p>
            <a:r>
              <a:t>E10 | EXT. CHRISTMAS MARKET - NIGHT | PDF [25] | IA Turn left up ahead. BRYCE I can see. GLORIA Then how'd you hit the curb just now? Bryce shoots her a sideways glance. He doesn't argue — he just slows down. SLOW MOTION — WIDE ON THE TWO. A sea of warm</a:t>
            </a:r>
          </a:p>
          <a:p/>
          <a:p>
            <a:r>
              <a:t>A049 Shopping bags</a:t>
            </a:r>
          </a:p>
          <a:p>
            <a:r>
              <a:t>E10 | EXT. CHRISTMAS MARKET - NIGHT | PDF [24, 25] | Gloria, arms full of shopping bags, stumbles along after Bryce's electric wheelchair. She eyes Bryce's empty lap, and her eyes light up with an idea. BRYCE (instant</a:t>
            </a:r>
          </a:p>
          <a:p/>
          <a:p>
            <a:r>
              <a:t>A121 Snow / wheel tracks</a:t>
            </a:r>
          </a:p>
          <a:p>
            <a:r>
              <a:t>E59 | EXT. CHRISTMAS MARKET - CHRISTMAS EVE - NIGHT - CONTINUOUS | PDF [110, 112] | The snow keeps falling, settling on both their shoulders. Bryce grips his cane and looks Gloria in the eye. 110. BRYCE No. GLORIA How can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A132 Suitcase</a:t>
            </a:r>
          </a:p>
          <a:p>
            <a:r>
              <a:t>E58 | EXT. CHRISTMAS MARKET - CHRISTMAS EVE - NIGHT | PDF [109, 110] | ristmas carols drift from somewhere in the distance. Gloria pulls her suitcase through the crowd. BRYCE (O.S.) Gloria! Gloria's step falters, but she doesn't look back. Bryce catches up on a cane and grabs ho</a:t>
            </a:r>
          </a:p>
          <a:p/>
          <a:p>
            <a:r>
              <a:t>A151 Cane</a:t>
            </a:r>
          </a:p>
          <a:p>
            <a:r>
              <a:t>E58 | EXT. CHRISTMAS MARKET - CHRISTMAS EVE - NIGHT | PDF [109, 110] | oria's step falters, but she doesn't look back. Bryce catches up on a cane and grabs hold of her suitcase. 109. GLORIA Let go. BRYCE No. GLORIA Mr. Whitmore, you've already won. BRYCE But I lost you. Winn</a:t>
            </a:r>
          </a:p>
          <a:p>
            <a:r>
              <a:t>E59 | EXT. CHRISTMAS MARKET - CHRISTMAS EVE - NIGHT - CONTINUOUS | PDF [110] | snow keeps falling, settling on both their shoulders. Bryce grips his cane and looks Gloria in the eye. 110. BRYCE No. GLORIA How can I believe you? BRYCE I can't ask you to believe me right now. Bryce ho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S020 | E9 | PDF 22 | EXT. CHRISTMAS MARKET - CHRISTMAS DECORATION STALL - NIGHT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E9 | EXT. CHRISTMAS MARKET - CHRISTMAS DECORATION STALL - NIGHT | PDF [22, 23] | h your luck. GLORIA You just smiled. You like it too. Bryce backs the wheelchair up, raising a hand to block the antlers. Gloria chases after him, trying to put the hat on his head. The wheelchair's rear wheel </a:t>
            </a:r>
          </a:p>
          <a:p/>
          <a:p>
            <a:r>
              <a:t>A043 String lights</a:t>
            </a:r>
          </a:p>
          <a:p>
            <a:r>
              <a:t>E9 | EXT. CHRISTMAS MARKET - CHRISTMAS DECORATION STALL - NIGHT | PDF [22] | Gloria picks up a string of lights and drops it into the shopping basket. Bryce reaches over, takes it out, and puts it back on the shelf. GLORIA I want this. BRYCE</a:t>
            </a:r>
          </a:p>
          <a:p/>
          <a:p>
            <a:r>
              <a:t>A044 Shopping basket</a:t>
            </a:r>
          </a:p>
          <a:p>
            <a:r>
              <a:t>E9 | EXT. CHRISTMAS MARKET - CHRISTMAS DECORATION STALL - NIGHT | PDF [22] | Gloria picks up a string of lights and drops it into the shopping basket. Bryce reaches over, takes it out, and puts it back on the shelf. GLORIA I want this. BRYCE Too bright. Gloria grabs a gold tree-</a:t>
            </a:r>
          </a:p>
          <a:p/>
          <a:p>
            <a:r>
              <a:t>A045 Merchandise shelf / storage shelf</a:t>
            </a:r>
          </a:p>
          <a:p>
            <a:r>
              <a:t>E9 | EXT. CHRISTMAS MARKET - CHRISTMAS DECORATION STALL - NIGHT | PDF [22] | ing basket. Bryce reaches over, takes it out, and puts it back on the shelf. GLORIA I want this. BRYCE Too bright. Gloria grabs a gold tree-topper star and puts it in the basket. The moment Bryce reaches f</a:t>
            </a:r>
          </a:p>
          <a:p/>
          <a:p>
            <a:r>
              <a:t>A046 Gold tree-topper star</a:t>
            </a:r>
          </a:p>
          <a:p>
            <a:r>
              <a:t>E9 | EXT. CHRISTMAS MARKET - CHRISTMAS DECORATION STALL - NIGHT | PDF [22] |  the shelf. GLORIA I want this. BRYCE Too bright. Gloria grabs a gold tree-topper star and puts it in the basket. The moment Bryce reaches for it, she hugs the basket to her chest. GLORIA Don't touch this one. BRYCE </a:t>
            </a:r>
          </a:p>
          <a:p/>
          <a:p>
            <a:r>
              <a:t>A047 Light-up reindeer hats / antler headband</a:t>
            </a:r>
          </a:p>
          <a:p>
            <a:r>
              <a:t>E9 | EXT. CHRISTMAS MARKET - CHRISTMAS DECORATION STALL - NIGHT | PDF [23] | r smile, Bryce hastily turns his face away. Gloria puts on a light-up reindeer hat, takes down another one, and closes in on him, grinning. BRYCE (still smiling) NO. Don't push your luck. GLORIA You just smil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A048 Market curb</a:t>
            </a:r>
          </a:p>
          <a:p>
            <a:r>
              <a:t>E9 | EXT. CHRISTMAS MARKET - CHRISTMAS DECORATION STALL - NIGHT | PDF [23] | o put the hat on his head. The wheelchair's rear wheel slams into the curb, and the chair tilts to the right. Gloria lunges to grab the armrest; with her other hand she grabs Bryce's hair in a panic. Bryc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S023 | E11 | PDF 25 | INT. WHITMORE ESTATE - STORAGE ROOM - NIGHT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E11 | INT. WHITMORE ESTATE - STORAGE ROOM - NIGHT | PDF [25, 26] |  black sketchbook. She carefully opens to the first page. CLOSE ON: a wheelchair trapped in thorns; a shattered headlight; great swaths of black scribbled over and over; a pair of legs covered by red lines. The</a:t>
            </a:r>
          </a:p>
          <a:p/>
          <a:p>
            <a:r>
              <a:t>A045 Merchandise shelf / storage shelf</a:t>
            </a:r>
          </a:p>
          <a:p>
            <a:r>
              <a:t>E11 | INT. WHITMORE ESTATE - STORAGE ROOM - NIGHT | PDF [25] | houlders open the storage room door. She sets a box of ornaments on a shelf and knocks over several dust-covered paintings. Gloria crouches to pick them up. The canvases are smothered in heavy black, twist</a:t>
            </a:r>
          </a:p>
          <a:p/>
          <a:p>
            <a:r>
              <a:t>A049 Shopping bags</a:t>
            </a:r>
          </a:p>
          <a:p>
            <a:r>
              <a:t>E11 | INT. WHITMORE ESTATE - STORAGE ROOM - NIGHT | PDF [25] | Late night. Gloria, both hands loaded with Christmas shopping bags, shoulders open the storage room door. She sets a box of ornaments on a shelf and knocks over several dust-covered paintings. Glo</a:t>
            </a:r>
          </a:p>
          <a:p/>
          <a:p>
            <a:r>
              <a:t>A050 Ornament box</a:t>
            </a:r>
          </a:p>
          <a:p>
            <a:r>
              <a:t>E11 | INT. WHITMORE ESTATE - STORAGE ROOM - NIGHT | PDF [25] | stmas shopping bags, shoulders open the storage room door. She sets a box of ornaments on a shelf and knocks over several dust-covered paintings. Gloria crouches to pick them up. The canvases are smothered in heavy b</a:t>
            </a:r>
          </a:p>
          <a:p/>
          <a:p>
            <a:r>
              <a:t>A051 Trauma canvases / drawings</a:t>
            </a:r>
          </a:p>
          <a:p>
            <a:r>
              <a:t>E11 | INT. WHITMORE ESTATE - STORAGE ROOM - NIGHT | PDF [25] | ts a box of ornaments on a shelf and knocks over several dust-covered paintings. Gloria crouches to pick them up. The canvases are smothered in heavy black, twisted thorns, red paint dragged through shards of </a:t>
            </a:r>
          </a:p>
          <a:p/>
          <a:p>
            <a:r>
              <a:t>A052 Black sketchbook</a:t>
            </a:r>
          </a:p>
          <a:p>
            <a:r>
              <a:t>E11 | INT. WHITMORE ESTATE - STORAGE ROOM - NIGHT | PDF [25, 26] |  the scattered sheets of drawing paper inward, she finds a worn black sketchbook. She carefully opens to the first page. CLOSE ON: a wheelchair trapped in thorns; a shattered headlight; great swaths of black sc</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A053 Lockable drawer</a:t>
            </a:r>
          </a:p>
          <a:p>
            <a:r>
              <a:t>E11 | INT. WHITMORE ESTATE - STORAGE ROOM - NIGHT | PDF [26] | nough? It doesn't mean anything anymore. He locks the sketchbook in a drawer with a heavy hand. Gloria takes half a step forward, then stops. CLICK. The drawer locks. Bryce's face goes back to the coldness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S024 | E11 | PDF 26 | INT. WHITMORE ESTATE - HALLWAY OUTSIDE STORAGE ROOM - NIGHT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E11 | INT. WHITMORE ESTATE - HALLWAY OUTSIDE STORAGE ROOM - NIGHT | PDF [26] | The wheelchair rolls out of the storage room and stops outside the door. Bryce has his back to Gloria, his shoulders rigid. CLOSE ON: he clutche</a:t>
            </a:r>
          </a:p>
          <a:p/>
          <a:p>
            <a:r>
              <a:t>A053 Lockable drawer</a:t>
            </a:r>
          </a:p>
          <a:p>
            <a:r>
              <a:t>E11 | INT. WHITMORE ESTATE - HALLWAY OUTSIDE STORAGE ROOM - NIGHT | PDF [26] | as his back to Gloria, his shoulders rigid. CLOSE ON: he clutches the drawer key so hard in his palm that its teeth leave a red mark. BRYCE (V.O.) (hoarse) Bryce, ever since that car crash, happiness has ha</a:t>
            </a:r>
          </a:p>
          <a:p/>
          <a:p>
            <a:r>
              <a:t>A054 Drawer key</a:t>
            </a:r>
          </a:p>
          <a:p>
            <a:r>
              <a:t>E11 | INT. WHITMORE ESTATE - HALLWAY OUTSIDE STORAGE ROOM - NIGHT | PDF [26] | as his back to Gloria, his shoulders rigid. CLOSE ON: he clutches the drawer key so hard in his palm that its teeth leave a red mark. BRYCE (V.O.) (hoarse) Bryce, ever since that car crash, happiness has had no</a:t>
            </a:r>
          </a:p>
          <a:p/>
          <a:p>
            <a:r>
              <a:t>A055 Gold ornament ball</a:t>
            </a:r>
          </a:p>
          <a:p>
            <a:r>
              <a:t>E11 | INT. WHITMORE ESTATE - HALLWAY OUTSIDE STORAGE ROOM - NIGHT | PDF [26] | in the storage room, looking at the locked drawer, then at the bright gold ornament ball in her palm, her brow slightly furrowed. 26.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S028 | E14 | PDF 33 | INT. WHITMORE ESTATE - GLORIA'S BEDROOM - NIGHT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E14 | INT. WHITMORE ESTATE - GLORIA'S BEDROOM - NIGHT | PDF [33] | Gloria seals the pill in a zip bag. Her phone buzzes. CLOSE ON: Her professor has sent a report. INSERT — PHONE SCREEN: "Depresses neuromuscular excitability. Long-term use ma</a:t>
            </a:r>
          </a:p>
          <a:p/>
          <a:p>
            <a:r>
              <a:t>A063 Zip / sealed evidence bag</a:t>
            </a:r>
          </a:p>
          <a:p>
            <a:r>
              <a:t>E14 | INT. WHITMORE ESTATE - GLORIA'S BEDROOM - NIGHT | PDF [33] | Gloria seals the pill in a zip bag. Her phone buzzes. CLOSE ON: Her professor has sent a report. INSERT — PHONE SCREEN: "Depresses neuromuscular excitability. Long-</a:t>
            </a:r>
          </a:p>
          <a:p/>
          <a:p>
            <a:r>
              <a:t>A064 Mentor analysis report</a:t>
            </a:r>
          </a:p>
          <a:p>
            <a:r>
              <a:t>E14 | INT. WHITMORE ESTATE - GLORIA'S BEDROOM - NIGHT | PDF [33] | ll in a zip bag. Her phone buzzes. CLOSE ON: Her professor has sent a report. INSERT — PHONE SCREEN: "Depresses neuromuscular excitability. Long-term use may impair motor function." Gloria pulls out the tra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S030 | E14 | PDF 33 | INT. WHITMORE ESTATE - BRYCE'S BEDROOM - NIGHT</a:t>
            </a:r>
          </a:p>
          <a:p>
            <a:r>
              <a:t>S031 | E15 | PDF 35 | INT. WHITMORE ESTATE - BRYCE'S BEDROOM - NIGHT</a:t>
            </a:r>
          </a:p>
          <a:p>
            <a:r>
              <a:t>S032 | E16 | PDF 37 | INT. WHITMORE ESTATE - BRYCE'S BEDROOM - DAY</a:t>
            </a:r>
          </a:p>
          <a:p>
            <a:r>
              <a:t>S033 | E16 | PDF 38 | INT. WHITMORE ESTATE - BRYCE'S BEDROOM - DAY</a:t>
            </a:r>
          </a:p>
          <a:p>
            <a:r>
              <a:t>S034 | E17 | PDF 39 | INT. WHITMORE ESTATE - BRYCE'S BEDROOM - DAY</a:t>
            </a:r>
          </a:p>
          <a:p>
            <a:r>
              <a:t>S063 | E38 | PDF 78 | INT. WHITMORE ESTATE - BRYCE'S BEDROOM - CONTINUOUS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E15 | INT. WHITMORE ESTATE - BRYCE'S BEDROOM - NIGHT | PDF [36] | e. Every time your numbers go up, they raise your dose. She holds her phone out to Bryce. GLORIA Once we get the full pill bottles and the prescription records, that's the proof we need to rip off Adrian's</a:t>
            </a:r>
          </a:p>
          <a:p/>
          <a:p>
            <a:r>
              <a:t>A007 Desk</a:t>
            </a:r>
          </a:p>
          <a:p>
            <a:r>
              <a:t>E16 | INT. WHITMORE ESTATE - BRYCE'S BEDROOM - DAY | PDF [38] | a bends down and pulls several stacks of documents out from under the desk. She sits cross-legged and runs her fingertip down the dates, circling each place where the times overlap. On the other side, Bry</a:t>
            </a:r>
          </a:p>
          <a:p/>
          <a:p>
            <a:r>
              <a:t>A008 Wheelchair</a:t>
            </a:r>
          </a:p>
          <a:p>
            <a:r>
              <a:t>E14 | INT. WHITMORE ESTATE - BRYCE'S BEDROOM - NIGHT | PDF [33, 34, 35] |  isn't fully shut. Gloria peers in through the gap. Bryce sits in his wheelchair, changed into dark pajamas. Adrian stands beside him, one hand on the back of the chair, the other holding a glass of water. ADRI</a:t>
            </a:r>
          </a:p>
          <a:p>
            <a:r>
              <a:t>E15 | INT. WHITMORE ESTATE - BRYCE'S BEDROOM - NIGHT | PDF [35] | arkly) What? Gloria doesn't look at him. She braces both hands on the wheelchair's armrests and leans into Bryce, brows low, breathing hard on purpose. GLORIA (annoyed) Are you done with your tantrum, young mas</a:t>
            </a:r>
          </a:p>
          <a:p/>
          <a:p>
            <a:r>
              <a:t>A058 White pills / dropped pills</a:t>
            </a:r>
          </a:p>
          <a:p>
            <a:r>
              <a:t>E15 | INT. WHITMORE ESTATE - BRYCE'S BEDROOM - NIGHT | PDF [35, 37] | N — The glass flips, and water splashes across the edge of the bed. A white pill flies from between Bryce's fingers and drops to the floor. ADRIAN (darkly) What? Gloria doesn't look at him. She braces both hand</a:t>
            </a:r>
          </a:p>
          <a:p/>
          <a:p>
            <a:r>
              <a:t>A060 Water glass</a:t>
            </a:r>
          </a:p>
          <a:p>
            <a:r>
              <a:t>E14 | INT. WHITMORE ESTATE - BRYCE'S BEDROOM - NIGHT | PDF [33, 34] | ds beside him, one hand on the back of the chair, the other holding a glass of water. ADRIAN (gently) I hear you've been cooperating with your training lately. BRYCE My dear brother. Always so concerned about me. A</a:t>
            </a:r>
          </a:p>
          <a:p>
            <a:r>
              <a:t>E16 | INT. WHITMORE ESTATE - BRYCE'S BEDROOM - DAY | PDF [38] | n a hand's width from his. The door opens. The Maid walks in carrying water and pills. GLORIA (deliberately loud) You are getting up today! No excuses! 38. She tugs Bryce's arm toward the edge of the bed. Bryce play</a:t>
            </a:r>
          </a:p>
          <a:p/>
          <a:p>
            <a:r>
              <a:t>A064 Mentor analysis report</a:t>
            </a:r>
          </a:p>
          <a:p>
            <a:r>
              <a:t>E15 | INT. WHITMORE ESTATE - BRYCE'S BEDROOM - NIGHT | PDF [36] | mmediately crouches in front of Bryce. GLORIA (urgent, low) I got the written analysis. These pills suppress your nerve and muscle response. Every time your numbers go up, they raise your dose. She holds her phone ou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A065 Pale blue pill</a:t>
            </a:r>
          </a:p>
          <a:p>
            <a:r>
              <a:t>E14 | INT. WHITMORE ESTATE - BRYCE'S BEDROOM - NIGHT | PDF [34] | r, Adrian smiles again. ADRIAN Still as stubborn as ever. He places a pale blue pill in Bryce's palm and hands him the glass of water. ADRIAN Take your medicine. Get better soon, little brother. Bryce lowers his ey</a:t>
            </a:r>
          </a:p>
          <a:p>
            <a:r>
              <a:t>E15 | INT. WHITMORE ESTATE - BRYCE'S BEDROOM - NIGHT | PDF [36, 37] | . Gloria is stunned. GLORIA You know? Bryce opens his right hand. The pale blue pill is still hidden in his palm. 36. Then he reveals a white vitamin C tablet between the fingers of his left hand. BRYCE This is wha</a:t>
            </a:r>
          </a:p>
          <a:p/>
          <a:p>
            <a:r>
              <a:t>A066 Vitamin C tablet / substitution</a:t>
            </a:r>
          </a:p>
          <a:p>
            <a:r>
              <a:t>E15 | INT. WHITMORE ESTATE - BRYCE'S BEDROOM - NIGHT | PDF [37] | le blue pill is still hidden in his palm. 36. Then he reveals a white vitamin C tablet between the fingers of his left hand. BRYCE This is what I was putting in my mouth. Gloria looks at the white pill she kno</a:t>
            </a:r>
          </a:p>
          <a:p/>
          <a:p>
            <a:r>
              <a:t>A067 Bed / headboard / mattress</a:t>
            </a:r>
          </a:p>
          <a:p>
            <a:r>
              <a:t>E15 | INT. WHITMORE ESTATE - BRYCE'S BEDROOM - NIGHT | PDF [35, 37] | W MOTION — The glass flips, and water splashes across the edge of the bed. A white pill flies from between Bryce's fingers and drops to the floor. ADRIAN (darkly) What? Gloria doesn't look at him. She br</a:t>
            </a:r>
          </a:p>
          <a:p>
            <a:r>
              <a:t>E16 | INT. WHITMORE ESTATE - BRYCE'S BEDROOM - DAY | PDF [37, 38] |  curtains are only half open, and cold white daylight cuts across the bed. Bryce sits propped against the headboard while Mrs. Miller tidies the pill box by the bed. Gloria storms in, pushing the door op</a:t>
            </a:r>
          </a:p>
          <a:p>
            <a:r>
              <a:t>E16 | INT. WHITMORE ESTATE - BRYCE'S BEDROOM - DAY | PDF [38, 39] | e other side, Bryce throws off the covers and sits on the edge of the bed. Feet planted on the floor, he grips the training frame by the bed, his fingers tightening one by one. FOOTSTEPS approach outside</a:t>
            </a:r>
          </a:p>
          <a:p>
            <a:r>
              <a:t>E38 | INT. WHITMORE ESTATE - BRYCE'S BEDROOM - CONTINUOUS | PDF [78, 80] | e door bursts open. The two of them stumble all the way onto the soft bed, the mattress sinking deeply. Bryce half-props himself above Gloria, his urgent, burning kisses trailing from the corner of her l</a:t>
            </a:r>
          </a:p>
          <a:p/>
          <a:p>
            <a:r>
              <a:t>A068 Nightstand</a:t>
            </a:r>
          </a:p>
          <a:p>
            <a:r>
              <a:t>E15 | INT. WHITMORE ESTATE - BRYCE'S BEDROOM - NIGHT | PDF [36] | icated, you should listen to her. He sets the empty glass back on the nightstand and walks past Gloria. ADRIAN (turning back) Be nicer to him. The door closes. The anger drops from Gloria's face instantly. She </a:t>
            </a:r>
          </a:p>
          <a:p>
            <a:r>
              <a:t>E16 | INT. WHITMORE ESTATE - BRYCE'S BEDROOM - DAY | PDF [39] |  can hear his own heartbeat. The Maid sets the pills and water on the nightstand and, unfazed, turns to leave. The door closes again. Gloria and Bryce hold their position. Bryce looks at her, his Adam's apple b</a:t>
            </a:r>
          </a:p>
          <a:p/>
          <a:p>
            <a:r>
              <a:t>A069 Curtains</a:t>
            </a:r>
          </a:p>
          <a:p>
            <a:r>
              <a:t>E16 | INT. WHITMORE ESTATE - BRYCE'S BEDROOM - DAY | PDF [37] | The next morning. The heavy curtains are only half open, and cold white daylight cuts across the bed. Bryce sits propped against the headboard while Mrs. Miller tidie</a:t>
            </a:r>
          </a:p>
          <a:p/>
          <a:p>
            <a:r>
              <a:t>A070 Pill box</a:t>
            </a:r>
          </a:p>
          <a:p>
            <a:r>
              <a:t>E16 | INT. WHITMORE ESTATE - BRYCE'S BEDROOM - DAY | PDF [37, 38] | Bryce sits propped against the headboard while Mrs. Miller tidies the pill box by the bed. Gloria storms in, pushing the door open. GLORIA (impatient) It's nine o'clock. Get up. Training. Bryce looks up at he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A071 Sheets / covers / pillow</a:t>
            </a:r>
          </a:p>
          <a:p>
            <a:r>
              <a:t>E16 | INT. WHITMORE ESTATE - BRYCE'S BEDROOM - DAY | PDF [38, 39] | ce's arm toward the edge of the bed. Bryce plays along, clutching the sheets and frowning hard like he's desperate to stay in bed, but his eyes never leave her face, inches away. BRYCE (faking annoyance) Le</a:t>
            </a:r>
          </a:p>
          <a:p>
            <a:r>
              <a:t>E38 | INT. WHITMORE ESTATE - BRYCE'S BEDROOM - CONTINUOUS | PDF [79, 80] | flickers warmly as they lose themselves in each other. On the tangled sheets, Bryce's large hand slides through Gloria's fingers, closing tight, their fingers locked together. CLOSE ON: Their two hands, cla</a:t>
            </a:r>
          </a:p>
          <a:p/>
          <a:p>
            <a:r>
              <a:t>A072 Under-desk documents</a:t>
            </a:r>
          </a:p>
          <a:p>
            <a:r>
              <a:t>E16 | INT. WHITMORE ESTATE - BRYCE'S BEDROOM - DAY | PDF [38] | Gloria bends down and pulls several stacks of documents out from under the desk. She sits cross-legged and runs her fingertip down the dates, circling each place where the times overlap</a:t>
            </a:r>
          </a:p>
          <a:p/>
          <a:p>
            <a:r>
              <a:t>A073 Bedside training frame</a:t>
            </a:r>
          </a:p>
          <a:p>
            <a:r>
              <a:t>E16 | INT. WHITMORE ESTATE - BRYCE'S BEDROOM - DAY | PDF [38] |  sits on the edge of the bed. Feet planted on the floor, he grips the training frame by the bed, his fingers tightening one by one. FOOTSTEPS approach outside the door. Gloria's head snaps up. Bryce is still half s</a:t>
            </a:r>
          </a:p>
          <a:p/>
          <a:p>
            <a:r>
              <a:t>A074 Silver-gray medical case</a:t>
            </a:r>
          </a:p>
          <a:p>
            <a:r>
              <a:t>E17 | INT. WHITMORE ESTATE - BRYCE'S BEDROOM - DAY | PDF [39] | ks in with a sharply dressed man in a suit, who carries a silver-gray medical case. Gloria looks up and stops what she's doing. 39. GLORIA (her face going cold) Ryan. What are you doing here? Ryan looks at her wi</a:t>
            </a:r>
          </a:p>
          <a:p/>
          <a:p>
            <a:r>
              <a:t>A075 Manila envelope</a:t>
            </a:r>
          </a:p>
          <a:p>
            <a:r>
              <a:t>E17 | INT. WHITMORE ESTATE - BRYCE'S BEDROOM - DAY | PDF [42] | CE Good. As long as you admit it. Ryan's smile freezes. Bryce pulls a manila envelope from the bedside. He tosses it at Ryan's feet. BRYCE Open it. </a:t>
            </a:r>
          </a:p>
          <a:p/>
          <a:p>
            <a:r>
              <a:t>A124 Bedside lamp</a:t>
            </a:r>
          </a:p>
          <a:p>
            <a:r>
              <a:t>E38 | INT. WHITMORE ESTATE - BRYCE'S BEDROOM - CONTINUOUS | PDF [80] | e lowers his head and seals her lips again, pressing Gloria down. The bedside lamp flickers warmly as they lose themselves in each other. On the tangled sheets, Bryce's large hand slides through Gloria's fingers,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S036 | E19 | PDF 45 | INT. WHITMORE ESTATE - FOYER - NIGHT</a:t>
            </a:r>
          </a:p>
          <a:p>
            <a:r>
              <a:t>S062 | E38 | PDF 77 | INT. WHITMORE ESTATE - FOYER - NIGHT</a:t>
            </a:r>
          </a:p>
          <a:p>
            <a:r>
              <a:t>S065 | E39 | PDF 81 | INT. WHITMORE ESTATE - FOYER - CONTINUOUS</a:t>
            </a:r>
          </a:p>
          <a:p>
            <a:r>
              <a:t>S079 | E47 | PDF 94 | INT. WHITMORE ESTATE - FOYER - AFTERNOON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E19 | INT. WHITMORE ESTATE - FOYER - NIGHT | PDF [45, 46] | ill on the armrest for two seconds, then he immediately takes out his phone. BRYCE (on phone, low) Follow Gloria. Make sure she's safe. </a:t>
            </a:r>
          </a:p>
          <a:p/>
          <a:p>
            <a:r>
              <a:t>A008 Wheelchair</a:t>
            </a:r>
          </a:p>
          <a:p>
            <a:r>
              <a:t>E19 | INT. WHITMORE ESTATE - FOYER - NIGHT | PDF [45] | de pocket. Just as her hand touches the door handle, the low HUM of a wheelchair motor sounds behind her. BRYCE (O.S.) Where are you going this late? Gloria's shoulders stiffen, but when she turns around she's </a:t>
            </a:r>
          </a:p>
          <a:p/>
          <a:p>
            <a:r>
              <a:t>A017 Apron</a:t>
            </a:r>
          </a:p>
          <a:p>
            <a:r>
              <a:t>E39 | INT. WHITMORE ESTATE - FOYER - CONTINUOUS | PDF [81] | gh Claire's. She looks Gloria up and down from on high, taking in the apron, as if looking at some cheap, lowly maid. Arm in arm with Claire, Vivian shoulders right past Gloria and strides into the hall. V</a:t>
            </a:r>
          </a:p>
          <a:p/>
          <a:p>
            <a:r>
              <a:t>A078 Foyer mirror</a:t>
            </a:r>
          </a:p>
          <a:p>
            <a:r>
              <a:t>E19 | INT. WHITMORE ESTATE - FOYER - NIGHT | PDF [45] | Nine-thirty at night. Gloria stands in front of the foyer mirror, checking her flashlight and pocket pepper spray one by one. She puts on a dark jacket and tucks the items into the inside pocket</a:t>
            </a:r>
          </a:p>
          <a:p/>
          <a:p>
            <a:r>
              <a:t>A079 Flashlight</a:t>
            </a:r>
          </a:p>
          <a:p>
            <a:r>
              <a:t>E19 | INT. WHITMORE ESTATE - FOYER - NIGHT | PDF [45] | ty at night. Gloria stands in front of the foyer mirror, checking her flashlight and pocket pepper spray one by one. She puts on a dark jacket and tucks the items into the inside pocket. Just as her hand touche</a:t>
            </a:r>
          </a:p>
          <a:p/>
          <a:p>
            <a:r>
              <a:t>A080 Pocket pepper spray</a:t>
            </a:r>
          </a:p>
          <a:p>
            <a:r>
              <a:t>E19 | INT. WHITMORE ESTATE - FOYER - NIGHT | PDF [45, 46] | ands in front of the foyer mirror, checking her flashlight and pocket pepper spray one by one. She puts on a dark jacket and tucks the items into the inside pocket. Just as her hand touches the door handle, the 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A098 Crystal chandeliers</a:t>
            </a:r>
          </a:p>
          <a:p>
            <a:r>
              <a:t>E38 | INT. WHITMORE ESTATE - FOYER - NIGHT | PDF [77] | two of them come in. The foyer is pitch black. Gloria reaches for the chandelier switch on the wall. Bryce's warm, large hand covers the back of hers. With a click, he switches off the wall light that had flick</a:t>
            </a:r>
          </a:p>
          <a:p/>
          <a:p>
            <a:r>
              <a:t>A122 Front door / latch</a:t>
            </a:r>
          </a:p>
          <a:p>
            <a:r>
              <a:t>E38 | INT. WHITMORE ESTATE - FOYER - NIGHT | PDF [77] | The front door shuts heavily. The two of them come in. The foyer is pitch black. Gloria reaches for the chandelier switch on the wall. Bryce's w</a:t>
            </a:r>
          </a:p>
          <a:p>
            <a:r>
              <a:t>E39 | INT. WHITMORE ESTATE - FOYER - CONTINUOUS | PDF [81] | a pulls off her oven mitts, hurries to the foyer, and opens the heavy front door. Three people stand neatly outside the door. On the left is Adrian, his eyes dark and menacing; on the right is Vivian. And in th</a:t>
            </a:r>
          </a:p>
          <a:p>
            <a:r>
              <a:t>E47 | INT. WHITMORE ESTATE - FOYER - AFTERNOON | PDF [94, 95] | The DOORBELL rings. The front door opens. Claire stands inside, already out of the wedding gown. Gloria sees her and stops short. CLAIRE Are you here for Bryce? GLO</a:t>
            </a:r>
          </a:p>
          <a:p/>
          <a:p>
            <a:r>
              <a:t>A123 Wall light / chandelier switch</a:t>
            </a:r>
          </a:p>
          <a:p>
            <a:r>
              <a:t>E38 | INT. WHITMORE ESTATE - FOYER - NIGHT | PDF [77] |  come in. The foyer is pitch black. Gloria reaches for the chandelier switch on the wall. Bryce's warm, large hand covers the back of hers. With a click, he switches off the wall light that had flickered on for an inst</a:t>
            </a:r>
          </a:p>
          <a:p/>
          <a:p>
            <a:r>
              <a:t>A126 Oven mitts</a:t>
            </a:r>
          </a:p>
          <a:p>
            <a:r>
              <a:t>E39 | INT. WHITMORE ESTATE - FOYER - CONTINUOUS | PDF [81] | Gloria pulls off her oven mitts, hurries to the foyer, and opens the heavy front door. Three people stand neatly outside the door. On the left is Adrian, his eye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S037 | E19 | PDF 46 | INT./EXT. REMOTE ROAD / GLORIA'S CAR - NIGHT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A081 Gloria car / steering / mirror / seatbelt</a:t>
            </a:r>
          </a:p>
          <a:p>
            <a:r>
              <a:t>E19 | INT./EXT. REMOTE ROAD / GLORIA'S CAR - NIGHT | PDF [46] | Gloria drives out of the city. The lights in the rearview mirror grow fewer and fewer, and everything goes dark. Gloria's smile disappears. Bot</a:t>
            </a:r>
          </a:p>
          <a:p/>
          <a:p>
            <a:r>
              <a:t>A082 Old streetlight</a:t>
            </a:r>
          </a:p>
          <a:p>
            <a:r>
              <a:t>E19 | INT./EXT. REMOTE ROAD / GLORIA'S CAR - NIGHT | PDF [46] | ppears. Both hands slowly tighten on the steering wheel. Only one old streetlight is left up ahead. Gloria slows down, scanning the empty shoulder and a chain-link fence with no address sign. GLORIA (low) This d</a:t>
            </a:r>
          </a:p>
          <a:p/>
          <a:p>
            <a:r>
              <a:t>A083 Chain-link fence / unmarked shoulder</a:t>
            </a:r>
          </a:p>
          <a:p>
            <a:r>
              <a:t>E19 | INT./EXT. REMOTE ROAD / GLORIA'S CAR - NIGHT | PDF [46] | s left up ahead. Gloria slows down, scanning the empty shoulder and a chain-link fence with no address sign. GLORIA (low) This doesn't look like a place for a conversation. She hits the brakes, ready to turn around. </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S038 | E19 | PDF 46 | EXT. ABANDONED WAREHOUSE - NIGHT</a:t>
            </a:r>
          </a:p>
          <a:p>
            <a:r>
              <a:t>S039 | E20 | PDF 47 | EXT. ABANDONED WAREHOUSE - PARKING LOT - NIGHT</a:t>
            </a:r>
          </a:p>
          <a:p>
            <a:r>
              <a:t>S040 | E21 | PDF 49 | EXT. ABANDONED WAREHOUSE - PARKING LOT - NIGHT</a:t>
            </a:r>
          </a:p>
          <a:p>
            <a:r>
              <a:t>S041 | E22 | PDF 51 | EXT. ABANDONED WAREHOUSE - PARKING LOT - NIGHT</a:t>
            </a:r>
          </a:p>
          <a:p>
            <a:r>
              <a:t>S042 | E23 | PDF 53 | EXT. ABANDONED WAREHOUSE - PARKING LOT - NIGHT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E20 | EXT. ABANDONED WAREHOUSE - PARKING LOT - NIGHT | PDF [48, 49] | once. One grabs Gloria's arms from behind, and the other snatches her phone. 48. Gloria kicks the one with her phone square in the kneecap. He drops to his knees with a grunt. She wrenches one shoulder fre</a:t>
            </a:r>
          </a:p>
          <a:p>
            <a:r>
              <a:t>E21 | EXT. ABANDONED WAREHOUSE - PARKING LOT - NIGHT | PDF [49, 50] | imself to stand. The Assistant hurries to Bryce's side and holds up a phone that's recording. 50. ASSISTANT We got everything he said on tape. Bryce keeps staring at Ryan, seething with rage. BRYCE If you </a:t>
            </a:r>
          </a:p>
          <a:p/>
          <a:p>
            <a:r>
              <a:t>A008 Wheelchair</a:t>
            </a:r>
          </a:p>
          <a:p>
            <a:r>
              <a:t>E21 | EXT. ABANDONED WAREHOUSE - PARKING LOT - NIGHT | PDF [49, 50] |  glaring white headlights pierce the night fog as Bryce, alone in his wheelchair, slowly rolls into the center of the light. Gloria's pupils shrink. She immediately struggles forward. GLORIA (shouting urgently)</a:t>
            </a:r>
          </a:p>
          <a:p/>
          <a:p>
            <a:r>
              <a:t>A080 Pocket pepper spray</a:t>
            </a:r>
          </a:p>
          <a:p>
            <a:r>
              <a:t>E19 | EXT. ABANDONED WAREHOUSE - NIGHT | PDF [46, 47] | Gloria grips her pepper spray tightly and gets out to look. A distant streetlight BUZZES with electrical static. Gloria straightens up and steadies her breathi</a:t>
            </a:r>
          </a:p>
          <a:p>
            <a:r>
              <a:t>E20 | EXT. ABANDONED WAREHOUSE - PARKING LOT - NIGHT | PDF [47, 48] | thugs blocking her escape, one in front and one behind. She grips the pepper spray and forces her rapid breathing to steady. GLORIA (coldly) What do you actually want? Ryan walks out from under the streetlight an</a:t>
            </a:r>
          </a:p>
          <a:p/>
          <a:p>
            <a:r>
              <a:t>A082 Old streetlight</a:t>
            </a:r>
          </a:p>
          <a:p>
            <a:r>
              <a:t>E19 | EXT. ABANDONED WAREHOUSE - NIGHT | PDF [46, 47] | Gloria grips her pepper spray tightly and gets out to look. A distant streetlight BUZZES with electrical static. Gloria straightens up and steadies her breathing. 46. RYAN (O.S.) So you came after all. Ryan step</a:t>
            </a:r>
          </a:p>
          <a:p>
            <a:r>
              <a:t>E20 | EXT. ABANDONED WAREHOUSE - PARKING LOT - NIGHT | PDF [47, 49] | The old streetlight flickers. Gloria keeps her back to the car door, her peripheral vision catching the two thugs blocking her escape, one in front a</a:t>
            </a:r>
          </a:p>
          <a:p/>
          <a:p>
            <a:r>
              <a:t>A083 Chain-link fence / unmarked shoulder</a:t>
            </a:r>
          </a:p>
          <a:p>
            <a:r>
              <a:t>E19 | EXT. ABANDONED WAREHOUSE - NIGHT | PDF [46, 47] | t in front of the car, blocking the road. Another thug appears by the chain-link fence behind Gloria, cutting off her retreat to the warehouse. Gloria's eyes dart across the three men. Her thumb presses down on the s</a:t>
            </a:r>
          </a:p>
          <a:p/>
          <a:p>
            <a:r>
              <a:t>A084 Ryan gloves / coat</a:t>
            </a:r>
          </a:p>
          <a:p>
            <a:r>
              <a:t>E19 | EXT. ABANDONED WAREHOUSE - NIGHT | PDF [47] | ight's shadow, a dark overcoat over his suit. He slowly pulls off his gloves, his eyes landing on the hand Gloria has wrapped around the pepper spray. Gloria takes half a step back, her back against the car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A085 Baseball bats</a:t>
            </a:r>
          </a:p>
          <a:p>
            <a:r>
              <a:t>E20 | EXT. ABANDONED WAREHOUSE - PARKING LOT - NIGHT | PDF [48, 49] | kly turning red. She glances behind Ryan. A thug has already pulled a baseball bat from his jacket, its tip SCRAPING harshly across the concrete. GLORIA (pointedly) This is you being nice? Ryan freezes for a mome</a:t>
            </a:r>
          </a:p>
          <a:p>
            <a:r>
              <a:t>E21 | EXT. ABANDONED WAREHOUSE - PARKING LOT - NIGHT | PDF [49, 50] | s of his hands standing out. Ryan lifts his chin. The thug raises the baseball bat again. SLOW MOTION — The bat tears through the air, coming down toward Gloria's shoulder. Bryce presses down hard on the armrests</a:t>
            </a:r>
          </a:p>
          <a:p/>
          <a:p>
            <a:r>
              <a:t>A086 Black sedan / headlight units</a:t>
            </a:r>
          </a:p>
          <a:p>
            <a:r>
              <a:t>E21 | EXT. ABANDONED WAREHOUSE - PARKING LOT - NIGHT | PDF [49, 50] | Everyone turns at once. At the parking lot entrance, a black sedan sits in the distance. Its glaring white headlights pierce the night fog as Bryce, alone in his wheelchair, slowly rolls into the </a:t>
            </a:r>
          </a:p>
          <a:p>
            <a:r>
              <a:t>E22 | EXT. ABANDONED WAREHOUSE - PARKING LOT - NIGHT | PDF [52] | T, FREEZE FRAME. Each of their hands protects the other's injury. The headlights still shine across the gravel-strewn ground. Bryce stares at the finger marks on her wrist, anger still knitting his brows. BRYCE</a:t>
            </a:r>
          </a:p>
          <a:p/>
          <a:p>
            <a:r>
              <a:t>A087 Bodyguard / Bryce firearms</a:t>
            </a:r>
          </a:p>
          <a:p>
            <a:r>
              <a:t>E21 | EXT. ABANDONED WAREHOUSE - PARKING LOT - NIGHT | PDF [50, 51] | rking lot at once. Several bodyguards emerge from the darkness, their guns trained in unison on Ryan and his men. The two thugs go pale. The baseball bats slip from their hands and clatter onto the concre</a:t>
            </a:r>
          </a:p>
          <a:p/>
          <a:p>
            <a:r>
              <a:t>A088 Assistant recording phone</a:t>
            </a:r>
          </a:p>
          <a:p>
            <a:r>
              <a:t>E21 | EXT. ABANDONED WAREHOUSE - PARKING LOT - NIGHT | PDF [50] | nd. The Assistant hurries to Bryce's side and holds up a phone that's recording. 50. ASSISTANT We got everything he said on tape. Bryce keeps staring at Ryan, seething with rage. BRYCE If you want to live, get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S043 | E24 | PDF 54 | INT. WHITMORE ESTATE - GRAND HALL - DAY</a:t>
            </a:r>
          </a:p>
          <a:p>
            <a:r>
              <a:t>S044 | E25 | PDF 56 | INT. WHITMORE ESTATE - GRAND HALL - DAY</a:t>
            </a:r>
          </a:p>
          <a:p>
            <a:r>
              <a:t>S045 | E26 | PDF 57 | INT. WHITMORE ESTATE - GRAND HALL - DAY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E24 | INT. WHITMORE ESTATE - GRAND HALL - DAY | PDF [54, 55, 56] | ulls out gold ribbon, ornaments, and string lights. Bryce sits in his wheelchair and picks up a shiny purple ornament, his brow furrowing in distaste. BRYCE What is this? GLORIA An ornament. BRYCE What an ugly </a:t>
            </a:r>
          </a:p>
          <a:p>
            <a:r>
              <a:t>E26 | INT. WHITMORE ESTATE - GRAND HALL - DAY | PDF [57, 58, 59] | loria takes the box. Bryce has already composed himself and rolls his wheelchair up behind her. CLOSE ON: The Whitmore family crest on the black garment box gleams coldly under the Christmas lights. Daniel step</a:t>
            </a:r>
          </a:p>
          <a:p/>
          <a:p>
            <a:r>
              <a:t>A043 String lights</a:t>
            </a:r>
          </a:p>
          <a:p>
            <a:r>
              <a:t>E24 | INT. WHITMORE ESTATE - GRAND HALL - DAY | PDF [54, 55] | (laughing in exasperation) What am I, in kindergarten? Gloria grabs a string of lights and drapes it over his shoulder. GLORIA Then you can sit right here and watch me decorate the whole tree exactly the way you hate</a:t>
            </a:r>
          </a:p>
          <a:p/>
          <a:p>
            <a:r>
              <a:t>A046 Gold tree-topper star</a:t>
            </a:r>
          </a:p>
          <a:p>
            <a:r>
              <a:t>E24 | INT. WHITMORE ESTATE - GRAND HALL - DAY | PDF [56] | p. 55. Gloria walks to the foot of the Christmas tree, holding up the tree-topper star, and reaches her other hand out to him. BRYCE You're that sure I'll walk over to you? Gloria smiles and gives the star in her han</a:t>
            </a:r>
          </a:p>
          <a:p/>
          <a:p>
            <a:r>
              <a:t>A050 Ornament box</a:t>
            </a:r>
          </a:p>
          <a:p>
            <a:r>
              <a:t>E24 | INT. WHITMORE ESTATE - GRAND HALL - DAY | PDF [54] | ree you ordered last month has arrived. Gloria excitedly tears open a box of decorations and pulls out gold ribbon, ornaments, and string lights. Bryce sits in his wheelchair and picks up a shiny purple ornament, his b</a:t>
            </a:r>
          </a:p>
          <a:p/>
          <a:p>
            <a:r>
              <a:t>A089 Giant Christmas tree</a:t>
            </a:r>
          </a:p>
          <a:p>
            <a:r>
              <a:t>E24 | INT. WHITMORE ESTATE - GRAND HALL - DAY | PDF [54, 55, 56] | Two servants set up a giant Christmas tree in the grand hall. MAID Young master, the Christmas tree you ordered last month has arrived. Gloria excitedly tears open a box of</a:t>
            </a:r>
          </a:p>
          <a:p>
            <a:r>
              <a:t>E25 | INT. WHITMORE ESTATE - GRAND HALL - DAY | PDF [56, 57] |  — The instant they land, their lips crash together. They freeze. The Christmas tree lights flicker over their faces. Directly overhead, a sprig of mistletoe hangs among the branches. The initial shock slowly fades</a:t>
            </a:r>
          </a:p>
          <a:p>
            <a:r>
              <a:t>E26 | INT. WHITMORE ESTATE - GRAND HALL - DAY | PDF [57] | d lays the garment box flat on the table. He glances at the newly lit Christmas tree, then at Gloria and Bryce, their clothes slightly mussed, deliberately avoiding each other's eyes. He lifts the lid. A black tuxe</a:t>
            </a:r>
          </a:p>
          <a:p/>
          <a:p>
            <a:r>
              <a:t>A090 Gold ribbon</a:t>
            </a:r>
          </a:p>
          <a:p>
            <a:r>
              <a:t>E24 | INT. WHITMORE ESTATE - GRAND HALL - DAY | PDF [54, 55] | rived. Gloria excitedly tears open a box of decorations and pulls out gold ribbon, ornaments, and string lights. Bryce sits in his wheelchair and picks up a shiny purple ornament, his brow furrowing in distaste.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A091 Purple ornament</a:t>
            </a:r>
          </a:p>
          <a:p>
            <a:r>
              <a:t>E24 | INT. WHITMORE ESTATE - GRAND HALL - DAY | PDF [54] |  and string lights. Bryce sits in his wheelchair and picks up a shiny purple ornament, his brow furrowing in distaste. BRYCE What is this? GLORIA An ornament. BRYCE What an ugly color. Does that really belong at Chr</a:t>
            </a:r>
          </a:p>
          <a:p/>
          <a:p>
            <a:r>
              <a:t>A092 Red ornament</a:t>
            </a:r>
          </a:p>
          <a:p>
            <a:r>
              <a:t>E24 | INT. WHITMORE ESTATE - GRAND HALL - DAY | PDF [55] | e tree exactly the way you hate most. She turns, deliberately hangs a red ornament crooked, then crams a silver bell onto the same branch. Bryce stares for a few seconds, then pulls the lights off his shoulder. W</a:t>
            </a:r>
          </a:p>
          <a:p/>
          <a:p>
            <a:r>
              <a:t>A093 Silver bell</a:t>
            </a:r>
          </a:p>
          <a:p>
            <a:r>
              <a:t>E24 | INT. WHITMORE ESTATE - GRAND HALL - DAY | PDF [55] | t. She turns, deliberately hangs a red ornament crooked, then crams a silver bell onto the same branch. Bryce stares for a few seconds, then pulls the lights off his shoulder. With her back to him, Gloria keeps </a:t>
            </a:r>
          </a:p>
          <a:p/>
          <a:p>
            <a:r>
              <a:t>A094 Mistletoe</a:t>
            </a:r>
          </a:p>
          <a:p>
            <a:r>
              <a:t>E25 | INT. WHITMORE ESTATE - GRAND HALL - DAY | PDF [57] | s tree lights flicker over their faces. Directly overhead, a sprig of mistletoe hangs among the branches. The initial shock slowly fades from their eyes. Gloria closes her eyes first. Bryce pauses half a secon</a:t>
            </a:r>
          </a:p>
          <a:p/>
          <a:p>
            <a:r>
              <a:t>A095 Rug / fall landing surface</a:t>
            </a:r>
          </a:p>
          <a:p>
            <a:r>
              <a:t>E25 | INT. WHITMORE ESTATE - GRAND HALL - DAY | PDF [57] | bs Gloria's waist. She's pulled off balance. 56. They tumble onto the rug together. Bryce lands on his back, and Gloria falls forward onto his chest. SLOW MOTION — The instant they land, their lips crash</a:t>
            </a:r>
          </a:p>
          <a:p>
            <a:r>
              <a:t>E26 | INT. WHITMORE ESTATE - GRAND HALL - DAY | PDF [57] | Gloria's eyes snap open. She pushes up off the rug. Bryce sits up too, awkwardly. Gloria runs to answer the door, head down, fixing her disheveled collar, breathing fast. The DOORB</a:t>
            </a:r>
          </a:p>
          <a:p/>
          <a:p>
            <a:r>
              <a:t>A096 Family-crest garment box</a:t>
            </a:r>
          </a:p>
          <a:p>
            <a:r>
              <a:t>E26 | INT. WHITMORE ESTATE - GRAND HALL - DAY | PDF [57] | n's secretary, Daniel, stands outside, holding a luxurious deep black garment box in both hands. DANIEL (evenly) Mr. Adrian asked me to deliver Mr. Bryce's outfit for his birthday banquet. Gloria takes the box. </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A097 Tuxedo / silver-gray tie / crest cufflinks</a:t>
            </a:r>
          </a:p>
          <a:p>
            <a:r>
              <a:t>E26 | INT. WHITMORE ESTATE - GRAND HALL - DAY | PDF [57, 58, 59] | d, deliberately avoiding each other's eyes. He lifts the lid. A black tuxedo, a silver-gray tie, and family-crest cufflinks are laid out neatly inside. 57. DANIEL Mr. Adrian asked me to tell you that tomorr</a:t>
            </a:r>
          </a:p>
          <a:p/>
          <a:p>
            <a:r>
              <a:t>A122 Front door / latch</a:t>
            </a:r>
          </a:p>
          <a:p>
            <a:r>
              <a:t>E26 | INT. WHITMORE ESTATE - GRAND HALL - DAY | PDF [57, 58] | veled collar, breathing fast. The DOORBELL rings again. She pulls the front door open. Adrian's secretary, Daniel, stands outside, holding a luxurious deep black garment box in both hands. DANIEL (evenly) Mr. 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S046 | E27 | PDF 59 | INT. WHITMORE ESTATE - BANQUET HALL - NIGHT</a:t>
            </a:r>
          </a:p>
          <a:p>
            <a:r>
              <a:t>S047 | E27 | PDF 59 | INT. WHITMORE ESTATE - BANQUET HALL - CHAMPAGNE TOWER - NIGHT</a:t>
            </a:r>
          </a:p>
          <a:p>
            <a:r>
              <a:t>S048 | E28 | PDF 60 | INT. WHITMORE ESTATE - BANQUET HALL - CHAMPAGNE TOWER - NIGHT</a:t>
            </a:r>
          </a:p>
          <a:p>
            <a:r>
              <a:t>S049 | E29 | PDF 61 | INT. WHITMORE ESTATE - BANQUET HALL - CHAMPAGNE TOWER - NIGHT</a:t>
            </a:r>
          </a:p>
          <a:p>
            <a:r>
              <a:t>S050 | E30 | PDF 64 | INT. WHITMORE ESTATE - BANQUET HALL - NIGHT</a:t>
            </a:r>
          </a:p>
          <a:p>
            <a:r>
              <a:t>S051 | E31 | PDF 65 | INT. WHITMORE ESTATE - BANQUET HALL - NIGHT</a:t>
            </a:r>
          </a:p>
          <a:p>
            <a:r>
              <a:t>S083 | E51 | PDF 98 | INT. WHITMORE ESTATE - BANQUET HALL - CHRISTMAS EVE - NIGHT</a:t>
            </a:r>
          </a:p>
          <a:p>
            <a:r>
              <a:t>S084 | E52 | PDF 100 | INT. WHITMORE ESTATE - BANQUET HALL - CHRISTMAS EVE - NIGHT - CONTINUOUS</a:t>
            </a:r>
          </a:p>
          <a:p>
            <a:r>
              <a:t>S086 | E52 | PDF 101 | INT. WHITMORE ESTATE - BANQUET HALL - CHRISTMAS EVE - NIGHT - CONTINUOUS</a:t>
            </a:r>
          </a:p>
          <a:p>
            <a:r>
              <a:t>S087 | E53 | PDF 101 | INT. WHITMORE ESTATE - BANQUET HALL - CHRISTMAS EVE - NIGHT - CONTINUOUS</a:t>
            </a:r>
          </a:p>
          <a:p>
            <a:r>
              <a:t>S088 | E54 | PDF 102 | INT. WHITMORE ESTATE - BANQUET HALL - CHRISTMAS EVE - NIGHT - CONTINUOUS</a:t>
            </a:r>
          </a:p>
          <a:p>
            <a:r>
              <a:t>S089 | E55 | PDF 104 | INT. WHITMORE ESTATE - BANQUET HALL - CHRISTMAS EVE - NIGHT - CONTINUOUS</a:t>
            </a:r>
          </a:p>
          <a:p>
            <a:r>
              <a:t>S090 | E56 | PDF 106 | INT. WHITMORE ESTATE - BANQUET HALL - CHRISTMAS EVE - NIGHT - CONTINUOUS</a:t>
            </a:r>
          </a:p>
          <a:p>
            <a:r>
              <a:t>S091 | E57 | PDF 107 | INT. WHITMORE ESTATE - BANQUET HALL - CHRISTMAS EVE - NIGHT - CONTINUOUS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E28 | INT. WHITMORE ESTATE - BANQUET HALL - CHAMPAGNE TOWER - NIGHT | PDF [61] |  in his wheelchair, his gaze calm. BRYCE I'm not trying to scare you. Phone ALERTS chime one after another. All three of their phones buzz at the same time. Peter looks down and opens the email. His face c</a:t>
            </a:r>
          </a:p>
          <a:p>
            <a:r>
              <a:t>E29 | INT. WHITMORE ESTATE - BANQUET HALL - CHAMPAGNE TOWER - NIGHT | PDF [61, 62, 63, 64] |  How else would everyone see whose side you're on? Peter clutches his phone, then suddenly sneers. PETER You think killing three contracts means you've won? He leans in close to Bryce and lowers his voice.</a:t>
            </a:r>
          </a:p>
          <a:p>
            <a:r>
              <a:t>E30 | INT. WHITMORE ESTATE - BANQUET HALL - NIGHT | PDF [64] | er two stand in front of the birthday backdrop. Gloria raises Peter's phone, framing them together with Bryce in the distance. PETER Make it nice and clear. GLORIA Don't worry. It'll be crystal clear. She </a:t>
            </a:r>
          </a:p>
          <a:p>
            <a:r>
              <a:t>E31 | INT. WHITMORE ESTATE - BANQUET HALL - NIGHT | PDF [66] | yce can't take a little joke? GLORIA A joke? Sure. 65. She points the phone camera at the three of them again. GLORIA Then say it to the camera—take the joke back. The three stand there, not moving. Gloria</a:t>
            </a:r>
          </a:p>
          <a:p>
            <a:r>
              <a:t>E55 | INT. WHITMORE ESTATE - BANQUET HALL - CHRISTMAS EVE - NIGHT - CONTINUOUS | PDF [105] | s been with me the whole time. Bryce looks at Daniel. Daniel taps his phone screen. Phones RING one after another. Adrian and Vivian pull out their phones at the same time. INSERT — PHONE SCREEN: "Group ac</a:t>
            </a:r>
          </a:p>
          <a:p/>
          <a:p>
            <a:r>
              <a:t>A008 Wheelchair</a:t>
            </a:r>
          </a:p>
          <a:p>
            <a:r>
              <a:t>E27 | INT. WHITMORE ESTATE - BANQUET HALL - NIGHT | PDF [59] | f the main hall. The banquet hall doors swing open. Bryce sits in his wheelchair in a sharply tailored black suit, his silver-gray tie knotted to perfection. Gloria, in formal wear, pushes him into the hall wit</a:t>
            </a:r>
          </a:p>
          <a:p>
            <a:r>
              <a:t>E28 | INT. WHITMORE ESTATE - BANQUET HALL - CHAMPAGNE TOWER - NIGHT | PDF [61] | meeting, and you think you can scare anybody? Bryce leans back in his wheelchair, his gaze calm. BRYCE I'm not trying to scare you. Phone ALERTS chime one after another. All three of their phones buzz at the sa</a:t>
            </a:r>
          </a:p>
          <a:p>
            <a:r>
              <a:t>E29 | INT. WHITMORE ESTATE - BANQUET HALL - CHAMPAGNE TOWER - NIGHT | PDF [61, 63, 64] | ou'll be thrown out of Whitmore for good. 62. Bryce leans back in his wheelchair, not a flicker of change on his face. BRYCE Then let's wait for Christmas. Enraged by his calm, Peter grabs a champagne glass and</a:t>
            </a:r>
          </a:p>
          <a:p>
            <a:r>
              <a:t>E31 | INT. WHITMORE ESTATE - BANQUET HALL - NIGHT | PDF [66] |  of the banquet hall. The onlookers quickly disperse. Bryce turns his wheelchair and rolls up to Gloria. 66. BRYCE Gloria, provoking them on my behalf is dangerous. She bends down and picks up the old painting.</a:t>
            </a:r>
          </a:p>
          <a:p>
            <a:r>
              <a:t>E51 | INT. WHITMORE ESTATE - BANQUET HALL - CHRISTMAS EVE - NIGHT | PDF [98] | board members and guests are seated on either side. Bryce sits in his wheelchair, his expression calm. Adrian stands before the head seat. ADRIAN After tonight, Whitmore won't need two heirs anymore. Vivian rai</a:t>
            </a:r>
          </a:p>
          <a:p>
            <a:r>
              <a:t>E53 | INT. WHITMORE ESTATE - BANQUET HALL - CHRISTMAS EVE - NIGHT - CONTINUOUS | PDF [101] |  her. She drugged him, and he got dependent. Bryce sits calmly in his wheelchair, his right hand tapping the armrest once. DANIEL, standing by the door, gives a subtle nod. 101. ADRIAN Security, get this con ar</a:t>
            </a:r>
          </a:p>
          <a:p>
            <a:r>
              <a:t>E54 | INT. WHITMORE ESTATE - BANQUET HALL - CHRISTMAS EVE - NIGHT - CONTINUOUS | PDF [104] | f Bryce's mouth slowly lifts. BRYCE Good. He braces both hands on the wheelchair armrests and easily stands up. The whole room goes dead silent. Bryce straightens his suit cuffs. BRYCE Time to settle our accoun</a:t>
            </a:r>
          </a:p>
          <a:p/>
          <a:p>
            <a:r>
              <a:t>A027 Broken glass</a:t>
            </a:r>
          </a:p>
          <a:p>
            <a:r>
              <a:t>E31 | INT. WHITMORE ESTATE - BANQUET HALL - NIGHT | PDF [66] | ck up the old painting. Leon and the other one crouch to clean up the broken glass and cake. Peter holds the painting out to Bryce with both hands. Bryce doesn't take it. He only looks toward the bodyguards poste</a:t>
            </a:r>
          </a:p>
          <a:p/>
          <a:p>
            <a:r>
              <a:t>A029 Share transfer agreement / supplemental page</a:t>
            </a:r>
          </a:p>
          <a:p>
            <a:r>
              <a:t>E28 | INT. WHITMORE ESTATE - BANQUET HALL - CHAMPAGNE TOWER - NIGHT | PDF [60] | his eyes to the old painting. BRYCE Peter, your father's hotel supply contract is up for renewal next month. 60. Peter's smile falters. BRYCE Leon, your company's logistics line only keeps running because Whi</a:t>
            </a:r>
          </a:p>
          <a:p>
            <a:r>
              <a:t>E51 | INT. WHITMORE ESTATE - BANQUET HALL - CHRISTMAS EVE - NIGHT | PDF [99, 100] |  who can't even stand hold up Whitmore? A few board members murmur in agreement. Adrian picks up the voting resolution. ADRIAN Let's begin the final vote. BANG— The banquet hall doors are flung open. Gloria, i</a:t>
            </a:r>
          </a:p>
          <a:p>
            <a:r>
              <a:t>E52 | INT. WHITMORE ESTATE - BANQUET HALL - CHRISTMAS EVE - NIGHT - CONTINUOUS | PDF [100] | Adrian picks up the agreement and tosses it back onto the table. ADRIAN Claire didn't want the marriage, and you didn't want to leave Bryce. So the two of you </a:t>
            </a:r>
          </a:p>
          <a:p>
            <a:r>
              <a:t>E55 | INT. WHITMORE ESTATE - BANQUET HALL - CHRISTMAS EVE - NIGHT - CONTINUOUS | PDF [104, 105] | nal seal, so you tried another way. Bryce picks up the share transfer agreement from the table. 104. BRYCE Have Harris certify I was permanently disabled, and force the board to kick me out. Bryce tears the ag</a:t>
            </a:r>
          </a:p>
          <a:p/>
          <a:p>
            <a:r>
              <a:t>A047 Light-up reindeer hats / antler headband</a:t>
            </a:r>
          </a:p>
          <a:p>
            <a:r>
              <a:t>E57 | INT. WHITMORE ESTATE - BANQUET HALL - CHRISTMAS EVE - NIGHT - CONTINUOUS | PDF [109] | oing to him? GLORIA He's got his life back. 108. Gloria takes off her reindeer-antler headband and gently sets it on the back of a chair. GLORIA It's time I went and lived mine. She turns and walks out of the</a:t>
            </a:r>
          </a:p>
          <a:p/>
          <a:p>
            <a:r>
              <a:t>A058 White pills / dropped pills</a:t>
            </a:r>
          </a:p>
          <a:p>
            <a:r>
              <a:t>E56 | INT. WHITMORE ESTATE - BANQUET HALL - CHRISTMAS EVE - NIGHT - CONTINUOUS | PDF [106] | t time you sent those meds into my room. Bryce bends down, picks up a white pill from the floor, and walks over to Dr. Harris. He places the pill in Dr. Harris's palm. BRYCE Gloria gave you one chance. Bryce sl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A063 Zip / sealed evidence bag</a:t>
            </a:r>
          </a:p>
          <a:p>
            <a:r>
              <a:t>E52 | INT. WHITMORE ESTATE - BANQUET HALL - CHRISTMAS EVE - NIGHT - CONTINUOUS | PDF [100] | ill be. Just not tonight, while you two put on a show. Gloria takes a sealed bag of pills and the purchase records from her purse. GLORIA What about this? She sets the pills down next to the agreement. GLORIA T</a:t>
            </a:r>
          </a:p>
          <a:p/>
          <a:p>
            <a:r>
              <a:t>A097 Tuxedo / silver-gray tie / crest cufflinks</a:t>
            </a:r>
          </a:p>
          <a:p>
            <a:r>
              <a:t>E27 | INT. WHITMORE ESTATE - BANQUET HALL - NIGHT | PDF [59] | n. Bryce sits in his wheelchair in a sharply tailored black suit, his silver-gray tie knotted to perfection. Gloria, in formal wear, pushes him into the hall with both hands. Guests holding wine glasses turn around.</a:t>
            </a:r>
          </a:p>
          <a:p/>
          <a:p>
            <a:r>
              <a:t>A098 Crystal chandeliers</a:t>
            </a:r>
          </a:p>
          <a:p>
            <a:r>
              <a:t>E51 | INT. WHITMORE ESTATE - BANQUET HALL - CHRISTMAS EVE - NIGHT | PDF [98] | Under the crystal chandelier, board members and guests are seated on either side. Bryce sits in his wheelchair, his expression calm. Adrian stands before the </a:t>
            </a:r>
          </a:p>
          <a:p>
            <a:r>
              <a:t>E54 | INT. WHITMORE ESTATE - BANQUET HALL - CHRISTMAS EVE - NIGHT - CONTINUOUS | PDF [103] | ard and knocks the pills away. The white pills roll under the crystal chandelier. GLORIA (staring at her) What are you afraid of? Vivian's face goes stiff. VIVIAN Drag her out! The security guards seize Gloria </a:t>
            </a:r>
          </a:p>
          <a:p/>
          <a:p>
            <a:r>
              <a:t>A099 Black and gold carpet</a:t>
            </a:r>
          </a:p>
          <a:p>
            <a:r>
              <a:t>E27 | INT. WHITMORE ESTATE - BANQUET HALL - NIGHT | PDF [59] | Crystal chandeliers light up a banquet hall carpeted in black and gold. Long tables are laid with silverware and champagne. Whitmore family members and company directors stand in sma</a:t>
            </a:r>
          </a:p>
          <a:p/>
          <a:p>
            <a:r>
              <a:t>A100 Long banquet tables</a:t>
            </a:r>
          </a:p>
          <a:p>
            <a:r>
              <a:t>E51 | INT. WHITMORE ESTATE - BANQUET HALL - CHRISTMAS EVE - NIGHT | PDF [99] |  GLORIA I came to deliver a Christmas present. Gloria walks up to the long table and slams the share transfer agreement down on it. GLORIA This agreement was written the very day of Bryce's accident. The whole </a:t>
            </a:r>
          </a:p>
          <a:p>
            <a:r>
              <a:t>E55 | INT. WHITMORE ESTATE - BANQUET HALL - CHRISTMAS EVE - NIGHT - CONTINUOUS | PDF [104] | hanges abruptly. Bryce takes a step, then another, walking toward the long table. His steps are still slow, but he plants himself firmly in front of Adrian. ADRIAN So what if you can stand? The board's already </a:t>
            </a:r>
          </a:p>
          <a:p/>
          <a:p>
            <a:r>
              <a:t>A101 Banquet silverware</a:t>
            </a:r>
          </a:p>
          <a:p>
            <a:r>
              <a:t>E27 | INT. WHITMORE ESTATE - BANQUET HALL - NIGHT | PDF [59] |  a banquet hall carpeted in black and gold. Long tables are laid with silverware and champagne. Whitmore family members and company directors stand in small clusters along both sides of the main hall. The banqu</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A102 Champagne / wine / glasses</a:t>
            </a:r>
          </a:p>
          <a:p>
            <a:r>
              <a:t>E27 | INT. WHITMORE ESTATE - BANQUET HALL - NIGHT | PDF [59] |  carpeted in black and gold. Long tables are laid with silverware and champagne. Whitmore family members and company directors stand in small clusters along both sides of the main hall. The banquet hall doors </a:t>
            </a:r>
          </a:p>
          <a:p>
            <a:r>
              <a:t>E27 | INT. WHITMORE ESTATE - BANQUET HALL - CHAMPAGNE TOWER - NIGHT | PDF [59, 60] | Gloria wheels Bryce up to a champagne tower. GLORIA (quietly) I'll get you something to eat. Wait for me here. BRYCE Okay. The corner of Gloria's mouth curves. Her fin</a:t>
            </a:r>
          </a:p>
          <a:p>
            <a:r>
              <a:t>E28 | INT. WHITMORE ESTATE - BANQUET HALL - CHAMPAGNE TOWER - NIGHT | PDF [60, 61] | ppears into the crowd. The three young shareholders walk up to Bryce, champagne in hand. Peter sets a flat gift box down on Bryce's lap and opens it himself. CLOSE ON: An old painting inside the box. A black f</a:t>
            </a:r>
          </a:p>
          <a:p>
            <a:r>
              <a:t>E29 | INT. WHITMORE ESTATE - BANQUET HALL - CHAMPAGNE TOWER - NIGHT | PDF [61, 63, 64] | YCE Then let's wait for Christmas. Enraged by his calm, Peter grabs a champagne glass and splashes it onto the old painting on the floor. PETER A cripple who can't even walk, and you really think you're the he</a:t>
            </a:r>
          </a:p>
          <a:p>
            <a:r>
              <a:t>E30 | INT. WHITMORE ESTATE - BANQUET HALL - NIGHT | PDF [64] | istance, Bryce sees the remote in Gloria's hand. He gently swirls his champagne glass, unhurried. GLORIA All done? 64. PETER What, feeling sorry for him? GLORIA (smiling) No. I just wanted to make sure—all thr</a:t>
            </a:r>
          </a:p>
          <a:p/>
          <a:p>
            <a:r>
              <a:t>A103 Champagne tower</a:t>
            </a:r>
          </a:p>
          <a:p>
            <a:r>
              <a:t>E27 | INT. WHITMORE ESTATE - BANQUET HALL - CHAMPAGNE TOWER - NIGHT | PDF [59, 60] | Gloria wheels Bryce up to a champagne tower. GLORIA (quietly) I'll get you something to eat. Wait for me here. BRYCE Okay. The corner of Gloria's mouth curves. Her fingertip</a:t>
            </a:r>
          </a:p>
          <a:p/>
          <a:p>
            <a:r>
              <a:t>A104 Flat painting gift box</a:t>
            </a:r>
          </a:p>
          <a:p>
            <a:r>
              <a:t>E28 | INT. WHITMORE ESTATE - BANQUET HALL - CHAMPAGNE TOWER - NIGHT | PDF [60] |  young shareholders walk up to Bryce, champagne in hand. Peter sets a flat gift box down on Bryce's lap and opens it himself. CLOSE ON: An old painting inside the box. A black forest crowds the canvas, a streak of</a:t>
            </a:r>
          </a:p>
          <a:p/>
          <a:p>
            <a:r>
              <a:t>A105 Old black-forest painting</a:t>
            </a:r>
          </a:p>
          <a:p>
            <a:r>
              <a:t>E28 | INT. WHITMORE ESTATE - BANQUET HALL - CHAMPAGNE TOWER - NIGHT | PDF [60] |  flat gift box down on Bryce's lap and opens it himself. CLOSE ON: An old painting inside the box. A black forest crowds the canvas, a streak of red paint slashing across it. Bryce looks at the painting, his expr</a:t>
            </a:r>
          </a:p>
          <a:p>
            <a:r>
              <a:t>E29 | INT. WHITMORE ESTATE - BANQUET HALL - CHAMPAGNE TOWER - NIGHT | PDF [63] | d by his calm, Peter grabs a champagne glass and splashes it onto the old painting on the floor. PETER A cripple who can't even walk, and you really think you're the heir? LEON Even if you hang on to your shares,</a:t>
            </a:r>
          </a:p>
          <a:p>
            <a:r>
              <a:t>E31 | INT. WHITMORE ESTATE - BANQUET HALL - NIGHT | PDF [66, 67] | he three freeze. Peter clenches his jaw and bends down to pick up the old painting. Leon and the other one crouch to clean up the broken glass and cake. Peter holds the painting out to Bryce with both hands. Bryc</a:t>
            </a:r>
          </a:p>
          <a:p/>
          <a:p>
            <a:r>
              <a:t>A106 Partnership suspended email</a:t>
            </a:r>
          </a:p>
          <a:p>
            <a:r>
              <a:t>E28 | INT. WHITMORE ESTATE - BANQUET HALL - CHAMPAGNE TOWER - NIGHT | PDF [61] | . His face changes instantly. INSERT — PHONE SCREEN: "Whitmore Group: Partnership suspended. Financial audit begins immediately." Bryce looks up at the three of them. BRYCE I'm informing you. </a:t>
            </a:r>
          </a:p>
          <a:p/>
          <a:p>
            <a:r>
              <a:t>A107 Birthday backdrop</a:t>
            </a:r>
          </a:p>
          <a:p>
            <a:r>
              <a:t>E29 | INT. WHITMORE ESTATE - BANQUET HALL - CHAMPAGNE TOWER - NIGHT | PDF [64] | as, he'll have to get the hell out of Whitmore. Gloria glances at the birthday backdrop and the party cannons not far away, and suddenly smiles. GLORIA The lighting's bad here. Go stand in front of the backdrop, it'll</a:t>
            </a:r>
          </a:p>
          <a:p>
            <a:r>
              <a:t>E30 | INT. WHITMORE ESTATE - BANQUET HALL - NIGHT | PDF [64] | Peter and the other two stand in front of the birthday backdrop. Gloria raises Peter's phone, framing them together with Bryce in the distance. PETER Make it nice and clear. GLORIA Don't worry.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A108 Party cannons / remote</a:t>
            </a:r>
          </a:p>
          <a:p>
            <a:r>
              <a:t>E30 | INT. WHITMORE ESTATE - BANQUET HALL - NIGHT | PDF [64, 65] | . She taps record. Her other hand slips behind her back and grips the party-cannon remote. PETER (to the camera) Here's hoping Young Master Bryce learns to accept reality soon. LEON And here's hoping he remembers</a:t>
            </a:r>
          </a:p>
          <a:p/>
          <a:p>
            <a:r>
              <a:t>A109 Confetti / fake snow / red glitter</a:t>
            </a:r>
          </a:p>
          <a:p>
            <a:r>
              <a:t>E30 | INT. WHITMORE ESTATE - BANQUET HALL - NIGHT | PDF [65] | ses the remote. BANG! BANG! BANG! Three party cannons go off at once. Confetti, fake snow, and red glitter blast all over the three of them. Peter stumbles back to dodge it and knocks over the cake table. A c</a:t>
            </a:r>
          </a:p>
          <a:p/>
          <a:p>
            <a:r>
              <a:t>A110 Cream cake</a:t>
            </a:r>
          </a:p>
          <a:p>
            <a:r>
              <a:t>E30 | INT. WHITMORE ESTATE - BANQUET HALL - NIGHT | PDF [65] | em. Peter stumbles back to dodge it and knocks over the cake table. A cream cake slides off and lands right on the three of them. The room erupts in laughter. PETER (losing it) Bitch! You did that on purpose! G</a:t>
            </a:r>
          </a:p>
          <a:p/>
          <a:p>
            <a:r>
              <a:t>A111 Cake table</a:t>
            </a:r>
          </a:p>
          <a:p>
            <a:r>
              <a:t>E30 | INT. WHITMORE ESTATE - BANQUET HALL - NIGHT | PDF [65] | he three of them. Peter stumbles back to dodge it and knocks over the cake table. A cream cake slides off and lands right on the three of them. The room erupts in laughter. PETER (losing it) Bitch! You did that</a:t>
            </a:r>
          </a:p>
          <a:p/>
          <a:p>
            <a:r>
              <a:t>A112 Phone video / TikTok UI</a:t>
            </a:r>
          </a:p>
          <a:p>
            <a:r>
              <a:t>E30 | INT. WHITMORE ESTATE - BANQUET HALL - NIGHT | PDF [65] | inger hovers over the post button. GLORIA It could also show up on my TikTok. Don't worry, I make great memes. </a:t>
            </a:r>
          </a:p>
          <a:p/>
          <a:p>
            <a:r>
              <a:t>A121 Snow / wheel tracks</a:t>
            </a:r>
          </a:p>
          <a:p>
            <a:r>
              <a:t>E30 | INT. WHITMORE ESTATE - BANQUET HALL - NIGHT | PDF [65] |  BANG! BANG! BANG! Three party cannons go off at once. Confetti, fake snow, and red glitter blast all over the three of them. Peter stumbles back to dodge it and knocks over the cake table. A cream cake 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A139 Northbridge purchase records</a:t>
            </a:r>
          </a:p>
          <a:p>
            <a:r>
              <a:t>E52 | INT. WHITMORE ESTATE - BANQUET HALL - CHRISTMAS EVE - NIGHT - CONTINUOUS | PDF [100] | ile you two put on a show. Gloria takes a sealed bag of pills and the purchase records from her purse. GLORIA What about this? She sets the pills down next to the agreement. GLORIA The meds Bryce took for three years</a:t>
            </a:r>
          </a:p>
          <a:p/>
          <a:p>
            <a:r>
              <a:t>A143 Voting resolution / results</a:t>
            </a:r>
          </a:p>
          <a:p>
            <a:r>
              <a:t>E51 | INT. WHITMORE ESTATE - BANQUET HALL - CHRISTMAS EVE - NIGHT | PDF [99] | hitmore? A few board members murmur in agreement. Adrian picks up the voting resolution. ADRIAN Let's begin the final vote. BANG— The banquet hall doors are flung open. Gloria, in a black evening gown, walks in carryi</a:t>
            </a:r>
          </a:p>
          <a:p>
            <a:r>
              <a:t>E54 | INT. WHITMORE ESTATE - BANQUET HALL - CHRISTMAS EVE - NIGHT - CONTINUOUS | PDF [103] | Harris looks at Adrian in a panic. ADRIAN Enough! Adrian picks up the vote results and holds them high. ADRIAN The final vote has passed. As of now, all of Bryce's shares and voting rights belong to me. Scattered</a:t>
            </a:r>
          </a:p>
          <a:p/>
          <a:p>
            <a:r>
              <a:t>A144 Folder / banquet evidence pack</a:t>
            </a:r>
          </a:p>
          <a:p>
            <a:r>
              <a:t>E51 | INT. WHITMORE ESTATE - BANQUET HALL - CHRISTMAS EVE - NIGHT | PDF [99] |  are flung open. Gloria, in a black evening gown, walks in carrying a folder. Claire follows close behind. Bryce sees Gloria. His eyes flash with a jolt, then quickly settle back to calm. VIVIAN Who let you</a:t>
            </a:r>
          </a:p>
          <a:p/>
          <a:p>
            <a:r>
              <a:t>A145 Banquet display / frozen security footage</a:t>
            </a:r>
          </a:p>
          <a:p>
            <a:r>
              <a:t>E52 | INT. WHITMORE ESTATE - BANQUET HALL - CHRISTMAS EVE - NIGHT - CONTINUOUS | PDF [101] | s were stolen by you long ago. Vivian raises a hand. The banquet hall screen lights up. </a:t>
            </a:r>
          </a:p>
          <a:p/>
          <a:p>
            <a:r>
              <a:t>A146 Personal seal</a:t>
            </a:r>
          </a:p>
          <a:p>
            <a:r>
              <a:t>E55 | INT. WHITMORE ESTATE - BANQUET HALL - CHRISTMAS EVE - NIGHT - CONTINUOUS | PDF [104, 105] | n stand? The board's already voted you out! BRYCE You couldn't get my personal seal, so you tried another way. Bryce picks up the share transfer agreement from the table. 104. BRYCE Have Harris certify I was perma</a:t>
            </a:r>
          </a:p>
          <a:p/>
          <a:p>
            <a:r>
              <a:t>A147 Accounts frozen phone screen</a:t>
            </a:r>
          </a:p>
          <a:p>
            <a:r>
              <a:t>E55 | INT. WHITMORE ESTATE - BANQUET HALL - CHRISTMAS EVE - NIGHT - CONTINUOUS | PDF [105] | pull out their phones at the same time. INSERT — PHONE SCREEN: "Group accounts frozen." Adrian's face changes completely. BRYCE I waited for you to finish the vote just to see who else was on your side. 105. Bryce 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A148 Adrian nameplate</a:t>
            </a:r>
          </a:p>
          <a:p>
            <a:r>
              <a:t>E55 | INT. WHITMORE ESTATE - BANQUET HALL - CHRISTMAS EVE - NIGHT - CONTINUOUS | PDF [106] | very one of your names. He walks to the head seat and sweeps Adrian's nameplate off the table. BRYCE Now it's my turn to clean house at Whitmore. </a:t>
            </a:r>
          </a:p>
          <a:p/>
          <a:p>
            <a:r>
              <a:t>A149 Handcuffs</a:t>
            </a:r>
          </a:p>
          <a:p>
            <a:r>
              <a:t>E57 | INT. WHITMORE ESTATE - BANQUET HALL - CHRISTMAS EVE - NIGHT - CONTINUOUS | PDF [108] | ee to leave with them. No one dares move. The police step forward and handcuff Adrian, Vivian, and Dr. Harris. Adrian is marched in front of Bryce, still glaring at him, unwilling to accept it. ADRIAN You fak</a:t>
            </a:r>
          </a:p>
          <a:p/>
          <a:p>
            <a:r>
              <a:t>A150 Banquet chair / headband landing</a:t>
            </a:r>
          </a:p>
          <a:p>
            <a:r>
              <a:t>E57 | INT. WHITMORE ESTATE - BANQUET HALL - CHRISTMAS EVE - NIGHT - CONTINUOUS | PDF [109] | oria takes off her reindeer-antler headband and gently sets it on the back of a chair. GLORIA It's time I went and lived mine. She turns and walks out of the banquet hall alone. Bryce pushes through the people crowd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S047 | E27 | PDF 59 | INT. WHITMORE ESTATE - BANQUET HALL - CHAMPAGNE TOWER - NIGHT</a:t>
            </a:r>
          </a:p>
          <a:p>
            <a:r>
              <a:t>S048 | E28 | PDF 60 | INT. WHITMORE ESTATE - BANQUET HALL - CHAMPAGNE TOWER - NIGHT</a:t>
            </a:r>
          </a:p>
          <a:p>
            <a:r>
              <a:t>S049 | E29 | PDF 61 | INT. WHITMORE ESTATE - BANQUET HALL - CHAMPAGNE TOWER - NIGHT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E28 | INT. WHITMORE ESTATE - BANQUET HALL - CHAMPAGNE TOWER - NIGHT | PDF [61] |  in his wheelchair, his gaze calm. BRYCE I'm not trying to scare you. Phone ALERTS chime one after another. All three of their phones buzz at the same time. Peter looks down and opens the email. His face c</a:t>
            </a:r>
          </a:p>
          <a:p>
            <a:r>
              <a:t>E29 | INT. WHITMORE ESTATE - BANQUET HALL - CHAMPAGNE TOWER - NIGHT | PDF [61, 62, 63, 64] |  How else would everyone see whose side you're on? Peter clutches his phone, then suddenly sneers. PETER You think killing three contracts means you've won? He leans in close to Bryce and lowers his voice.</a:t>
            </a:r>
          </a:p>
          <a:p/>
          <a:p>
            <a:r>
              <a:t>A008 Wheelchair</a:t>
            </a:r>
          </a:p>
          <a:p>
            <a:r>
              <a:t>E28 | INT. WHITMORE ESTATE - BANQUET HALL - CHAMPAGNE TOWER - NIGHT | PDF [61] | meeting, and you think you can scare anybody? Bryce leans back in his wheelchair, his gaze calm. BRYCE I'm not trying to scare you. Phone ALERTS chime one after another. All three of their phones buzz at the sa</a:t>
            </a:r>
          </a:p>
          <a:p>
            <a:r>
              <a:t>E29 | INT. WHITMORE ESTATE - BANQUET HALL - CHAMPAGNE TOWER - NIGHT | PDF [61, 63, 64] | ou'll be thrown out of Whitmore for good. 62. Bryce leans back in his wheelchair, not a flicker of change on his face. BRYCE Then let's wait for Christmas. Enraged by his calm, Peter grabs a champagne glass and</a:t>
            </a:r>
          </a:p>
          <a:p/>
          <a:p>
            <a:r>
              <a:t>A102 Champagne / wine / glasses</a:t>
            </a:r>
          </a:p>
          <a:p>
            <a:r>
              <a:t>E27 | INT. WHITMORE ESTATE - BANQUET HALL - CHAMPAGNE TOWER - NIGHT | PDF [59, 60] | Gloria wheels Bryce up to a champagne tower. GLORIA (quietly) I'll get you something to eat. Wait for me here. BRYCE Okay. The corner of Gloria's mouth curves. Her fin</a:t>
            </a:r>
          </a:p>
          <a:p>
            <a:r>
              <a:t>E28 | INT. WHITMORE ESTATE - BANQUET HALL - CHAMPAGNE TOWER - NIGHT | PDF [60, 61] | ppears into the crowd. The three young shareholders walk up to Bryce, champagne in hand. Peter sets a flat gift box down on Bryce's lap and opens it himself. CLOSE ON: An old painting inside the box. A black f</a:t>
            </a:r>
          </a:p>
          <a:p>
            <a:r>
              <a:t>E29 | INT. WHITMORE ESTATE - BANQUET HALL - CHAMPAGNE TOWER - NIGHT | PDF [61, 63, 64] | YCE Then let's wait for Christmas. Enraged by his calm, Peter grabs a champagne glass and splashes it onto the old painting on the floor. PETER A cripple who can't even walk, and you really think you're the he</a:t>
            </a:r>
          </a:p>
          <a:p/>
          <a:p>
            <a:r>
              <a:t>A103 Champagne tower</a:t>
            </a:r>
          </a:p>
          <a:p>
            <a:r>
              <a:t>E27 | INT. WHITMORE ESTATE - BANQUET HALL - CHAMPAGNE TOWER - NIGHT | PDF [59, 60] | Gloria wheels Bryce up to a champagne tower. GLORIA (quietly) I'll get you something to eat. Wait for me here. BRYCE Okay. The corner of Gloria's mouth curves. Her fingertip</a:t>
            </a:r>
          </a:p>
          <a:p/>
          <a:p>
            <a:r>
              <a:t>A104 Flat painting gift box</a:t>
            </a:r>
          </a:p>
          <a:p>
            <a:r>
              <a:t>E28 | INT. WHITMORE ESTATE - BANQUET HALL - CHAMPAGNE TOWER - NIGHT | PDF [60] |  young shareholders walk up to Bryce, champagne in hand. Peter sets a flat gift box down on Bryce's lap and opens it himself. CLOSE ON: An old painting inside the box. A black forest crowds the canvas, a streak of</a:t>
            </a:r>
          </a:p>
          <a:p/>
          <a:p>
            <a:r>
              <a:t>A105 Old black-forest painting</a:t>
            </a:r>
          </a:p>
          <a:p>
            <a:r>
              <a:t>E28 | INT. WHITMORE ESTATE - BANQUET HALL - CHAMPAGNE TOWER - NIGHT | PDF [60] |  flat gift box down on Bryce's lap and opens it himself. CLOSE ON: An old painting inside the box. A black forest crowds the canvas, a streak of red paint slashing across it. Bryce looks at the painting, his expr</a:t>
            </a:r>
          </a:p>
          <a:p>
            <a:r>
              <a:t>E29 | INT. WHITMORE ESTATE - BANQUET HALL - CHAMPAGNE TOWER - NIGHT | PDF [63] | d by his calm, Peter grabs a champagne glass and splashes it onto the old painting on the floor. PETER A cripple who can't even walk, and you really think you're the heir? LEON Even if you hang on to your shares,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A106 Partnership suspended email</a:t>
            </a:r>
          </a:p>
          <a:p>
            <a:r>
              <a:t>E28 | INT. WHITMORE ESTATE - BANQUET HALL - CHAMPAGNE TOWER - NIGHT | PDF [61] | . His face changes instantly. INSERT — PHONE SCREEN: "Whitmore Group: Partnership suspended. Financial audit begins immediately." Bryce looks up at the three of them. BRYCE I'm informing you. </a:t>
            </a:r>
          </a:p>
          <a:p/>
          <a:p>
            <a:r>
              <a:t>A107 Birthday backdrop</a:t>
            </a:r>
          </a:p>
          <a:p>
            <a:r>
              <a:t>E29 | INT. WHITMORE ESTATE - BANQUET HALL - CHAMPAGNE TOWER - NIGHT | PDF [64] | as, he'll have to get the hell out of Whitmore. Gloria glances at the birthday backdrop and the party cannons not far away, and suddenly smiles. GLORIA The lighting's bad here. Go stand in front of the backdrop, it'll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S052 | E32 | PDF 67 | INT. WHITMORE ESTATE - PAINTING STUDIO - LATE NIGHT</a:t>
            </a:r>
          </a:p>
          <a:p>
            <a:r>
              <a:t>S053 | E33 | PDF 69 | INT. WHITMORE ESTATE - PAINTING STUDIO - LATE NIGHT</a:t>
            </a:r>
          </a:p>
          <a:p>
            <a:r>
              <a:t>S054 | E34 | PDF 70 | INT. WHITMORE ESTATE - PAINTING STUDIO - LATE NIGHT</a:t>
            </a:r>
          </a:p>
          <a:p>
            <a:r>
              <a:t>S056 | E34 | PDF 71 | INT. WHITMORE ESTATE - PAINTING STUDIO - LATE NIGHT (FLASHBACK)</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E34 | INT. WHITMORE ESTATE - PAINTING STUDIO - LATE NIGHT (FLASHBACK) | PDF [71, 72] | d ahead. It doesn't prove the accident was them. Gloria takes out her phone and pulls up Vivian's number. GLORIA Then we get someone who knows to admit it herself. Bryce looks at her. BRYCE Vivian won't ta</a:t>
            </a:r>
          </a:p>
          <a:p/>
          <a:p>
            <a:r>
              <a:t>A008 Wheelchair</a:t>
            </a:r>
          </a:p>
          <a:p>
            <a:r>
              <a:t>E32 | INT. WHITMORE ESTATE - PAINTING STUDIO - LATE NIGHT | PDF [68] | people I like. They look at each other. Gloria braces one hand on the wheelchair armrest and leans down to kiss him. Bryce pauses for half a second, then raises a hand to her waist, pulls her close, and deepens</a:t>
            </a:r>
          </a:p>
          <a:p/>
          <a:p>
            <a:r>
              <a:t>A029 Share transfer agreement / supplemental page</a:t>
            </a:r>
          </a:p>
          <a:p>
            <a:r>
              <a:t>E33 | INT. WHITMORE ESTATE - PAINTING STUDIO - LATE NIGHT | PDF [69, 70] | es it onto Bryce's lap. CLOSE ON: The "Whitmore Group Equity Transfer Agreement" Bryce signed before, with a supplemental confirmation page tucked underneath. ADRIAN You signed it so readily last time. Too bad</a:t>
            </a:r>
          </a:p>
          <a:p>
            <a:r>
              <a:t>E34 | INT. WHITMORE ESTATE - PAINTING STUDIO - LATE NIGHT (FLASHBACK) | PDF [71, 72] | SUPER: "FIVE MINUTES EARLIER" Bryce opens the agreement and presses his finger on the drafting date. GLORIA This original proves they were ready to take over your shares the day of the </a:t>
            </a:r>
          </a:p>
          <a:p/>
          <a:p>
            <a:r>
              <a:t>A105 Old black-forest painting</a:t>
            </a:r>
          </a:p>
          <a:p>
            <a:r>
              <a:t>E32 | INT. WHITMORE ESTATE - PAINTING STUDIO - LATE NIGHT | PDF [67, 68, 69] | Gloria clamps the old painting onto an easel, rolls up her sleeves, and mixes her paints. Bryce sits off to the side, watching her. BRYCE Don't waste your time.</a:t>
            </a:r>
          </a:p>
          <a:p>
            <a:r>
              <a:t>E33 | INT. WHITMORE ESTATE - PAINTING STUDIO - LATE NIGHT | PDF [69] | Adrian walks into the studio, his eyes sweeping over the freshly restored painting. ADRIAN Don't stop on my account. Let me see how the future heir of Whitmore falls in true love with a therapist who bills by the</a:t>
            </a:r>
          </a:p>
          <a:p/>
          <a:p>
            <a:r>
              <a:t>A113 Easel / clamp</a:t>
            </a:r>
          </a:p>
          <a:p>
            <a:r>
              <a:t>E32 | INT. WHITMORE ESTATE - PAINTING STUDIO - LATE NIGHT | PDF [67] | Gloria clamps the old painting onto an easel, rolls up her sleeves, and mixes her paints. Bryce sits off to the side, watching her. BRYCE Don't waste your time. GLORIA Shut u</a:t>
            </a:r>
          </a:p>
          <a:p/>
          <a:p>
            <a:r>
              <a:t>A114 Paint / silvery-white repair / star</a:t>
            </a:r>
          </a:p>
          <a:p>
            <a:r>
              <a:t>E32 | INT. WHITMORE ESTATE - PAINTING STUDIO - LATE NIGHT | PDF [67] | s the old painting onto an easel, rolls up her sleeves, and mixes her paints. Bryce sits off to the side, watching her. BRYCE Don't waste your time. GLORIA Shut up. I'm the one who picked up this painting. </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S055 | E34 | PDF 71 | INT. WHITMORE ESTATE - STUDIO CORRIDOR - CONTINUOUS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S058 | E35 | PDF 72 | EXT./INT. ROAD OUTSIDE ESTATE / VIVIAN'S SEDAN - NIGHT</a:t>
            </a:r>
          </a:p>
          <a:p>
            <a:r>
              <a:t>S059 | E36 | PDF 73 | INT./EXT. VIVIAN'S SEDAN - NIGHT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E35 | EXT./INT. ROAD OUTSIDE ESTATE / VIVIAN'S SEDAN - NIGHT | PDF [72] | shadows outside the estate. Gloria stands beside the car and taps her phone. INSERT — PHONE SCREEN: Sent to Bryce: [Live Location Sharing]. She puts her phone away. The tension on her face instantly turns </a:t>
            </a:r>
          </a:p>
          <a:p/>
          <a:p>
            <a:r>
              <a:t>A011 Checks — dismissal / bribe</a:t>
            </a:r>
          </a:p>
          <a:p>
            <a:r>
              <a:t>E35 | EXT./INT. ROAD OUTSIDE ESTATE / VIVIAN'S SEDAN - NIGHT | PDF [72] | LORIA Miss Vivian, what did you want to see me about? Vivian slides a check across to her. VIVIAN I'll pay off all your student loans and give you another million dollars. Enough to leave New York and go a</a:t>
            </a:r>
          </a:p>
          <a:p/>
          <a:p>
            <a:r>
              <a:t>A029 Share transfer agreement / supplemental page</a:t>
            </a:r>
          </a:p>
          <a:p>
            <a:r>
              <a:t>E35 | EXT./INT. ROAD OUTSIDE ESTATE / VIVIAN'S SEDAN - NIGHT | PDF [72] | e catch? VIVIAN Get Bryce's personal seal and stamp the equity waiver agreement for him. Gloria goes pale and quickly pushes the check back. 72. GLORIA Forging a seal, transferring shares without authorization</a:t>
            </a:r>
          </a:p>
          <a:p/>
          <a:p>
            <a:r>
              <a:t>A086 Black sedan / headlight units</a:t>
            </a:r>
          </a:p>
          <a:p>
            <a:r>
              <a:t>E35 | EXT./INT. ROAD OUTSIDE ESTATE / VIVIAN'S SEDAN - NIGHT | PDF [72] | The night is heavy. A black sedan is parked in the shadows outside the estate. Gloria stands beside the car and taps her phone. INSERT — PHONE SCREEN: Sent to Bryc</a:t>
            </a:r>
          </a:p>
          <a:p/>
          <a:p>
            <a:r>
              <a:t>A115 Live location sharing screen</a:t>
            </a:r>
          </a:p>
          <a:p>
            <a:r>
              <a:t>E35 | EXT./INT. ROAD OUTSIDE ESTATE / VIVIAN'S SEDAN - NIGHT | PDF [72] | de the car and taps her phone. INSERT — PHONE SCREEN: Sent to Bryce: [Live Location Sharing]. She puts her phone away. The tension on her face instantly turns to panic as she opens the door and slides into the bac</a:t>
            </a:r>
          </a:p>
          <a:p/>
          <a:p>
            <a:r>
              <a:t>A116 Vivian sedan / locking doors</a:t>
            </a:r>
          </a:p>
          <a:p>
            <a:r>
              <a:t>E35 | EXT./INT. ROAD OUTSIDE ESTATE / VIVIAN'S SEDAN - NIGHT | PDF [72, 73] | The night is heavy. A black sedan is parked in the shadows outside the estate. Gloria stands beside the car and taps her phone. INSERT — PHONE SCREEN: Sent to Bryc</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S060 | E36 | PDF 74 | EXT. SNOWY ROAD - NIGHT</a:t>
            </a:r>
          </a:p>
          <a:p>
            <a:r>
              <a:t>S061 | E37 | PDF 76 | EXT. SNOWY ROAD - NIGHT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A086 Black sedan / headlight units</a:t>
            </a:r>
          </a:p>
          <a:p>
            <a:r>
              <a:t>E36 | EXT. SNOWY ROAD - NIGHT | PDF [75] | hard she pushes, it won't release. Outside the windows, the two cars' headlights close in fast through the swirling snow. A collision is imminent. Gloria yanks desperately at her seatbelt. Vivian's face is twis</a:t>
            </a:r>
          </a:p>
          <a:p>
            <a:r>
              <a:t>E37 | EXT. SNOWY ROAD - NIGHT | PDF [77] | sn't answer. His chest heaves as he stares at Gloria. In the blinding headlights, the man slowly raises a hand and pulls off the black mask, cold sweat soaking his hair—it's Bryce! Gloria is completely frozen. </a:t>
            </a:r>
          </a:p>
          <a:p/>
          <a:p>
            <a:r>
              <a:t>A087 Bodyguard / Bryce firearms</a:t>
            </a:r>
          </a:p>
          <a:p>
            <a:r>
              <a:t>E37 | EXT. SNOWY ROAD - NIGHT | PDF [76] | ask and a cap pulled low, steps out of the SUV gripping a heavy black gun, the muzzle aimed straight at the sedan's windshield. CLICK — a round is chambered. The driver, scared out of his wits, shoves hi</a:t>
            </a:r>
          </a:p>
          <a:p/>
          <a:p>
            <a:r>
              <a:t>A116 Vivian sedan / locking doors</a:t>
            </a:r>
          </a:p>
          <a:p>
            <a:r>
              <a:t>E37 | EXT. SNOWY ROAD - NIGHT | PDF [76] | art. Faced with an SUV that shows no fear and won't give an inch, the sedan driver's nerve completely collapses, and he instinctively slams on the brakes! BRAKES SHRIEK. The sedan's tires skid wildly acros</a:t>
            </a:r>
          </a:p>
          <a:p/>
          <a:p>
            <a:r>
              <a:t>A117 Black SUV / collision damage</a:t>
            </a:r>
          </a:p>
          <a:p>
            <a:r>
              <a:t>E36 | EXT. SNOWY ROAD - NIGHT | PDF [74, 75, 76] | A black SUV tears down the snow-covered road. Inside, the man in the driver's seat wears a black baseball cap pulled low and a solid black ma</a:t>
            </a:r>
          </a:p>
          <a:p>
            <a:r>
              <a:t>E37 | EXT. SNOWY ROAD - NIGHT | PDF [76] | The two cars are only yards apart. Faced with an SUV that shows no fear and won't give an inch, the sedan driver's nerve completely collapses, and he instinctively slams on the brake</a:t>
            </a:r>
          </a:p>
          <a:p/>
          <a:p>
            <a:r>
              <a:t>A118 Black cap / mask disguise</a:t>
            </a:r>
          </a:p>
          <a:p>
            <a:r>
              <a:t>E36 | EXT. SNOWY ROAD - NIGHT | PDF [74, 76] | snow-covered road. Inside, the man in the driver's seat wears a black baseball cap pulled low and a solid black mask, only a pair of cold, piercing eyes showing—it's Bryce. The engine lets out a piercing roar. Br</a:t>
            </a:r>
          </a:p>
          <a:p>
            <a:r>
              <a:t>E37 | EXT. SNOWY ROAD - NIGHT | PDF [76, 77] | terror, her face ashen. The SUV door opens. SLOW MOTION — Bryce, in a black mask and a cap pulled low, steps out of the SUV gripping a heavy black gun, the muzzle aimed straight at the sedan's windshield. CLICK</a:t>
            </a:r>
          </a:p>
          <a:p/>
          <a:p>
            <a:r>
              <a:t>A119 Jammed / tearable seatbelt</a:t>
            </a:r>
          </a:p>
          <a:p>
            <a:r>
              <a:t>E36 | EXT. SNOWY ROAD - NIGHT | PDF [75, 76] | for her seatbelt buckle. CLOSE ON: The metal latch of the seatbelt is jammed tight in its slot. No matter how hard she pushes, it won't release. Outside the windows, the two cars' headlights close in fast t</a:t>
            </a:r>
          </a:p>
          <a:p>
            <a:r>
              <a:t>E37 | EXT. SNOWY ROAD - NIGHT | PDF [76] | d yanks the door open. Bryce leans in toward Gloria, rips through the jammed seatbelt in one pull, and lifts the shaken Gloria out of the car. Bryce carries Gloria forward. Thinking he's a bodyguard, Gloria</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A120 Breakaway rear window</a:t>
            </a:r>
          </a:p>
          <a:p>
            <a:r>
              <a:t>E37 | EXT. SNOWY ROAD - NIGHT | PDF [76] | wo fleeing. He strides straight to the sedan's rear door, smashes the rear window with the butt of the gun, reaches in to pull the lock, and yanks the door open. Bryce leans in toward Gloria, rips through the ja</a:t>
            </a:r>
          </a:p>
          <a:p/>
          <a:p>
            <a:r>
              <a:t>A121 Snow / wheel tracks</a:t>
            </a:r>
          </a:p>
          <a:p>
            <a:r>
              <a:t>E36 | EXT. SNOWY ROAD - NIGHT | PDF [74, 75, 76] | A black SUV tears down the snow-covered road. Inside, the man in the driver's seat wears a black baseball cap pulled low and a solid black mask, only a pair of c</a:t>
            </a:r>
          </a:p>
          <a:p>
            <a:r>
              <a:t>E37 | EXT. SNOWY ROAD - NIGHT | PDF [76] | n the brakes! BRAKES SHRIEK. The sedan's tires skid wildly across the snow and it barely comes to a stop. Inside the SUV, Bryce's eyes turn ruthless. He throws it into gear and floors the gas! CRASH! The </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S072 | E43 | PDF 88 | INT. GLORIA'S APARTMENT - AFTERNOON</a:t>
            </a:r>
          </a:p>
          <a:p>
            <a:r>
              <a:t>S077 | E46 | PDF 93 | INT. GLORIA'S APARTMENT - NIGHT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E43 | INT. GLORIA'S APARTMENT - AFTERNOON | PDF [88, 89] | n the bed. Gloria stuffs clothes into it one by one. She picks up her phone. The screen is on a photo of her and Bryce by the Christmas tree. 88. Gloria stares at it for two seconds, her finger hovering ov</a:t>
            </a:r>
          </a:p>
          <a:p>
            <a:r>
              <a:t>E46 | INT. GLORIA'S APARTMENT - NIGHT | PDF [93] | Gloria sits on the edge of the bed. The tears finally fall. Her phone VIBRATES. She wipes her tears and opens a message from her MENTOR. INSERT — PHONE SCREEN: Text from MENTOR: "I traced the batch n</a:t>
            </a:r>
          </a:p>
          <a:p/>
          <a:p>
            <a:r>
              <a:t>A067 Bed / headboard / mattress</a:t>
            </a:r>
          </a:p>
          <a:p>
            <a:r>
              <a:t>E43 | INT. GLORIA'S APARTMENT - AFTERNOON | PDF [88] | A suitcase lies open on the bed. Gloria stuffs clothes into it one by one. She picks up her phone. The screen is on a photo of her and Bryce by the Christmas tre</a:t>
            </a:r>
          </a:p>
          <a:p>
            <a:r>
              <a:t>E46 | INT. GLORIA'S APARTMENT - NIGHT | PDF [93] | Gloria sits on the edge of the bed. The tears finally fall. Her phone VIBRATES. She wipes her tears and opens a message from her MENTOR. INSERT — PHONE SCREEN: Text</a:t>
            </a:r>
          </a:p>
          <a:p/>
          <a:p>
            <a:r>
              <a:t>A132 Suitcase</a:t>
            </a:r>
          </a:p>
          <a:p>
            <a:r>
              <a:t>E43 | INT. GLORIA'S APARTMENT - AFTERNOON | PDF [88, 89] | A suitcase lies open on the bed. Gloria stuffs clothes into it one by one. She picks up her phone. The screen is on a photo of her and Bryce</a:t>
            </a:r>
          </a:p>
          <a:p/>
          <a:p>
            <a:r>
              <a:t>A133 Christmas tree couple photo</a:t>
            </a:r>
          </a:p>
          <a:p>
            <a:r>
              <a:t>E43 | INT. GLORIA'S APARTMENT - AFTERNOON | PDF [88] | lothes into it one by one. She picks up her phone. The screen is on a photo of her and Bryce by the Christmas tree. 88. Gloria stares at it for two seconds, her finger hovering over the delete button. DING— Vivian sends a </a:t>
            </a:r>
          </a:p>
          <a:p/>
          <a:p>
            <a:r>
              <a:t>A134 Bridal photo / invitation address</a:t>
            </a:r>
          </a:p>
          <a:p>
            <a:r>
              <a:t>E43 | INT. GLORIA'S APARTMENT - AFTERNOON | PDF [89] | it for two seconds, her finger hovering over the delete button. DING— Vivian sends a photo. INSERT — PHONE SCREEN: Claire, in a wedding gown, standing inside an upscale bridal boutique. VIVIAN (V.O.) (text message) Still</a:t>
            </a:r>
          </a:p>
          <a:p/>
          <a:p>
            <a:r>
              <a:t>A139 Northbridge purchase records</a:t>
            </a:r>
          </a:p>
          <a:p>
            <a:r>
              <a:t>E46 | INT. GLORIA'S APARTMENT - NIGHT | PDF [93] | any is Adrian Whitmore." Gloria stops dead. She opens the attachment. Purchase records show Northbridge Medical has supplied the same type of medication to the Whitmore estate for three years running. FLASHBACK: At 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S073 | E43 | PDF 89 | EXT./INT. BRIDAL BOUTIQUE - AFTERNOON</a:t>
            </a:r>
          </a:p>
          <a:p>
            <a:r>
              <a:t>S074 | E44 | PDF 90 | INT. BRIDAL BOUTIQUE - AFTERNOON - CONTINUOUS</a:t>
            </a:r>
          </a:p>
          <a:p>
            <a:r>
              <a:t>S075 | E45 | PDF 91 | INT. BRIDAL BOUTIQUE - AFTERNOON - CONTINUOUS</a:t>
            </a:r>
          </a:p>
          <a:p>
            <a:r>
              <a:t>S076 | E46 | PDF 92 | INT. BRIDAL BOUTIQUE - AFTERNOON - CONTINUOUS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A008 Wheelchair</a:t>
            </a:r>
          </a:p>
          <a:p>
            <a:r>
              <a:t>E43 | EXT./INT. BRIDAL BOUTIQUE - AFTERNOON | PDF [89, 90] | te wedding gown, stands before a mirror. Bryce sits beside her in his wheelchair, in a sharp suit. A SHOP CLERK holds a velvet tray with two engagement rings side by side. SHOP CLERK (smiling) Mr. Whitmore, ple</a:t>
            </a:r>
          </a:p>
          <a:p>
            <a:r>
              <a:t>E44 | INT. BRIDAL BOUTIQUE - AFTERNOON - CONTINUOUS | PDF [90] | You're really marrying her? Bryce's face is cold, but his hand on the wheelchair armrest slowly tightens. ADRIAN Isn't it obvious? My brother's getting engaged to Claire. GLORIA (staring at Bryce) I'm asking hi</a:t>
            </a:r>
          </a:p>
          <a:p>
            <a:r>
              <a:t>E46 | INT. BRIDAL BOUTIQUE - AFTERNOON - CONTINUOUS | PDF [93] | th each other. Gloria turns and leaves. Bryce instinctively rolls his wheelchair half a step after her. Adrian reaches out and holds the back of the wheelchair. ADRIAN (with a low laugh) Your fiancée's still wa</a:t>
            </a:r>
          </a:p>
          <a:p/>
          <a:p>
            <a:r>
              <a:t>A025 Window / blinds</a:t>
            </a:r>
          </a:p>
          <a:p>
            <a:r>
              <a:t>E43 | EXT./INT. BRIDAL BOUTIQUE - AFTERNOON | PDF [89] | Behind the glass window, Claire, in a white wedding gown, stands before a mirror. Bryce sits beside her in his wheelchair, in a sharp suit. A SHOP CLERK </a:t>
            </a:r>
          </a:p>
          <a:p/>
          <a:p>
            <a:r>
              <a:t>A102 Champagne / wine / glasses</a:t>
            </a:r>
          </a:p>
          <a:p>
            <a:r>
              <a:t>E44 | INT. BRIDAL BOUTIQUE - AFTERNOON - CONTINUOUS | PDF [90] | . Everyone in the shop turns at once. Vivian sits on the sofa sipping champagne. Adrian stands behind her, a smile at the corner of his lips. VIVIAN (feigning surprise) Gloria? Why haven't you crawled off yet?</a:t>
            </a:r>
          </a:p>
          <a:p/>
          <a:p>
            <a:r>
              <a:t>A135 Wedding gown</a:t>
            </a:r>
          </a:p>
          <a:p>
            <a:r>
              <a:t>E43 | EXT./INT. BRIDAL BOUTIQUE - AFTERNOON | PDF [89] | Behind the glass window, Claire, in a white wedding gown, stands before a mirror. Bryce sits beside her in his wheelchair, in a sharp suit. A SHOP CLERK holds a velvet tray with two enga</a:t>
            </a:r>
          </a:p>
          <a:p/>
          <a:p>
            <a:r>
              <a:t>A136 Bridal mirror / glass storefront</a:t>
            </a:r>
          </a:p>
          <a:p>
            <a:r>
              <a:t>E43 | EXT./INT. BRIDAL BOUTIQUE - AFTERNOON | PDF [89] | Behind the glass window, Claire, in a white wedding gown, stands before a mirror. Bryce sits beside her in his wheelchair, in a sharp suit. A SHOP CLERK </a:t>
            </a:r>
          </a:p>
          <a:p/>
          <a:p>
            <a:r>
              <a:t>A137 Velvet ring tray / two engagement rings</a:t>
            </a:r>
          </a:p>
          <a:p>
            <a:r>
              <a:t>E43 | EXT./INT. BRIDAL BOUTIQUE - AFTERNOON | PDF [89] | s beside her in his wheelchair, in a sharp suit. A SHOP CLERK holds a velvet tray with two engagement rings side by side. SHOP CLERK (smiling) Mr. Whitmore, please, try it on your fiancée. Bryce picks up a ring.</a:t>
            </a:r>
          </a:p>
          <a:p>
            <a:r>
              <a:t>E45 | INT. BRIDAL BOUTIQUE - AFTERNOON - CONTINUOUS | PDF [92] | She takes the estate key from her coat pocket and sets it next to the ring tray. GLORIA All I want is one honest answer. Tears roll down Gloria's face. GLORIA Look at me and tell me you never loved me. </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A138 Estate key</a:t>
            </a:r>
          </a:p>
          <a:p>
            <a:r>
              <a:t>E45 | INT. BRIDAL BOUTIQUE - AFTERNOON - CONTINUOUS | PDF [92] | . Gloria slowly stands. GLORIA I don't want your money. She takes the estate key from her coat pocket and sets it next to the ring tray. GLORIA All I want is one honest answer. Tears roll down Gloria's face. GL</a:t>
            </a:r>
          </a:p>
          <a:p>
            <a:r>
              <a:t>E46 | INT. BRIDAL BOUTIQUE - AFTERNOON - CONTINUOUS | PDF [92] | 's eyes goes out. She nods slightly. GLORIA Okay. Gloria picks up the estate key from beside the tray. 92. The next second, she presses the key into Bryce's palm and closes his fingers around it. GLORIA Thank 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S078 | E46 | PDF 94 | EXT. STREET OUTSIDE GLORIA'S APARTMENT - NIGHT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A140 Taxi</a:t>
            </a:r>
          </a:p>
          <a:p>
            <a:r>
              <a:t>E46 | EXT. STREET OUTSIDE GLORIA'S APARTMENT - NIGHT | PDF [94] | She rushes out of her building and hails a taxi. GLORIA The Whitmore estate. </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S082 | E50 | PDF 97 | INT. WHITMORE ESTATE - GUEST ROOM - CHRISTMAS EVE - NIGHT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A004 Phone / camera phone</a:t>
            </a:r>
          </a:p>
          <a:p>
            <a:r>
              <a:t>E50 | INT. WHITMORE ESTATE - GUEST ROOM - CHRISTMAS EVE - NIGHT | PDF [98] | hes the door open and comes in. MRS. MILLER Dr. Harris has arrived. A phone CHIMES. Claire looks down at her phone. CLAIRE Everything's ready. Gloria picks up the documents from the desk and heads for the </a:t>
            </a:r>
          </a:p>
          <a:p/>
          <a:p>
            <a:r>
              <a:t>A007 Desk</a:t>
            </a:r>
          </a:p>
          <a:p>
            <a:r>
              <a:t>E50 | INT. WHITMORE ESTATE - GUEST ROOM - CHRISTMAS EVE - NIGHT | PDF [98] | ne. CLAIRE Everything's ready. Gloria picks up the documents from the desk and heads for the door. GLORIA Let's go. Gloria pulls the door open. GLORIA Tonight, I help Bryce get everything back. (smiling b</a:t>
            </a:r>
          </a:p>
          <a:p/>
          <a:p>
            <a:r>
              <a:t>A067 Bed / headboard / mattress</a:t>
            </a:r>
          </a:p>
          <a:p>
            <a:r>
              <a:t>E50 | INT. WHITMORE ESTATE - GUEST ROOM - CHRISTMAS EVE - NIGHT | PDF [97] | EE DAYS LATER, CHRISTMAS EVE" A black evening gown is laid out on the bed. Gloria picks it up. Now in the gown, Gloria stands at the mirror, putting on her earrings. In the mirror, her eyes are still a l</a:t>
            </a:r>
          </a:p>
          <a:p/>
          <a:p>
            <a:r>
              <a:t>A141 Black evening gown / earrings / clutch</a:t>
            </a:r>
          </a:p>
          <a:p>
            <a:r>
              <a:t>E50 | INT. WHITMORE ESTATE - GUEST ROOM - CHRISTMAS EVE - NIGHT | PDF [97, 98] | SUPER: "THREE DAYS LATER, CHRISTMAS EVE" A black evening gown is laid out on the bed. Gloria picks it up. Now in the gown, Gloria stands at the mirror, putting on her earrings. In the mirror,</a:t>
            </a:r>
          </a:p>
          <a:p/>
          <a:p>
            <a:r>
              <a:t>A142 Guest room desk documents</a:t>
            </a:r>
          </a:p>
          <a:p>
            <a:r>
              <a:t>E50 | INT. WHITMORE ESTATE - GUEST ROOM - CHRISTMAS EVE - NIGHT | PDF [98] | oks down at her phone. CLAIRE Everything's ready. Gloria picks up the documents from the desk and heads for the door. GLORIA Let's go. Gloria pulls the door open. GLORIA Tonight, I help Bryce get everything back. (smiling b</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S092 | E58 | PDF 109 | EXT. WHITMORE ESTATE - GROUNDS - CHRISTMAS EVE - NIGHT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A047 Light-up reindeer hats / antler headband</a:t>
            </a:r>
          </a:p>
          <a:p>
            <a:r>
              <a:t>E58 | EXT. WHITMORE ESTATE - GROUNDS - CHRISTMAS EVE - NIGHT | PDF [109] | The front door bursts open. Bryce hurries out, the reindeer headband in hand. Daniel follows behind him. DANIEL Sir! Careful with your legs! Bryce doesn't look back. BRYCE Don't follow me. </a:t>
            </a:r>
          </a:p>
          <a:p/>
          <a:p>
            <a:r>
              <a:t>A121 Snow / wheel tracks</a:t>
            </a:r>
          </a:p>
          <a:p>
            <a:r>
              <a:t>E58 | EXT. WHITMORE ESTATE - GROUNDS - CHRISTMAS EVE - NIGHT | PDF [109] | n't look back. BRYCE Don't follow me. I'm fine. He walks out into the snow alone. Snow settles on his shoulders. </a:t>
            </a:r>
          </a:p>
          <a:p/>
          <a:p>
            <a:r>
              <a:t>A122 Front door / latch</a:t>
            </a:r>
          </a:p>
          <a:p>
            <a:r>
              <a:t>E58 | EXT. WHITMORE ESTATE - GROUNDS - CHRISTMAS EVE - NIGHT | PDF [109] | The front door bursts open. Bryce hurries out, the reindeer headband in hand. Daniel follows behind him. DANIEL Sir! Careful with your legs! Bry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美术设计 LOOKBOOK</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KISSING U A THOUSAND TIMES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完整剧本拆解 • 59 Episodes • 中文说明 / English Locations</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001</a:t>
            </a:r>
          </a:p>
        </p:txBody>
      </p:sp>
      <p:pic>
        <p:nvPicPr>
          <p:cNvPr id="9" name="Picture 8" descr="exec-1f6e298e-5282-4e03-9fe3-b6f7d9546465.png"/>
          <p:cNvPicPr>
            <a:picLocks noChangeAspect="1"/>
          </p:cNvPicPr>
          <p:nvPr/>
        </p:nvPicPr>
        <p:blipFill>
          <a:blip r:embed="rId2"/>
          <a:srcRect l="1380" r="68047" b="66667"/>
          <a:stretch>
            <a:fillRect/>
          </a:stretch>
        </p:blipFill>
        <p:spPr>
          <a:xfrm>
            <a:off x="5969000" y="2095499"/>
            <a:ext cx="5765800" cy="4190999"/>
          </a:xfrm>
          <a:prstGeom prst="rect">
            <a:avLst/>
          </a:prstGeom>
        </p:spPr>
      </p:pic>
      <p:sp>
        <p:nvSpPr>
          <p:cNvPr id="10" name="TextBox 9"/>
          <p:cNvSpPr txBox="1"/>
          <p:nvPr/>
        </p:nvSpPr>
        <p:spPr>
          <a:xfrm>
            <a:off x="457200" y="2463800"/>
            <a:ext cx="5143500" cy="1778000"/>
          </a:xfrm>
          <a:prstGeom prst="rect">
            <a:avLst/>
          </a:prstGeom>
          <a:noFill/>
        </p:spPr>
        <p:txBody>
          <a:bodyPr wrap="none" lIns="0" rIns="0" tIns="0" bIns="0">
            <a:spAutoFit/>
          </a:bodyPr>
          <a:lstStyle/>
          <a:p>
            <a:pPr>
              <a:lnSpc>
                <a:spcPts val="3915"/>
              </a:lnSpc>
              <a:spcBef>
                <a:spcPts val="0"/>
              </a:spcBef>
              <a:spcAft>
                <a:spcPts val="0"/>
              </a:spcAft>
              <a:defRPr sz="2900" b="0">
                <a:solidFill>
                  <a:srgbClr val="ECE9DF"/>
                </a:solidFill>
                <a:latin typeface="Noto Sans CJK SC"/>
              </a:defRPr>
            </a:pPr>
            <a:r>
              <a:t>冷峻的宅邸，</a:t>
            </a:r>
          </a:p>
          <a:p>
            <a:pPr>
              <a:lnSpc>
                <a:spcPts val="3915"/>
              </a:lnSpc>
              <a:spcBef>
                <a:spcPts val="0"/>
              </a:spcBef>
              <a:spcAft>
                <a:spcPts val="0"/>
              </a:spcAft>
              <a:defRPr sz="2900" b="0">
                <a:solidFill>
                  <a:srgbClr val="ECE9DF"/>
                </a:solidFill>
                <a:latin typeface="Noto Sans CJK SC"/>
              </a:defRPr>
            </a:pPr>
            <a:r>
              <a:t>逐渐有了人的温度。</a:t>
            </a:r>
          </a:p>
        </p:txBody>
      </p:sp>
      <p:sp>
        <p:nvSpPr>
          <p:cNvPr id="11" name="TextBox 10"/>
          <p:cNvSpPr txBox="1"/>
          <p:nvPr/>
        </p:nvSpPr>
        <p:spPr>
          <a:xfrm>
            <a:off x="457200" y="4572000"/>
            <a:ext cx="5016500" cy="14605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Old Money / Winter Romance</a:t>
            </a:r>
          </a:p>
          <a:p>
            <a:pPr>
              <a:lnSpc>
                <a:spcPts val="2025"/>
              </a:lnSpc>
              <a:spcBef>
                <a:spcPts val="0"/>
              </a:spcBef>
              <a:spcAft>
                <a:spcPts val="0"/>
              </a:spcAft>
              <a:defRPr sz="1500" b="0">
                <a:solidFill>
                  <a:srgbClr val="C4A36C"/>
                </a:solidFill>
                <a:latin typeface="Noto Sans CJK SC"/>
              </a:defRPr>
            </a:pPr>
            <a:r>
              <a:t>设计发展稿 v1</a:t>
            </a:r>
          </a:p>
          <a:p>
            <a:pPr>
              <a:lnSpc>
                <a:spcPts val="2025"/>
              </a:lnSpc>
              <a:spcBef>
                <a:spcPts val="0"/>
              </a:spcBef>
              <a:spcAft>
                <a:spcPts val="0"/>
              </a:spcAft>
              <a:defRPr sz="1500" b="0">
                <a:solidFill>
                  <a:srgbClr val="C4A36C"/>
                </a:solidFill>
                <a:latin typeface="Noto Sans CJK SC"/>
              </a:defRPr>
            </a:pPr>
            <a:r>
              <a:t>实景照片与 Delusion 参考待补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阅读方式与交付边界</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剧本为唯一故事依据；提案图中的物件不能反推为剧本要求。</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002</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A / SCRIPT REQUIRED</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明确物件、动作或建筑条件。</a:t>
            </a:r>
          </a:p>
          <a:p>
            <a:pPr>
              <a:lnSpc>
                <a:spcPts val="2160"/>
              </a:lnSpc>
              <a:spcBef>
                <a:spcPts val="0"/>
              </a:spcBef>
              <a:spcAft>
                <a:spcPts val="0"/>
              </a:spcAft>
              <a:defRPr sz="1600" b="0">
                <a:solidFill>
                  <a:srgbClr val="ECE9DF"/>
                </a:solidFill>
                <a:latin typeface="Noto Sans CJK SC"/>
              </a:defRPr>
            </a:pPr>
            <a:r>
              <a:t>每项关联集数、场景ID、完整标题</a:t>
            </a:r>
          </a:p>
          <a:p>
            <a:pPr>
              <a:lnSpc>
                <a:spcPts val="2160"/>
              </a:lnSpc>
              <a:spcBef>
                <a:spcPts val="0"/>
              </a:spcBef>
              <a:spcAft>
                <a:spcPts val="0"/>
              </a:spcAft>
              <a:defRPr sz="1600" b="0">
                <a:solidFill>
                  <a:srgbClr val="ECE9DF"/>
                </a:solidFill>
                <a:latin typeface="Noto Sans CJK SC"/>
              </a:defRPr>
            </a:pPr>
            <a:r>
              <a:t>与PDF页码；完整引文见工作簿。</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B / PRODUCTION</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复位、复制件、通道、制作方式与</a:t>
            </a:r>
          </a:p>
          <a:p>
            <a:pPr>
              <a:lnSpc>
                <a:spcPts val="2160"/>
              </a:lnSpc>
              <a:spcBef>
                <a:spcPts val="0"/>
              </a:spcBef>
              <a:spcAft>
                <a:spcPts val="0"/>
              </a:spcAft>
              <a:defRPr sz="1600" b="0">
                <a:solidFill>
                  <a:srgbClr val="ECE9DF"/>
                </a:solidFill>
                <a:latin typeface="Noto Sans CJK SC"/>
              </a:defRPr>
            </a:pPr>
            <a:r>
              <a:t>机位建议。</a:t>
            </a:r>
          </a:p>
          <a:p>
            <a:pPr>
              <a:lnSpc>
                <a:spcPts val="2160"/>
              </a:lnSpc>
              <a:spcBef>
                <a:spcPts val="0"/>
              </a:spcBef>
              <a:spcAft>
                <a:spcPts val="0"/>
              </a:spcAft>
              <a:defRPr sz="1600" b="0">
                <a:solidFill>
                  <a:srgbClr val="ECE9DF"/>
                </a:solidFill>
                <a:latin typeface="Noto Sans CJK SC"/>
              </a:defRPr>
            </a:pPr>
            <a:r>
              <a:t>没有勘景尺寸；图纸不按比例，不</a:t>
            </a:r>
          </a:p>
          <a:p>
            <a:pPr>
              <a:lnSpc>
                <a:spcPts val="2160"/>
              </a:lnSpc>
              <a:spcBef>
                <a:spcPts val="0"/>
              </a:spcBef>
              <a:spcAft>
                <a:spcPts val="0"/>
              </a:spcAft>
              <a:defRPr sz="1600" b="0">
                <a:solidFill>
                  <a:srgbClr val="ECE9DF"/>
                </a:solidFill>
                <a:latin typeface="Noto Sans CJK SC"/>
              </a:defRPr>
            </a:pPr>
            <a:r>
              <a:t>能用于施工或安全批准。</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C / VISUAL PROPOSAL</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深木、黄铜、海军蓝等视觉补充。</a:t>
            </a:r>
          </a:p>
          <a:p>
            <a:pPr>
              <a:lnSpc>
                <a:spcPts val="2160"/>
              </a:lnSpc>
              <a:spcBef>
                <a:spcPts val="0"/>
              </a:spcBef>
              <a:spcAft>
                <a:spcPts val="0"/>
              </a:spcAft>
              <a:defRPr sz="1600" b="0">
                <a:solidFill>
                  <a:srgbClr val="ECE9DF"/>
                </a:solidFill>
                <a:latin typeface="Noto Sans CJK SC"/>
              </a:defRPr>
            </a:pPr>
            <a:r>
              <a:t>9幅AI概念只用于讨论；不是实景</a:t>
            </a:r>
          </a:p>
          <a:p>
            <a:pPr>
              <a:lnSpc>
                <a:spcPts val="2160"/>
              </a:lnSpc>
              <a:spcBef>
                <a:spcPts val="0"/>
              </a:spcBef>
              <a:spcAft>
                <a:spcPts val="0"/>
              </a:spcAft>
              <a:defRPr sz="1600" b="0">
                <a:solidFill>
                  <a:srgbClr val="ECE9DF"/>
                </a:solidFill>
                <a:latin typeface="Noto Sans CJK SC"/>
              </a:defRPr>
            </a:pPr>
            <a:r>
              <a:t>照。参考照片未收到。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制作概览 / The Whole Script</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112个PDF页面（封面为第1页）；94条明确场景标题；30个地点／子区域。</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003</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故事结构</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E1–8 雇佣／评估／训练</a:t>
            </a:r>
          </a:p>
          <a:p>
            <a:pPr>
              <a:lnSpc>
                <a:spcPts val="2160"/>
              </a:lnSpc>
              <a:spcBef>
                <a:spcPts val="0"/>
              </a:spcBef>
              <a:spcAft>
                <a:spcPts val="0"/>
              </a:spcAft>
              <a:defRPr sz="1600" b="0">
                <a:solidFill>
                  <a:srgbClr val="ECE9DF"/>
                </a:solidFill>
                <a:latin typeface="Noto Sans CJK SC"/>
              </a:defRPr>
            </a:pPr>
            <a:r>
              <a:t>E9–26 市场、药物、复健与装树</a:t>
            </a:r>
          </a:p>
          <a:p>
            <a:pPr>
              <a:lnSpc>
                <a:spcPts val="2160"/>
              </a:lnSpc>
              <a:spcBef>
                <a:spcPts val="0"/>
              </a:spcBef>
              <a:spcAft>
                <a:spcPts val="0"/>
              </a:spcAft>
              <a:defRPr sz="1600" b="0">
                <a:solidFill>
                  <a:srgbClr val="ECE9DF"/>
                </a:solidFill>
                <a:latin typeface="Noto Sans CJK SC"/>
              </a:defRPr>
            </a:pPr>
            <a:r>
              <a:t>E27–34 生日宴与旧画</a:t>
            </a:r>
          </a:p>
          <a:p>
            <a:pPr>
              <a:lnSpc>
                <a:spcPts val="2160"/>
              </a:lnSpc>
              <a:spcBef>
                <a:spcPts val="0"/>
              </a:spcBef>
              <a:spcAft>
                <a:spcPts val="0"/>
              </a:spcAft>
              <a:defRPr sz="1600" b="0">
                <a:solidFill>
                  <a:srgbClr val="ECE9DF"/>
                </a:solidFill>
                <a:latin typeface="Noto Sans CJK SC"/>
              </a:defRPr>
            </a:pPr>
            <a:r>
              <a:t>E35–49 危险、假订婚、证据</a:t>
            </a:r>
          </a:p>
          <a:p>
            <a:pPr>
              <a:lnSpc>
                <a:spcPts val="2160"/>
              </a:lnSpc>
              <a:spcBef>
                <a:spcPts val="0"/>
              </a:spcBef>
              <a:spcAft>
                <a:spcPts val="0"/>
              </a:spcAft>
              <a:defRPr sz="1600" b="0">
                <a:solidFill>
                  <a:srgbClr val="ECE9DF"/>
                </a:solidFill>
                <a:latin typeface="Noto Sans CJK SC"/>
              </a:defRPr>
            </a:pPr>
            <a:r>
              <a:t>E50–59 平安夜翻盘与重逢</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人物空间</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Bryce：控制、隐瞒、逐步站立。</a:t>
            </a:r>
          </a:p>
          <a:p>
            <a:pPr>
              <a:lnSpc>
                <a:spcPts val="2160"/>
              </a:lnSpc>
              <a:spcBef>
                <a:spcPts val="0"/>
              </a:spcBef>
              <a:spcAft>
                <a:spcPts val="0"/>
              </a:spcAft>
              <a:defRPr sz="1600" b="0">
                <a:solidFill>
                  <a:srgbClr val="ECE9DF"/>
                </a:solidFill>
                <a:latin typeface="Noto Sans CJK SC"/>
              </a:defRPr>
            </a:pPr>
            <a:r>
              <a:t>Gloria：劳动、观察、独立选择。</a:t>
            </a:r>
          </a:p>
          <a:p>
            <a:pPr>
              <a:lnSpc>
                <a:spcPts val="2160"/>
              </a:lnSpc>
              <a:spcBef>
                <a:spcPts val="0"/>
              </a:spcBef>
              <a:spcAft>
                <a:spcPts val="0"/>
              </a:spcAft>
              <a:defRPr sz="1600" b="0">
                <a:solidFill>
                  <a:srgbClr val="ECE9DF"/>
                </a:solidFill>
                <a:latin typeface="Noto Sans CJK SC"/>
              </a:defRPr>
            </a:pPr>
            <a:r>
              <a:t>Adrian / Vivian：门槛与主位权力。</a:t>
            </a:r>
          </a:p>
          <a:p>
            <a:pPr>
              <a:lnSpc>
                <a:spcPts val="2160"/>
              </a:lnSpc>
              <a:spcBef>
                <a:spcPts val="0"/>
              </a:spcBef>
              <a:spcAft>
                <a:spcPts val="0"/>
              </a:spcAft>
              <a:defRPr sz="1600" b="0">
                <a:solidFill>
                  <a:srgbClr val="ECE9DF"/>
                </a:solidFill>
                <a:latin typeface="Noto Sans CJK SC"/>
              </a:defRPr>
            </a:pPr>
            <a:r>
              <a:t>Claire：从误解到证据盟友。</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优先决策</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先锁动作空间与证据道具。</a:t>
            </a:r>
          </a:p>
          <a:p>
            <a:pPr>
              <a:lnSpc>
                <a:spcPts val="2160"/>
              </a:lnSpc>
              <a:spcBef>
                <a:spcPts val="0"/>
              </a:spcBef>
              <a:spcAft>
                <a:spcPts val="0"/>
              </a:spcAft>
              <a:defRPr sz="1600" b="0">
                <a:solidFill>
                  <a:srgbClr val="ECE9DF"/>
                </a:solidFill>
                <a:latin typeface="Noto Sans CJK SC"/>
              </a:defRPr>
            </a:pPr>
            <a:r>
              <a:t>再确认庄园房间能否共用实景。</a:t>
            </a:r>
          </a:p>
          <a:p>
            <a:pPr>
              <a:lnSpc>
                <a:spcPts val="2160"/>
              </a:lnSpc>
              <a:spcBef>
                <a:spcPts val="0"/>
              </a:spcBef>
              <a:spcAft>
                <a:spcPts val="0"/>
              </a:spcAft>
              <a:defRPr sz="1600" b="0">
                <a:solidFill>
                  <a:srgbClr val="ECE9DF"/>
                </a:solidFill>
                <a:latin typeface="Noto Sans CJK SC"/>
              </a:defRPr>
            </a:pPr>
            <a:r>
              <a:t>采购数量、尺寸、预算均TBD。</a:t>
            </a:r>
          </a:p>
          <a:p>
            <a:pPr>
              <a:lnSpc>
                <a:spcPts val="2160"/>
              </a:lnSpc>
              <a:spcBef>
                <a:spcPts val="0"/>
              </a:spcBef>
              <a:spcAft>
                <a:spcPts val="0"/>
              </a:spcAft>
              <a:defRPr sz="1600" b="0">
                <a:solidFill>
                  <a:srgbClr val="ECE9DF"/>
                </a:solidFill>
                <a:latin typeface="Noto Sans CJK SC"/>
              </a:defRPr>
            </a:pPr>
            <a:r>
              <a:t>特技、医疗动作与服装分别会签。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设计陈述 / Restraint → Intimacy</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004</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建筑不变</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庄园各室延续深木门套、传统比例</a:t>
            </a:r>
          </a:p>
          <a:p>
            <a:pPr>
              <a:lnSpc>
                <a:spcPts val="2160"/>
              </a:lnSpc>
              <a:spcBef>
                <a:spcPts val="0"/>
              </a:spcBef>
              <a:spcAft>
                <a:spcPts val="0"/>
              </a:spcAft>
              <a:defRPr sz="1600" b="0">
                <a:solidFill>
                  <a:srgbClr val="ECE9DF"/>
                </a:solidFill>
                <a:latin typeface="Noto Sans CJK SC"/>
              </a:defRPr>
            </a:pPr>
            <a:r>
              <a:t>与克制黄铜。</a:t>
            </a:r>
          </a:p>
          <a:p>
            <a:pPr>
              <a:lnSpc>
                <a:spcPts val="2160"/>
              </a:lnSpc>
              <a:spcBef>
                <a:spcPts val="0"/>
              </a:spcBef>
              <a:spcAft>
                <a:spcPts val="0"/>
              </a:spcAft>
              <a:defRPr sz="1600" b="0">
                <a:solidFill>
                  <a:srgbClr val="ECE9DF"/>
                </a:solidFill>
                <a:latin typeface="Noto Sans CJK SC"/>
              </a:defRPr>
            </a:pPr>
            <a:r>
              <a:t>用低家具和清晰门洞支持轮椅及竖</a:t>
            </a:r>
          </a:p>
          <a:p>
            <a:pPr>
              <a:lnSpc>
                <a:spcPts val="2160"/>
              </a:lnSpc>
              <a:spcBef>
                <a:spcPts val="0"/>
              </a:spcBef>
              <a:spcAft>
                <a:spcPts val="0"/>
              </a:spcAft>
              <a:defRPr sz="1600" b="0">
                <a:solidFill>
                  <a:srgbClr val="ECE9DF"/>
                </a:solidFill>
                <a:latin typeface="Noto Sans CJK SC"/>
              </a:defRPr>
            </a:pPr>
            <a:r>
              <a:t>屏双人镜头。</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光与关系</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前期冷冬日光切入深色空间。</a:t>
            </a:r>
          </a:p>
          <a:p>
            <a:pPr>
              <a:lnSpc>
                <a:spcPts val="2160"/>
              </a:lnSpc>
              <a:spcBef>
                <a:spcPts val="0"/>
              </a:spcBef>
              <a:spcAft>
                <a:spcPts val="0"/>
              </a:spcAft>
              <a:defRPr sz="1600" b="0">
                <a:solidFill>
                  <a:srgbClr val="ECE9DF"/>
                </a:solidFill>
                <a:latin typeface="Noto Sans CJK SC"/>
              </a:defRPr>
            </a:pPr>
            <a:r>
              <a:t>食物、台灯和树灯增加暖色。</a:t>
            </a:r>
          </a:p>
          <a:p>
            <a:pPr>
              <a:lnSpc>
                <a:spcPts val="2160"/>
              </a:lnSpc>
              <a:spcBef>
                <a:spcPts val="0"/>
              </a:spcBef>
              <a:spcAft>
                <a:spcPts val="0"/>
              </a:spcAft>
              <a:defRPr sz="1600" b="0">
                <a:solidFill>
                  <a:srgbClr val="ECE9DF"/>
                </a:solidFill>
                <a:latin typeface="Noto Sans CJK SC"/>
              </a:defRPr>
            </a:pPr>
            <a:r>
              <a:t>不要让圣诞装饰提前污染所有房间</a:t>
            </a:r>
          </a:p>
          <a:p>
            <a:pPr>
              <a:lnSpc>
                <a:spcPts val="2160"/>
              </a:lnSpc>
              <a:spcBef>
                <a:spcPts val="0"/>
              </a:spcBef>
              <a:spcAft>
                <a:spcPts val="0"/>
              </a:spcAft>
              <a:defRPr sz="1600" b="0">
                <a:solidFill>
                  <a:srgbClr val="ECE9DF"/>
                </a:solidFill>
                <a:latin typeface="Noto Sans CJK SC"/>
              </a:defRPr>
            </a:pPr>
            <a:r>
              <a:t>。</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设计执行</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借用实景完成建筑底色[B]。</a:t>
            </a:r>
          </a:p>
          <a:p>
            <a:pPr>
              <a:lnSpc>
                <a:spcPts val="2160"/>
              </a:lnSpc>
              <a:spcBef>
                <a:spcPts val="0"/>
              </a:spcBef>
              <a:spcAft>
                <a:spcPts val="0"/>
              </a:spcAft>
              <a:defRPr sz="1600" b="0">
                <a:solidFill>
                  <a:srgbClr val="ECE9DF"/>
                </a:solidFill>
                <a:latin typeface="Noto Sans CJK SC"/>
              </a:defRPr>
            </a:pPr>
            <a:r>
              <a:t>优先租赁成套家具[B]。</a:t>
            </a:r>
          </a:p>
          <a:p>
            <a:pPr>
              <a:lnSpc>
                <a:spcPts val="2160"/>
              </a:lnSpc>
              <a:spcBef>
                <a:spcPts val="0"/>
              </a:spcBef>
              <a:spcAft>
                <a:spcPts val="0"/>
              </a:spcAft>
              <a:defRPr sz="1600" b="0">
                <a:solidFill>
                  <a:srgbClr val="ECE9DF"/>
                </a:solidFill>
                <a:latin typeface="Noto Sans CJK SC"/>
              </a:defRPr>
            </a:pPr>
            <a:r>
              <a:t>把钱投向近景文件、可复位旧画、</a:t>
            </a:r>
          </a:p>
          <a:p>
            <a:pPr>
              <a:lnSpc>
                <a:spcPts val="2160"/>
              </a:lnSpc>
              <a:spcBef>
                <a:spcPts val="0"/>
              </a:spcBef>
              <a:spcAft>
                <a:spcPts val="0"/>
              </a:spcAft>
              <a:defRPr sz="1600" b="0">
                <a:solidFill>
                  <a:srgbClr val="ECE9DF"/>
                </a:solidFill>
                <a:latin typeface="Noto Sans CJK SC"/>
              </a:defRPr>
            </a:pPr>
            <a:r>
              <a:t>药片和安全动作件[B]。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色彩 / Materials &amp; Light</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全部为B/C设计建议；具体饰品若剧本规定颜色，以剧本优先。</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005</a:t>
            </a:r>
          </a:p>
        </p:txBody>
      </p:sp>
      <p:sp>
        <p:nvSpPr>
          <p:cNvPr id="9" name="Rectangle 8"/>
          <p:cNvSpPr/>
          <p:nvPr/>
        </p:nvSpPr>
        <p:spPr>
          <a:xfrm>
            <a:off x="457200" y="2222500"/>
            <a:ext cx="1752600" cy="1778000"/>
          </a:xfrm>
          <a:prstGeom prst="rect">
            <a:avLst/>
          </a:prstGeom>
          <a:solidFill>
            <a:srgbClr val="3E2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4190999"/>
            <a:ext cx="1752600" cy="3810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深胡桃</a:t>
            </a:r>
          </a:p>
        </p:txBody>
      </p:sp>
      <p:sp>
        <p:nvSpPr>
          <p:cNvPr id="11" name="TextBox 10"/>
          <p:cNvSpPr txBox="1"/>
          <p:nvPr/>
        </p:nvSpPr>
        <p:spPr>
          <a:xfrm>
            <a:off x="457200" y="4635500"/>
            <a:ext cx="17526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#3E2B22</a:t>
            </a:r>
          </a:p>
        </p:txBody>
      </p:sp>
      <p:sp>
        <p:nvSpPr>
          <p:cNvPr id="12" name="Rectangle 11"/>
          <p:cNvSpPr/>
          <p:nvPr/>
        </p:nvSpPr>
        <p:spPr>
          <a:xfrm>
            <a:off x="2362200" y="2222500"/>
            <a:ext cx="1752600" cy="1778000"/>
          </a:xfrm>
          <a:prstGeom prst="rect">
            <a:avLst/>
          </a:prstGeom>
          <a:solidFill>
            <a:srgbClr val="A585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62200" y="4190999"/>
            <a:ext cx="1752600" cy="3810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古黄铜</a:t>
            </a:r>
          </a:p>
        </p:txBody>
      </p:sp>
      <p:sp>
        <p:nvSpPr>
          <p:cNvPr id="14" name="TextBox 13"/>
          <p:cNvSpPr txBox="1"/>
          <p:nvPr/>
        </p:nvSpPr>
        <p:spPr>
          <a:xfrm>
            <a:off x="2362200" y="4635500"/>
            <a:ext cx="17526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#A58552</a:t>
            </a:r>
          </a:p>
        </p:txBody>
      </p:sp>
      <p:sp>
        <p:nvSpPr>
          <p:cNvPr id="15" name="Rectangle 14"/>
          <p:cNvSpPr/>
          <p:nvPr/>
        </p:nvSpPr>
        <p:spPr>
          <a:xfrm>
            <a:off x="4267200" y="2222500"/>
            <a:ext cx="1752600" cy="1778000"/>
          </a:xfrm>
          <a:prstGeom prst="rect">
            <a:avLst/>
          </a:prstGeom>
          <a:solidFill>
            <a:srgbClr val="3439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67200" y="4190999"/>
            <a:ext cx="1752600" cy="3810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炭灰</a:t>
            </a:r>
          </a:p>
        </p:txBody>
      </p:sp>
      <p:sp>
        <p:nvSpPr>
          <p:cNvPr id="17" name="TextBox 16"/>
          <p:cNvSpPr txBox="1"/>
          <p:nvPr/>
        </p:nvSpPr>
        <p:spPr>
          <a:xfrm>
            <a:off x="4267200" y="4635500"/>
            <a:ext cx="17526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#34393E</a:t>
            </a:r>
          </a:p>
        </p:txBody>
      </p:sp>
      <p:sp>
        <p:nvSpPr>
          <p:cNvPr id="18" name="Rectangle 17"/>
          <p:cNvSpPr/>
          <p:nvPr/>
        </p:nvSpPr>
        <p:spPr>
          <a:xfrm>
            <a:off x="6172200" y="2222500"/>
            <a:ext cx="1752600" cy="1778000"/>
          </a:xfrm>
          <a:prstGeom prst="rect">
            <a:avLst/>
          </a:prstGeom>
          <a:solidFill>
            <a:srgbClr val="DE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4190999"/>
            <a:ext cx="1752600" cy="3810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暖象牙</a:t>
            </a:r>
          </a:p>
        </p:txBody>
      </p:sp>
      <p:sp>
        <p:nvSpPr>
          <p:cNvPr id="20" name="TextBox 19"/>
          <p:cNvSpPr txBox="1"/>
          <p:nvPr/>
        </p:nvSpPr>
        <p:spPr>
          <a:xfrm>
            <a:off x="6172200" y="4635500"/>
            <a:ext cx="17526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#DED6C5</a:t>
            </a:r>
          </a:p>
        </p:txBody>
      </p:sp>
      <p:sp>
        <p:nvSpPr>
          <p:cNvPr id="21" name="Rectangle 20"/>
          <p:cNvSpPr/>
          <p:nvPr/>
        </p:nvSpPr>
        <p:spPr>
          <a:xfrm>
            <a:off x="8077200" y="2222500"/>
            <a:ext cx="1752600" cy="1778000"/>
          </a:xfrm>
          <a:prstGeom prst="rect">
            <a:avLst/>
          </a:prstGeom>
          <a:solidFill>
            <a:srgbClr val="233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77200" y="4190999"/>
            <a:ext cx="1752600" cy="3810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海军蓝</a:t>
            </a:r>
          </a:p>
        </p:txBody>
      </p:sp>
      <p:sp>
        <p:nvSpPr>
          <p:cNvPr id="23" name="TextBox 22"/>
          <p:cNvSpPr txBox="1"/>
          <p:nvPr/>
        </p:nvSpPr>
        <p:spPr>
          <a:xfrm>
            <a:off x="8077200" y="4635500"/>
            <a:ext cx="17526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#233747</a:t>
            </a:r>
          </a:p>
        </p:txBody>
      </p:sp>
      <p:sp>
        <p:nvSpPr>
          <p:cNvPr id="24" name="Rectangle 23"/>
          <p:cNvSpPr/>
          <p:nvPr/>
        </p:nvSpPr>
        <p:spPr>
          <a:xfrm>
            <a:off x="9982200" y="2222500"/>
            <a:ext cx="1752600" cy="1778000"/>
          </a:xfrm>
          <a:prstGeom prst="rect">
            <a:avLst/>
          </a:prstGeom>
          <a:solidFill>
            <a:srgbClr val="354F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82200" y="4190999"/>
            <a:ext cx="1752600" cy="3810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森林绿</a:t>
            </a:r>
          </a:p>
        </p:txBody>
      </p:sp>
      <p:sp>
        <p:nvSpPr>
          <p:cNvPr id="26" name="TextBox 25"/>
          <p:cNvSpPr txBox="1"/>
          <p:nvPr/>
        </p:nvSpPr>
        <p:spPr>
          <a:xfrm>
            <a:off x="9982200" y="4635500"/>
            <a:ext cx="17526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#354F40</a:t>
            </a:r>
          </a:p>
        </p:txBody>
      </p:sp>
      <p:sp>
        <p:nvSpPr>
          <p:cNvPr id="27" name="TextBox 26"/>
          <p:cNvSpPr txBox="1"/>
          <p:nvPr/>
        </p:nvSpPr>
        <p:spPr>
          <a:xfrm>
            <a:off x="457200" y="5372100"/>
            <a:ext cx="11176000" cy="825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木饰面：低光泽，避免新亮漆。织物：羊毛、棉麻与克制绒面。</a:t>
            </a:r>
          </a:p>
          <a:p>
            <a:pPr>
              <a:lnSpc>
                <a:spcPts val="2160"/>
              </a:lnSpc>
              <a:spcBef>
                <a:spcPts val="0"/>
              </a:spcBef>
              <a:spcAft>
                <a:spcPts val="0"/>
              </a:spcAft>
              <a:defRPr sz="1600" b="0">
                <a:solidFill>
                  <a:srgbClr val="ECE9DF"/>
                </a:solidFill>
                <a:latin typeface="Noto Sans CJK SC"/>
              </a:defRPr>
            </a:pPr>
            <a:r>
              <a:t>E24紫色饰球、红饰球和银铃须保留；不能为了统一配色删去剧本反差。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完整场景地图 / Atlas 1</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地点归并不等于同一实景；香槟塔为宴会厅子区，其余关系待勘景确认。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006</a:t>
            </a:r>
          </a:p>
        </p:txBody>
      </p:sp>
      <p:sp>
        <p:nvSpPr>
          <p:cNvPr id="9" name="TextBox 8"/>
          <p:cNvSpPr txBox="1"/>
          <p:nvPr/>
        </p:nvSpPr>
        <p:spPr>
          <a:xfrm>
            <a:off x="457200" y="21209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01</a:t>
            </a:r>
          </a:p>
        </p:txBody>
      </p:sp>
      <p:sp>
        <p:nvSpPr>
          <p:cNvPr id="10" name="TextBox 9"/>
          <p:cNvSpPr txBox="1"/>
          <p:nvPr/>
        </p:nvSpPr>
        <p:spPr>
          <a:xfrm>
            <a:off x="1079500" y="21209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Gate</a:t>
            </a:r>
          </a:p>
        </p:txBody>
      </p:sp>
      <p:sp>
        <p:nvSpPr>
          <p:cNvPr id="11" name="TextBox 10"/>
          <p:cNvSpPr txBox="1"/>
          <p:nvPr/>
        </p:nvSpPr>
        <p:spPr>
          <a:xfrm>
            <a:off x="6350000" y="21209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E1,34 | PDF 2,72</a:t>
            </a:r>
          </a:p>
        </p:txBody>
      </p:sp>
      <p:sp>
        <p:nvSpPr>
          <p:cNvPr id="12" name="TextBox 11"/>
          <p:cNvSpPr txBox="1"/>
          <p:nvPr/>
        </p:nvSpPr>
        <p:spPr>
          <a:xfrm>
            <a:off x="457200" y="25273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02</a:t>
            </a:r>
          </a:p>
        </p:txBody>
      </p:sp>
      <p:sp>
        <p:nvSpPr>
          <p:cNvPr id="13" name="TextBox 12"/>
          <p:cNvSpPr txBox="1"/>
          <p:nvPr/>
        </p:nvSpPr>
        <p:spPr>
          <a:xfrm>
            <a:off x="1079500" y="25273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Study</a:t>
            </a:r>
          </a:p>
        </p:txBody>
      </p:sp>
      <p:sp>
        <p:nvSpPr>
          <p:cNvPr id="14" name="TextBox 13"/>
          <p:cNvSpPr txBox="1"/>
          <p:nvPr/>
        </p:nvSpPr>
        <p:spPr>
          <a:xfrm>
            <a:off x="6350000" y="25273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E1,5,6,40,41,42,48,49 | PDF 2,3,13,15,82,84,87,95,96</a:t>
            </a:r>
          </a:p>
        </p:txBody>
      </p:sp>
      <p:sp>
        <p:nvSpPr>
          <p:cNvPr id="15" name="TextBox 14"/>
          <p:cNvSpPr txBox="1"/>
          <p:nvPr/>
        </p:nvSpPr>
        <p:spPr>
          <a:xfrm>
            <a:off x="457200" y="29337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03</a:t>
            </a:r>
          </a:p>
        </p:txBody>
      </p:sp>
      <p:sp>
        <p:nvSpPr>
          <p:cNvPr id="16" name="TextBox 15"/>
          <p:cNvSpPr txBox="1"/>
          <p:nvPr/>
        </p:nvSpPr>
        <p:spPr>
          <a:xfrm>
            <a:off x="1079500" y="29337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Upper Hall / Stair Landing</a:t>
            </a:r>
          </a:p>
        </p:txBody>
      </p:sp>
      <p:sp>
        <p:nvSpPr>
          <p:cNvPr id="17" name="TextBox 16"/>
          <p:cNvSpPr txBox="1"/>
          <p:nvPr/>
        </p:nvSpPr>
        <p:spPr>
          <a:xfrm>
            <a:off x="6350000" y="29337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E1,2,14 | PDF 3,4,33</a:t>
            </a:r>
          </a:p>
        </p:txBody>
      </p:sp>
      <p:sp>
        <p:nvSpPr>
          <p:cNvPr id="18" name="TextBox 17"/>
          <p:cNvSpPr txBox="1"/>
          <p:nvPr/>
        </p:nvSpPr>
        <p:spPr>
          <a:xfrm>
            <a:off x="457200" y="33401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04</a:t>
            </a:r>
          </a:p>
        </p:txBody>
      </p:sp>
      <p:sp>
        <p:nvSpPr>
          <p:cNvPr id="19" name="TextBox 18"/>
          <p:cNvSpPr txBox="1"/>
          <p:nvPr/>
        </p:nvSpPr>
        <p:spPr>
          <a:xfrm>
            <a:off x="1079500" y="33401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Living Room / Calendar</a:t>
            </a:r>
          </a:p>
        </p:txBody>
      </p:sp>
      <p:sp>
        <p:nvSpPr>
          <p:cNvPr id="20" name="TextBox 19"/>
          <p:cNvSpPr txBox="1"/>
          <p:nvPr/>
        </p:nvSpPr>
        <p:spPr>
          <a:xfrm>
            <a:off x="6350000" y="33401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E2,3,4,18,40,42 | PDF 6,7,10,11,12,42,83,87</a:t>
            </a:r>
          </a:p>
        </p:txBody>
      </p:sp>
      <p:sp>
        <p:nvSpPr>
          <p:cNvPr id="21" name="TextBox 20"/>
          <p:cNvSpPr txBox="1"/>
          <p:nvPr/>
        </p:nvSpPr>
        <p:spPr>
          <a:xfrm>
            <a:off x="457200" y="37465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05</a:t>
            </a:r>
          </a:p>
        </p:txBody>
      </p:sp>
      <p:sp>
        <p:nvSpPr>
          <p:cNvPr id="22" name="TextBox 21"/>
          <p:cNvSpPr txBox="1"/>
          <p:nvPr/>
        </p:nvSpPr>
        <p:spPr>
          <a:xfrm>
            <a:off x="1079500" y="37465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Open Kitchen</a:t>
            </a:r>
          </a:p>
        </p:txBody>
      </p:sp>
      <p:sp>
        <p:nvSpPr>
          <p:cNvPr id="23" name="TextBox 22"/>
          <p:cNvSpPr txBox="1"/>
          <p:nvPr/>
        </p:nvSpPr>
        <p:spPr>
          <a:xfrm>
            <a:off x="6350000" y="37465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E4,39 | PDF 10,11,12,80</a:t>
            </a:r>
          </a:p>
        </p:txBody>
      </p:sp>
      <p:sp>
        <p:nvSpPr>
          <p:cNvPr id="24" name="TextBox 23"/>
          <p:cNvSpPr txBox="1"/>
          <p:nvPr/>
        </p:nvSpPr>
        <p:spPr>
          <a:xfrm>
            <a:off x="457200" y="41529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06</a:t>
            </a:r>
          </a:p>
        </p:txBody>
      </p:sp>
      <p:sp>
        <p:nvSpPr>
          <p:cNvPr id="25" name="TextBox 24"/>
          <p:cNvSpPr txBox="1"/>
          <p:nvPr/>
        </p:nvSpPr>
        <p:spPr>
          <a:xfrm>
            <a:off x="1079500" y="41529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Dining Room</a:t>
            </a:r>
          </a:p>
        </p:txBody>
      </p:sp>
      <p:sp>
        <p:nvSpPr>
          <p:cNvPr id="26" name="TextBox 25"/>
          <p:cNvSpPr txBox="1"/>
          <p:nvPr/>
        </p:nvSpPr>
        <p:spPr>
          <a:xfrm>
            <a:off x="6350000" y="41529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E4 | PDF 10,12</a:t>
            </a:r>
          </a:p>
        </p:txBody>
      </p:sp>
      <p:sp>
        <p:nvSpPr>
          <p:cNvPr id="27" name="TextBox 26"/>
          <p:cNvSpPr txBox="1"/>
          <p:nvPr/>
        </p:nvSpPr>
        <p:spPr>
          <a:xfrm>
            <a:off x="457200" y="45593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07</a:t>
            </a:r>
          </a:p>
        </p:txBody>
      </p:sp>
      <p:sp>
        <p:nvSpPr>
          <p:cNvPr id="28" name="TextBox 27"/>
          <p:cNvSpPr txBox="1"/>
          <p:nvPr/>
        </p:nvSpPr>
        <p:spPr>
          <a:xfrm>
            <a:off x="1079500" y="45593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Accident Road — Flashback</a:t>
            </a:r>
          </a:p>
        </p:txBody>
      </p:sp>
      <p:sp>
        <p:nvSpPr>
          <p:cNvPr id="29" name="TextBox 28"/>
          <p:cNvSpPr txBox="1"/>
          <p:nvPr/>
        </p:nvSpPr>
        <p:spPr>
          <a:xfrm>
            <a:off x="6350000" y="45593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E4 | PDF 12</a:t>
            </a:r>
          </a:p>
        </p:txBody>
      </p:sp>
      <p:sp>
        <p:nvSpPr>
          <p:cNvPr id="30" name="TextBox 29"/>
          <p:cNvSpPr txBox="1"/>
          <p:nvPr/>
        </p:nvSpPr>
        <p:spPr>
          <a:xfrm>
            <a:off x="457200" y="49657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08</a:t>
            </a:r>
          </a:p>
        </p:txBody>
      </p:sp>
      <p:sp>
        <p:nvSpPr>
          <p:cNvPr id="31" name="TextBox 30"/>
          <p:cNvSpPr txBox="1"/>
          <p:nvPr/>
        </p:nvSpPr>
        <p:spPr>
          <a:xfrm>
            <a:off x="1079500" y="49657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Rehabilitation Room</a:t>
            </a:r>
          </a:p>
        </p:txBody>
      </p:sp>
      <p:sp>
        <p:nvSpPr>
          <p:cNvPr id="32" name="TextBox 31"/>
          <p:cNvSpPr txBox="1"/>
          <p:nvPr/>
        </p:nvSpPr>
        <p:spPr>
          <a:xfrm>
            <a:off x="6350000" y="49657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E7,8,11,12,13,52 | PDF 18,20,27,28,30,101</a:t>
            </a:r>
          </a:p>
        </p:txBody>
      </p:sp>
      <p:sp>
        <p:nvSpPr>
          <p:cNvPr id="33" name="TextBox 32"/>
          <p:cNvSpPr txBox="1"/>
          <p:nvPr/>
        </p:nvSpPr>
        <p:spPr>
          <a:xfrm>
            <a:off x="457200" y="53721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09</a:t>
            </a:r>
          </a:p>
        </p:txBody>
      </p:sp>
      <p:sp>
        <p:nvSpPr>
          <p:cNvPr id="34" name="TextBox 33"/>
          <p:cNvSpPr txBox="1"/>
          <p:nvPr/>
        </p:nvSpPr>
        <p:spPr>
          <a:xfrm>
            <a:off x="1079500" y="53721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Christmas Market / Entrance</a:t>
            </a:r>
          </a:p>
        </p:txBody>
      </p:sp>
      <p:sp>
        <p:nvSpPr>
          <p:cNvPr id="35" name="TextBox 34"/>
          <p:cNvSpPr txBox="1"/>
          <p:nvPr/>
        </p:nvSpPr>
        <p:spPr>
          <a:xfrm>
            <a:off x="6350000" y="53721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E8 | PDF 21</a:t>
            </a:r>
          </a:p>
        </p:txBody>
      </p:sp>
      <p:sp>
        <p:nvSpPr>
          <p:cNvPr id="36" name="TextBox 35"/>
          <p:cNvSpPr txBox="1"/>
          <p:nvPr/>
        </p:nvSpPr>
        <p:spPr>
          <a:xfrm>
            <a:off x="457200" y="57785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10</a:t>
            </a:r>
          </a:p>
        </p:txBody>
      </p:sp>
      <p:sp>
        <p:nvSpPr>
          <p:cNvPr id="37" name="TextBox 36"/>
          <p:cNvSpPr txBox="1"/>
          <p:nvPr/>
        </p:nvSpPr>
        <p:spPr>
          <a:xfrm>
            <a:off x="1079500" y="57785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Christmas Market / Street</a:t>
            </a:r>
          </a:p>
        </p:txBody>
      </p:sp>
      <p:sp>
        <p:nvSpPr>
          <p:cNvPr id="38" name="TextBox 37"/>
          <p:cNvSpPr txBox="1"/>
          <p:nvPr/>
        </p:nvSpPr>
        <p:spPr>
          <a:xfrm>
            <a:off x="6350000" y="57785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E9,10,58,59 | PDF 22,23,24,109,110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完整场景地图 / Atlas 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地点归并不等于同一实景；香槟塔为宴会厅子区，其余关系待勘景确认。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007</a:t>
            </a:r>
          </a:p>
        </p:txBody>
      </p:sp>
      <p:sp>
        <p:nvSpPr>
          <p:cNvPr id="9" name="TextBox 8"/>
          <p:cNvSpPr txBox="1"/>
          <p:nvPr/>
        </p:nvSpPr>
        <p:spPr>
          <a:xfrm>
            <a:off x="457200" y="21209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11</a:t>
            </a:r>
          </a:p>
        </p:txBody>
      </p:sp>
      <p:sp>
        <p:nvSpPr>
          <p:cNvPr id="10" name="TextBox 9"/>
          <p:cNvSpPr txBox="1"/>
          <p:nvPr/>
        </p:nvSpPr>
        <p:spPr>
          <a:xfrm>
            <a:off x="1079500" y="21209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Christmas Decoration Stall</a:t>
            </a:r>
          </a:p>
        </p:txBody>
      </p:sp>
      <p:sp>
        <p:nvSpPr>
          <p:cNvPr id="11" name="TextBox 10"/>
          <p:cNvSpPr txBox="1"/>
          <p:nvPr/>
        </p:nvSpPr>
        <p:spPr>
          <a:xfrm>
            <a:off x="6350000" y="21209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E9 | PDF 22</a:t>
            </a:r>
          </a:p>
        </p:txBody>
      </p:sp>
      <p:sp>
        <p:nvSpPr>
          <p:cNvPr id="12" name="TextBox 11"/>
          <p:cNvSpPr txBox="1"/>
          <p:nvPr/>
        </p:nvSpPr>
        <p:spPr>
          <a:xfrm>
            <a:off x="457200" y="25273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12</a:t>
            </a:r>
          </a:p>
        </p:txBody>
      </p:sp>
      <p:sp>
        <p:nvSpPr>
          <p:cNvPr id="13" name="TextBox 12"/>
          <p:cNvSpPr txBox="1"/>
          <p:nvPr/>
        </p:nvSpPr>
        <p:spPr>
          <a:xfrm>
            <a:off x="1079500" y="25273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Storage Room</a:t>
            </a:r>
          </a:p>
        </p:txBody>
      </p:sp>
      <p:sp>
        <p:nvSpPr>
          <p:cNvPr id="14" name="TextBox 13"/>
          <p:cNvSpPr txBox="1"/>
          <p:nvPr/>
        </p:nvSpPr>
        <p:spPr>
          <a:xfrm>
            <a:off x="6350000" y="25273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E11 | PDF 25</a:t>
            </a:r>
          </a:p>
        </p:txBody>
      </p:sp>
      <p:sp>
        <p:nvSpPr>
          <p:cNvPr id="15" name="TextBox 14"/>
          <p:cNvSpPr txBox="1"/>
          <p:nvPr/>
        </p:nvSpPr>
        <p:spPr>
          <a:xfrm>
            <a:off x="457200" y="29337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13</a:t>
            </a:r>
          </a:p>
        </p:txBody>
      </p:sp>
      <p:sp>
        <p:nvSpPr>
          <p:cNvPr id="16" name="TextBox 15"/>
          <p:cNvSpPr txBox="1"/>
          <p:nvPr/>
        </p:nvSpPr>
        <p:spPr>
          <a:xfrm>
            <a:off x="1079500" y="29337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Hall Outside Storage</a:t>
            </a:r>
          </a:p>
        </p:txBody>
      </p:sp>
      <p:sp>
        <p:nvSpPr>
          <p:cNvPr id="17" name="TextBox 16"/>
          <p:cNvSpPr txBox="1"/>
          <p:nvPr/>
        </p:nvSpPr>
        <p:spPr>
          <a:xfrm>
            <a:off x="6350000" y="29337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E11 | PDF 26</a:t>
            </a:r>
          </a:p>
        </p:txBody>
      </p:sp>
      <p:sp>
        <p:nvSpPr>
          <p:cNvPr id="18" name="TextBox 17"/>
          <p:cNvSpPr txBox="1"/>
          <p:nvPr/>
        </p:nvSpPr>
        <p:spPr>
          <a:xfrm>
            <a:off x="457200" y="33401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14</a:t>
            </a:r>
          </a:p>
        </p:txBody>
      </p:sp>
      <p:sp>
        <p:nvSpPr>
          <p:cNvPr id="19" name="TextBox 18"/>
          <p:cNvSpPr txBox="1"/>
          <p:nvPr/>
        </p:nvSpPr>
        <p:spPr>
          <a:xfrm>
            <a:off x="1079500" y="33401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Gloria Bedroom / Estate</a:t>
            </a:r>
          </a:p>
        </p:txBody>
      </p:sp>
      <p:sp>
        <p:nvSpPr>
          <p:cNvPr id="20" name="TextBox 19"/>
          <p:cNvSpPr txBox="1"/>
          <p:nvPr/>
        </p:nvSpPr>
        <p:spPr>
          <a:xfrm>
            <a:off x="6350000" y="33401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E14 | PDF 33</a:t>
            </a:r>
          </a:p>
        </p:txBody>
      </p:sp>
      <p:sp>
        <p:nvSpPr>
          <p:cNvPr id="21" name="TextBox 20"/>
          <p:cNvSpPr txBox="1"/>
          <p:nvPr/>
        </p:nvSpPr>
        <p:spPr>
          <a:xfrm>
            <a:off x="457200" y="37465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15</a:t>
            </a:r>
          </a:p>
        </p:txBody>
      </p:sp>
      <p:sp>
        <p:nvSpPr>
          <p:cNvPr id="22" name="TextBox 21"/>
          <p:cNvSpPr txBox="1"/>
          <p:nvPr/>
        </p:nvSpPr>
        <p:spPr>
          <a:xfrm>
            <a:off x="1079500" y="37465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Bryce Bedroom</a:t>
            </a:r>
          </a:p>
        </p:txBody>
      </p:sp>
      <p:sp>
        <p:nvSpPr>
          <p:cNvPr id="23" name="TextBox 22"/>
          <p:cNvSpPr txBox="1"/>
          <p:nvPr/>
        </p:nvSpPr>
        <p:spPr>
          <a:xfrm>
            <a:off x="6350000" y="37465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E14,15,16,17,38 | PDF 33,35,37,38,39,78</a:t>
            </a:r>
          </a:p>
        </p:txBody>
      </p:sp>
      <p:sp>
        <p:nvSpPr>
          <p:cNvPr id="24" name="TextBox 23"/>
          <p:cNvSpPr txBox="1"/>
          <p:nvPr/>
        </p:nvSpPr>
        <p:spPr>
          <a:xfrm>
            <a:off x="457200" y="41529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16</a:t>
            </a:r>
          </a:p>
        </p:txBody>
      </p:sp>
      <p:sp>
        <p:nvSpPr>
          <p:cNvPr id="25" name="TextBox 24"/>
          <p:cNvSpPr txBox="1"/>
          <p:nvPr/>
        </p:nvSpPr>
        <p:spPr>
          <a:xfrm>
            <a:off x="1079500" y="41529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Foyer</a:t>
            </a:r>
          </a:p>
        </p:txBody>
      </p:sp>
      <p:sp>
        <p:nvSpPr>
          <p:cNvPr id="26" name="TextBox 25"/>
          <p:cNvSpPr txBox="1"/>
          <p:nvPr/>
        </p:nvSpPr>
        <p:spPr>
          <a:xfrm>
            <a:off x="6350000" y="41529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E19,38,39,47 | PDF 45,77,81,94</a:t>
            </a:r>
          </a:p>
        </p:txBody>
      </p:sp>
      <p:sp>
        <p:nvSpPr>
          <p:cNvPr id="27" name="TextBox 26"/>
          <p:cNvSpPr txBox="1"/>
          <p:nvPr/>
        </p:nvSpPr>
        <p:spPr>
          <a:xfrm>
            <a:off x="457200" y="45593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17</a:t>
            </a:r>
          </a:p>
        </p:txBody>
      </p:sp>
      <p:sp>
        <p:nvSpPr>
          <p:cNvPr id="28" name="TextBox 27"/>
          <p:cNvSpPr txBox="1"/>
          <p:nvPr/>
        </p:nvSpPr>
        <p:spPr>
          <a:xfrm>
            <a:off x="1079500" y="45593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Remote Road / Gloria Car</a:t>
            </a:r>
          </a:p>
        </p:txBody>
      </p:sp>
      <p:sp>
        <p:nvSpPr>
          <p:cNvPr id="29" name="TextBox 28"/>
          <p:cNvSpPr txBox="1"/>
          <p:nvPr/>
        </p:nvSpPr>
        <p:spPr>
          <a:xfrm>
            <a:off x="6350000" y="45593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E19 | PDF 46</a:t>
            </a:r>
          </a:p>
        </p:txBody>
      </p:sp>
      <p:sp>
        <p:nvSpPr>
          <p:cNvPr id="30" name="TextBox 29"/>
          <p:cNvSpPr txBox="1"/>
          <p:nvPr/>
        </p:nvSpPr>
        <p:spPr>
          <a:xfrm>
            <a:off x="457200" y="49657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18</a:t>
            </a:r>
          </a:p>
        </p:txBody>
      </p:sp>
      <p:sp>
        <p:nvSpPr>
          <p:cNvPr id="31" name="TextBox 30"/>
          <p:cNvSpPr txBox="1"/>
          <p:nvPr/>
        </p:nvSpPr>
        <p:spPr>
          <a:xfrm>
            <a:off x="1079500" y="49657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Warehouse Exterior / Parking</a:t>
            </a:r>
          </a:p>
        </p:txBody>
      </p:sp>
      <p:sp>
        <p:nvSpPr>
          <p:cNvPr id="32" name="TextBox 31"/>
          <p:cNvSpPr txBox="1"/>
          <p:nvPr/>
        </p:nvSpPr>
        <p:spPr>
          <a:xfrm>
            <a:off x="6350000" y="49657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E19,20,21,22,23 | PDF 46,47,49,51,53</a:t>
            </a:r>
          </a:p>
        </p:txBody>
      </p:sp>
      <p:sp>
        <p:nvSpPr>
          <p:cNvPr id="33" name="TextBox 32"/>
          <p:cNvSpPr txBox="1"/>
          <p:nvPr/>
        </p:nvSpPr>
        <p:spPr>
          <a:xfrm>
            <a:off x="457200" y="53721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19</a:t>
            </a:r>
          </a:p>
        </p:txBody>
      </p:sp>
      <p:sp>
        <p:nvSpPr>
          <p:cNvPr id="34" name="TextBox 33"/>
          <p:cNvSpPr txBox="1"/>
          <p:nvPr/>
        </p:nvSpPr>
        <p:spPr>
          <a:xfrm>
            <a:off x="1079500" y="53721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Grand Hall</a:t>
            </a:r>
          </a:p>
        </p:txBody>
      </p:sp>
      <p:sp>
        <p:nvSpPr>
          <p:cNvPr id="35" name="TextBox 34"/>
          <p:cNvSpPr txBox="1"/>
          <p:nvPr/>
        </p:nvSpPr>
        <p:spPr>
          <a:xfrm>
            <a:off x="6350000" y="53721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E24,25,26 | PDF 54,56,57</a:t>
            </a:r>
          </a:p>
        </p:txBody>
      </p:sp>
      <p:sp>
        <p:nvSpPr>
          <p:cNvPr id="36" name="TextBox 35"/>
          <p:cNvSpPr txBox="1"/>
          <p:nvPr/>
        </p:nvSpPr>
        <p:spPr>
          <a:xfrm>
            <a:off x="457200" y="57785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20</a:t>
            </a:r>
          </a:p>
        </p:txBody>
      </p:sp>
      <p:sp>
        <p:nvSpPr>
          <p:cNvPr id="37" name="TextBox 36"/>
          <p:cNvSpPr txBox="1"/>
          <p:nvPr/>
        </p:nvSpPr>
        <p:spPr>
          <a:xfrm>
            <a:off x="1079500" y="57785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Banquet Hall / Main Floor</a:t>
            </a:r>
          </a:p>
        </p:txBody>
      </p:sp>
      <p:sp>
        <p:nvSpPr>
          <p:cNvPr id="38" name="TextBox 37"/>
          <p:cNvSpPr txBox="1"/>
          <p:nvPr/>
        </p:nvSpPr>
        <p:spPr>
          <a:xfrm>
            <a:off x="6350000" y="57785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E27,28,29,30,31,51,52,53,54,55,56,57 | PDF 59,60,61,64,65,98,100,101,102,104,106,107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完整场景地图 / Atlas 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地点归并不等于同一实景；香槟塔为宴会厅子区，其余关系待勘景确认。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008</a:t>
            </a:r>
          </a:p>
        </p:txBody>
      </p:sp>
      <p:sp>
        <p:nvSpPr>
          <p:cNvPr id="9" name="TextBox 8"/>
          <p:cNvSpPr txBox="1"/>
          <p:nvPr/>
        </p:nvSpPr>
        <p:spPr>
          <a:xfrm>
            <a:off x="457200" y="21209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21</a:t>
            </a:r>
          </a:p>
        </p:txBody>
      </p:sp>
      <p:sp>
        <p:nvSpPr>
          <p:cNvPr id="10" name="TextBox 9"/>
          <p:cNvSpPr txBox="1"/>
          <p:nvPr/>
        </p:nvSpPr>
        <p:spPr>
          <a:xfrm>
            <a:off x="1079500" y="21209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Banquet / Champagne Tower</a:t>
            </a:r>
          </a:p>
        </p:txBody>
      </p:sp>
      <p:sp>
        <p:nvSpPr>
          <p:cNvPr id="11" name="TextBox 10"/>
          <p:cNvSpPr txBox="1"/>
          <p:nvPr/>
        </p:nvSpPr>
        <p:spPr>
          <a:xfrm>
            <a:off x="6350000" y="21209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E27,28,29 | PDF 59,60,61</a:t>
            </a:r>
          </a:p>
        </p:txBody>
      </p:sp>
      <p:sp>
        <p:nvSpPr>
          <p:cNvPr id="12" name="TextBox 11"/>
          <p:cNvSpPr txBox="1"/>
          <p:nvPr/>
        </p:nvSpPr>
        <p:spPr>
          <a:xfrm>
            <a:off x="457200" y="25273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22</a:t>
            </a:r>
          </a:p>
        </p:txBody>
      </p:sp>
      <p:sp>
        <p:nvSpPr>
          <p:cNvPr id="13" name="TextBox 12"/>
          <p:cNvSpPr txBox="1"/>
          <p:nvPr/>
        </p:nvSpPr>
        <p:spPr>
          <a:xfrm>
            <a:off x="1079500" y="25273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Painting Studio</a:t>
            </a:r>
          </a:p>
        </p:txBody>
      </p:sp>
      <p:sp>
        <p:nvSpPr>
          <p:cNvPr id="14" name="TextBox 13"/>
          <p:cNvSpPr txBox="1"/>
          <p:nvPr/>
        </p:nvSpPr>
        <p:spPr>
          <a:xfrm>
            <a:off x="6350000" y="25273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E32,33,34 | PDF 67,69,70,71</a:t>
            </a:r>
          </a:p>
        </p:txBody>
      </p:sp>
      <p:sp>
        <p:nvSpPr>
          <p:cNvPr id="15" name="TextBox 14"/>
          <p:cNvSpPr txBox="1"/>
          <p:nvPr/>
        </p:nvSpPr>
        <p:spPr>
          <a:xfrm>
            <a:off x="457200" y="29337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23</a:t>
            </a:r>
          </a:p>
        </p:txBody>
      </p:sp>
      <p:sp>
        <p:nvSpPr>
          <p:cNvPr id="16" name="TextBox 15"/>
          <p:cNvSpPr txBox="1"/>
          <p:nvPr/>
        </p:nvSpPr>
        <p:spPr>
          <a:xfrm>
            <a:off x="1079500" y="29337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Studio Corridor</a:t>
            </a:r>
          </a:p>
        </p:txBody>
      </p:sp>
      <p:sp>
        <p:nvSpPr>
          <p:cNvPr id="17" name="TextBox 16"/>
          <p:cNvSpPr txBox="1"/>
          <p:nvPr/>
        </p:nvSpPr>
        <p:spPr>
          <a:xfrm>
            <a:off x="6350000" y="29337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E34 | PDF 71</a:t>
            </a:r>
          </a:p>
        </p:txBody>
      </p:sp>
      <p:sp>
        <p:nvSpPr>
          <p:cNvPr id="18" name="TextBox 17"/>
          <p:cNvSpPr txBox="1"/>
          <p:nvPr/>
        </p:nvSpPr>
        <p:spPr>
          <a:xfrm>
            <a:off x="457200" y="33401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24</a:t>
            </a:r>
          </a:p>
        </p:txBody>
      </p:sp>
      <p:sp>
        <p:nvSpPr>
          <p:cNvPr id="19" name="TextBox 18"/>
          <p:cNvSpPr txBox="1"/>
          <p:nvPr/>
        </p:nvSpPr>
        <p:spPr>
          <a:xfrm>
            <a:off x="1079500" y="33401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Road / Vivian Sedan</a:t>
            </a:r>
          </a:p>
        </p:txBody>
      </p:sp>
      <p:sp>
        <p:nvSpPr>
          <p:cNvPr id="20" name="TextBox 19"/>
          <p:cNvSpPr txBox="1"/>
          <p:nvPr/>
        </p:nvSpPr>
        <p:spPr>
          <a:xfrm>
            <a:off x="6350000" y="33401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E35,36 | PDF 72,73</a:t>
            </a:r>
          </a:p>
        </p:txBody>
      </p:sp>
      <p:sp>
        <p:nvSpPr>
          <p:cNvPr id="21" name="TextBox 20"/>
          <p:cNvSpPr txBox="1"/>
          <p:nvPr/>
        </p:nvSpPr>
        <p:spPr>
          <a:xfrm>
            <a:off x="457200" y="37465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25</a:t>
            </a:r>
          </a:p>
        </p:txBody>
      </p:sp>
      <p:sp>
        <p:nvSpPr>
          <p:cNvPr id="22" name="TextBox 21"/>
          <p:cNvSpPr txBox="1"/>
          <p:nvPr/>
        </p:nvSpPr>
        <p:spPr>
          <a:xfrm>
            <a:off x="1079500" y="37465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Snowy Road</a:t>
            </a:r>
          </a:p>
        </p:txBody>
      </p:sp>
      <p:sp>
        <p:nvSpPr>
          <p:cNvPr id="23" name="TextBox 22"/>
          <p:cNvSpPr txBox="1"/>
          <p:nvPr/>
        </p:nvSpPr>
        <p:spPr>
          <a:xfrm>
            <a:off x="6350000" y="37465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E36,37 | PDF 74,76</a:t>
            </a:r>
          </a:p>
        </p:txBody>
      </p:sp>
      <p:sp>
        <p:nvSpPr>
          <p:cNvPr id="24" name="TextBox 23"/>
          <p:cNvSpPr txBox="1"/>
          <p:nvPr/>
        </p:nvSpPr>
        <p:spPr>
          <a:xfrm>
            <a:off x="457200" y="41529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26</a:t>
            </a:r>
          </a:p>
        </p:txBody>
      </p:sp>
      <p:sp>
        <p:nvSpPr>
          <p:cNvPr id="25" name="TextBox 24"/>
          <p:cNvSpPr txBox="1"/>
          <p:nvPr/>
        </p:nvSpPr>
        <p:spPr>
          <a:xfrm>
            <a:off x="1079500" y="41529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Gloria Apartment</a:t>
            </a:r>
          </a:p>
        </p:txBody>
      </p:sp>
      <p:sp>
        <p:nvSpPr>
          <p:cNvPr id="26" name="TextBox 25"/>
          <p:cNvSpPr txBox="1"/>
          <p:nvPr/>
        </p:nvSpPr>
        <p:spPr>
          <a:xfrm>
            <a:off x="6350000" y="41529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E43,46 | PDF 88,93</a:t>
            </a:r>
          </a:p>
        </p:txBody>
      </p:sp>
      <p:sp>
        <p:nvSpPr>
          <p:cNvPr id="27" name="TextBox 26"/>
          <p:cNvSpPr txBox="1"/>
          <p:nvPr/>
        </p:nvSpPr>
        <p:spPr>
          <a:xfrm>
            <a:off x="457200" y="45593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27</a:t>
            </a:r>
          </a:p>
        </p:txBody>
      </p:sp>
      <p:sp>
        <p:nvSpPr>
          <p:cNvPr id="28" name="TextBox 27"/>
          <p:cNvSpPr txBox="1"/>
          <p:nvPr/>
        </p:nvSpPr>
        <p:spPr>
          <a:xfrm>
            <a:off x="1079500" y="45593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Bridal Boutique / Window</a:t>
            </a:r>
          </a:p>
        </p:txBody>
      </p:sp>
      <p:sp>
        <p:nvSpPr>
          <p:cNvPr id="29" name="TextBox 28"/>
          <p:cNvSpPr txBox="1"/>
          <p:nvPr/>
        </p:nvSpPr>
        <p:spPr>
          <a:xfrm>
            <a:off x="6350000" y="45593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E43,44,45,46 | PDF 89,90,91,92</a:t>
            </a:r>
          </a:p>
        </p:txBody>
      </p:sp>
      <p:sp>
        <p:nvSpPr>
          <p:cNvPr id="30" name="TextBox 29"/>
          <p:cNvSpPr txBox="1"/>
          <p:nvPr/>
        </p:nvSpPr>
        <p:spPr>
          <a:xfrm>
            <a:off x="457200" y="49657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28</a:t>
            </a:r>
          </a:p>
        </p:txBody>
      </p:sp>
      <p:sp>
        <p:nvSpPr>
          <p:cNvPr id="31" name="TextBox 30"/>
          <p:cNvSpPr txBox="1"/>
          <p:nvPr/>
        </p:nvSpPr>
        <p:spPr>
          <a:xfrm>
            <a:off x="1079500" y="49657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Street Outside Apartment</a:t>
            </a:r>
          </a:p>
        </p:txBody>
      </p:sp>
      <p:sp>
        <p:nvSpPr>
          <p:cNvPr id="32" name="TextBox 31"/>
          <p:cNvSpPr txBox="1"/>
          <p:nvPr/>
        </p:nvSpPr>
        <p:spPr>
          <a:xfrm>
            <a:off x="6350000" y="49657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E46 | PDF 94</a:t>
            </a:r>
          </a:p>
        </p:txBody>
      </p:sp>
      <p:sp>
        <p:nvSpPr>
          <p:cNvPr id="33" name="TextBox 32"/>
          <p:cNvSpPr txBox="1"/>
          <p:nvPr/>
        </p:nvSpPr>
        <p:spPr>
          <a:xfrm>
            <a:off x="457200" y="53721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29</a:t>
            </a:r>
          </a:p>
        </p:txBody>
      </p:sp>
      <p:sp>
        <p:nvSpPr>
          <p:cNvPr id="34" name="TextBox 33"/>
          <p:cNvSpPr txBox="1"/>
          <p:nvPr/>
        </p:nvSpPr>
        <p:spPr>
          <a:xfrm>
            <a:off x="1079500" y="53721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Guest Room</a:t>
            </a:r>
          </a:p>
        </p:txBody>
      </p:sp>
      <p:sp>
        <p:nvSpPr>
          <p:cNvPr id="35" name="TextBox 34"/>
          <p:cNvSpPr txBox="1"/>
          <p:nvPr/>
        </p:nvSpPr>
        <p:spPr>
          <a:xfrm>
            <a:off x="6350000" y="53721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E50 | PDF 97</a:t>
            </a:r>
          </a:p>
        </p:txBody>
      </p:sp>
      <p:sp>
        <p:nvSpPr>
          <p:cNvPr id="36" name="TextBox 35"/>
          <p:cNvSpPr txBox="1"/>
          <p:nvPr/>
        </p:nvSpPr>
        <p:spPr>
          <a:xfrm>
            <a:off x="457200" y="5778500"/>
            <a:ext cx="635000" cy="381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30</a:t>
            </a:r>
          </a:p>
        </p:txBody>
      </p:sp>
      <p:sp>
        <p:nvSpPr>
          <p:cNvPr id="37" name="TextBox 36"/>
          <p:cNvSpPr txBox="1"/>
          <p:nvPr/>
        </p:nvSpPr>
        <p:spPr>
          <a:xfrm>
            <a:off x="1079500" y="5778500"/>
            <a:ext cx="5207000" cy="381000"/>
          </a:xfrm>
          <a:prstGeom prst="rect">
            <a:avLst/>
          </a:prstGeom>
          <a:noFill/>
        </p:spPr>
        <p:txBody>
          <a:bodyPr wrap="none" lIns="0" rIns="0" tIns="0" bIns="0">
            <a:spAutoFit/>
          </a:bodyPr>
          <a:lstStyle/>
          <a:p>
            <a:pPr>
              <a:lnSpc>
                <a:spcPts val="1755"/>
              </a:lnSpc>
              <a:spcBef>
                <a:spcPts val="0"/>
              </a:spcBef>
              <a:spcAft>
                <a:spcPts val="0"/>
              </a:spcAft>
              <a:defRPr sz="1300" b="0">
                <a:solidFill>
                  <a:srgbClr val="ECE9DF"/>
                </a:solidFill>
                <a:latin typeface="Noto Sans CJK SC"/>
              </a:defRPr>
            </a:pPr>
            <a:r>
              <a:t>Estate Grounds</a:t>
            </a:r>
          </a:p>
        </p:txBody>
      </p:sp>
      <p:sp>
        <p:nvSpPr>
          <p:cNvPr id="38" name="TextBox 37"/>
          <p:cNvSpPr txBox="1"/>
          <p:nvPr/>
        </p:nvSpPr>
        <p:spPr>
          <a:xfrm>
            <a:off x="6350000" y="5778500"/>
            <a:ext cx="5334000" cy="3810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E58 | PDF 109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剧本驱动的优先级 / Props Overview</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009</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P0 / 证据与近景</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股权协议＋日期＋签名＋补充页</a:t>
            </a:r>
          </a:p>
          <a:p>
            <a:pPr>
              <a:lnSpc>
                <a:spcPts val="2160"/>
              </a:lnSpc>
              <a:spcBef>
                <a:spcPts val="0"/>
              </a:spcBef>
              <a:spcAft>
                <a:spcPts val="0"/>
              </a:spcAft>
              <a:defRPr sz="1600" b="0">
                <a:solidFill>
                  <a:srgbClr val="ECE9DF"/>
                </a:solidFill>
                <a:latin typeface="Noto Sans CJK SC"/>
              </a:defRPr>
            </a:pPr>
            <a:r>
              <a:t>纽扣摄影机／个人印章</a:t>
            </a:r>
          </a:p>
          <a:p>
            <a:pPr>
              <a:lnSpc>
                <a:spcPts val="2160"/>
              </a:lnSpc>
              <a:spcBef>
                <a:spcPts val="0"/>
              </a:spcBef>
              <a:spcAft>
                <a:spcPts val="0"/>
              </a:spcAft>
              <a:defRPr sz="1600" b="0">
                <a:solidFill>
                  <a:srgbClr val="ECE9DF"/>
                </a:solidFill>
                <a:latin typeface="Noto Sans CJK SC"/>
              </a:defRPr>
            </a:pPr>
            <a:r>
              <a:t>药瓶、白片、蓝片、维C替换</a:t>
            </a:r>
          </a:p>
          <a:p>
            <a:pPr>
              <a:lnSpc>
                <a:spcPts val="2160"/>
              </a:lnSpc>
              <a:spcBef>
                <a:spcPts val="0"/>
              </a:spcBef>
              <a:spcAft>
                <a:spcPts val="0"/>
              </a:spcAft>
              <a:defRPr sz="1600" b="0">
                <a:solidFill>
                  <a:srgbClr val="ECE9DF"/>
                </a:solidFill>
                <a:latin typeface="Noto Sans CJK SC"/>
              </a:defRPr>
            </a:pPr>
            <a:r>
              <a:t>监控回放与冻结帧</a:t>
            </a:r>
          </a:p>
          <a:p>
            <a:pPr>
              <a:lnSpc>
                <a:spcPts val="2160"/>
              </a:lnSpc>
              <a:spcBef>
                <a:spcPts val="0"/>
              </a:spcBef>
              <a:spcAft>
                <a:spcPts val="0"/>
              </a:spcAft>
              <a:defRPr sz="1600" b="0">
                <a:solidFill>
                  <a:srgbClr val="ECE9DF"/>
                </a:solidFill>
                <a:latin typeface="Noto Sans CJK SC"/>
              </a:defRPr>
            </a:pPr>
            <a:r>
              <a:t>戒指、庄园钥匙、旧画</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P0 / 动作与复位</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假人轮椅／楼梯口</a:t>
            </a:r>
          </a:p>
          <a:p>
            <a:pPr>
              <a:lnSpc>
                <a:spcPts val="2160"/>
              </a:lnSpc>
              <a:spcBef>
                <a:spcPts val="0"/>
              </a:spcBef>
              <a:spcAft>
                <a:spcPts val="0"/>
              </a:spcAft>
              <a:defRPr sz="1600" b="0">
                <a:solidFill>
                  <a:srgbClr val="ECE9DF"/>
                </a:solidFill>
                <a:latin typeface="Noto Sans CJK SC"/>
              </a:defRPr>
            </a:pPr>
            <a:r>
              <a:t>治疗台、训练带、绳、垫</a:t>
            </a:r>
          </a:p>
          <a:p>
            <a:pPr>
              <a:lnSpc>
                <a:spcPts val="2160"/>
              </a:lnSpc>
              <a:spcBef>
                <a:spcPts val="0"/>
              </a:spcBef>
              <a:spcAft>
                <a:spcPts val="0"/>
              </a:spcAft>
              <a:defRPr sz="1600" b="0">
                <a:solidFill>
                  <a:srgbClr val="ECE9DF"/>
                </a:solidFill>
                <a:latin typeface="Noto Sans CJK SC"/>
              </a:defRPr>
            </a:pPr>
            <a:r>
              <a:t>市场路缘与轮椅失衡</a:t>
            </a:r>
          </a:p>
          <a:p>
            <a:pPr>
              <a:lnSpc>
                <a:spcPts val="2160"/>
              </a:lnSpc>
              <a:spcBef>
                <a:spcPts val="0"/>
              </a:spcBef>
              <a:spcAft>
                <a:spcPts val="0"/>
              </a:spcAft>
              <a:defRPr sz="1600" b="0">
                <a:solidFill>
                  <a:srgbClr val="ECE9DF"/>
                </a:solidFill>
                <a:latin typeface="Noto Sans CJK SC"/>
              </a:defRPr>
            </a:pPr>
            <a:r>
              <a:t>蛋糕、礼炮、酒液泼画</a:t>
            </a:r>
          </a:p>
          <a:p>
            <a:pPr>
              <a:lnSpc>
                <a:spcPts val="2160"/>
              </a:lnSpc>
              <a:spcBef>
                <a:spcPts val="0"/>
              </a:spcBef>
              <a:spcAft>
                <a:spcPts val="0"/>
              </a:spcAft>
              <a:defRPr sz="1600" b="0">
                <a:solidFill>
                  <a:srgbClr val="ECE9DF"/>
                </a:solidFill>
                <a:latin typeface="Noto Sans CJK SC"/>
              </a:defRPr>
            </a:pPr>
            <a:r>
              <a:t>车窗、碰撞、雪、武器效果</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P1 / 空间与生活</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日历与红圈逐日版本</a:t>
            </a:r>
          </a:p>
          <a:p>
            <a:pPr>
              <a:lnSpc>
                <a:spcPts val="2160"/>
              </a:lnSpc>
              <a:spcBef>
                <a:spcPts val="0"/>
              </a:spcBef>
              <a:spcAft>
                <a:spcPts val="0"/>
              </a:spcAft>
              <a:defRPr sz="1600" b="0">
                <a:solidFill>
                  <a:srgbClr val="ECE9DF"/>
                </a:solidFill>
                <a:latin typeface="Noto Sans CJK SC"/>
              </a:defRPr>
            </a:pPr>
            <a:r>
              <a:t>意面冷热状态、早餐、茶</a:t>
            </a:r>
          </a:p>
          <a:p>
            <a:pPr>
              <a:lnSpc>
                <a:spcPts val="2160"/>
              </a:lnSpc>
              <a:spcBef>
                <a:spcPts val="0"/>
              </a:spcBef>
              <a:spcAft>
                <a:spcPts val="0"/>
              </a:spcAft>
              <a:defRPr sz="1600" b="0">
                <a:solidFill>
                  <a:srgbClr val="ECE9DF"/>
                </a:solidFill>
                <a:latin typeface="Noto Sans CJK SC"/>
              </a:defRPr>
            </a:pPr>
            <a:r>
              <a:t>圣诞采购袋到装树物件</a:t>
            </a:r>
          </a:p>
          <a:p>
            <a:pPr>
              <a:lnSpc>
                <a:spcPts val="2160"/>
              </a:lnSpc>
              <a:spcBef>
                <a:spcPts val="0"/>
              </a:spcBef>
              <a:spcAft>
                <a:spcPts val="0"/>
              </a:spcAft>
              <a:defRPr sz="1600" b="0">
                <a:solidFill>
                  <a:srgbClr val="ECE9DF"/>
                </a:solidFill>
                <a:latin typeface="Noto Sans CJK SC"/>
              </a:defRPr>
            </a:pPr>
            <a:r>
              <a:t>服装盒与家徽图形</a:t>
            </a:r>
          </a:p>
          <a:p>
            <a:pPr>
              <a:lnSpc>
                <a:spcPts val="2160"/>
              </a:lnSpc>
              <a:spcBef>
                <a:spcPts val="0"/>
              </a:spcBef>
              <a:spcAft>
                <a:spcPts val="0"/>
              </a:spcAft>
              <a:defRPr sz="1600" b="0">
                <a:solidFill>
                  <a:srgbClr val="ECE9DF"/>
                </a:solidFill>
                <a:latin typeface="Noto Sans CJK SC"/>
              </a:defRPr>
            </a:pPr>
            <a:r>
              <a:t>房间床品／宴会长桌状态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01 / ESTATE GATE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庄园铁门／前门外</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E1,34  |  场景索引 S001, S003, S057</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010</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冷峻边界；感恩节花环之后回到夜间交易。</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入口—门柱—院内；保留进出动线。</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 · S001 · PDF 2 / E1 · S003 · PDF 2 / E34 </a:t>
            </a:r>
          </a:p>
          <a:p>
            <a:pPr>
              <a:lnSpc>
                <a:spcPts val="2025"/>
              </a:lnSpc>
              <a:spcBef>
                <a:spcPts val="0"/>
              </a:spcBef>
              <a:spcAft>
                <a:spcPts val="0"/>
              </a:spcAft>
              <a:defRPr sz="1500" b="0">
                <a:solidFill>
                  <a:srgbClr val="C4A36C"/>
                </a:solidFill>
                <a:latin typeface="Noto Sans CJK SC"/>
              </a:defRPr>
            </a:pPr>
            <a:r>
              <a:t>· S057 · PDF 72</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保留铁门；花环只用于感恩节状态</a:t>
            </a:r>
          </a:p>
          <a:p>
            <a:pPr>
              <a:lnSpc>
                <a:spcPts val="2160"/>
              </a:lnSpc>
              <a:spcBef>
                <a:spcPts val="0"/>
              </a:spcBef>
              <a:spcAft>
                <a:spcPts val="0"/>
              </a:spcAft>
              <a:defRPr sz="1600" b="0">
                <a:solidFill>
                  <a:srgbClr val="ECE9DF"/>
                </a:solidFill>
                <a:latin typeface="Noto Sans CJK SC"/>
              </a:defRPr>
            </a:pPr>
            <a:r>
              <a:t>；电话近景背景留暗。</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重排：入口—门柱—院内；保留进</a:t>
            </a:r>
          </a:p>
          <a:p>
            <a:pPr>
              <a:lnSpc>
                <a:spcPts val="2160"/>
              </a:lnSpc>
              <a:spcBef>
                <a:spcPts val="0"/>
              </a:spcBef>
              <a:spcAft>
                <a:spcPts val="0"/>
              </a:spcAft>
              <a:defRPr sz="1600" b="0">
                <a:solidFill>
                  <a:srgbClr val="ECE9DF"/>
                </a:solidFill>
                <a:latin typeface="Noto Sans CJK SC"/>
              </a:defRPr>
            </a:pPr>
            <a:r>
              <a:t>出动线。</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A001  Thanksgiving wreath</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S001 / PDF 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A002  Iron gate</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S001 / PDF 2</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A003  Résumé</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S001 / PDF 2</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S001 / PDF 2</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A005  Loan final-notice screen</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S001 / PDF 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A006  Uniform / nurse wardrobe handoff</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S003 / PDF 2,3</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013</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入口／观察位</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入口—门柱—院内</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动作／揭示位</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02 / 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书房</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E1,5,6,40,41,42,48,49  |  场景索引 S002, S004, S014, S015, S066, S068, S070, S080, S081</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014</a:t>
            </a:r>
          </a:p>
        </p:txBody>
      </p:sp>
      <p:pic>
        <p:nvPicPr>
          <p:cNvPr id="9" name="Picture 8" descr="exec-1f6e298e-5282-4e03-9fe3-b6f7d9546465.png"/>
          <p:cNvPicPr>
            <a:picLocks noChangeAspect="1"/>
          </p:cNvPicPr>
          <p:nvPr/>
        </p:nvPicPr>
        <p:blipFill>
          <a:blip r:embed="rId2"/>
          <a:srcRect l="66667" r="0" t="1852" b="68519"/>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权力、契约与策略。深木色家</a:t>
            </a:r>
          </a:p>
          <a:p>
            <a:pPr>
              <a:lnSpc>
                <a:spcPts val="3105"/>
              </a:lnSpc>
              <a:spcBef>
                <a:spcPts val="0"/>
              </a:spcBef>
              <a:spcAft>
                <a:spcPts val="0"/>
              </a:spcAft>
              <a:defRPr sz="2300" b="0">
                <a:solidFill>
                  <a:srgbClr val="ECE9DF"/>
                </a:solidFill>
                <a:latin typeface="Noto Sans CJK SC"/>
              </a:defRPr>
            </a:pPr>
            <a:r>
              <a:t>具与低照度桌面。</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租传统书桌；棋桌侧置；文件插镜</a:t>
            </a:r>
          </a:p>
          <a:p>
            <a:pPr>
              <a:lnSpc>
                <a:spcPts val="2160"/>
              </a:lnSpc>
              <a:spcBef>
                <a:spcPts val="0"/>
              </a:spcBef>
              <a:spcAft>
                <a:spcPts val="0"/>
              </a:spcAft>
              <a:defRPr sz="1600" b="0">
                <a:solidFill>
                  <a:srgbClr val="ECE9DF"/>
                </a:solidFill>
                <a:latin typeface="Noto Sans CJK SC"/>
              </a:defRPr>
            </a:pPr>
            <a:r>
              <a:t>台面留空；增加可控台灯[B]。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重排：门口窥视→书桌签字→侧面</a:t>
            </a:r>
          </a:p>
          <a:p>
            <a:pPr>
              <a:lnSpc>
                <a:spcPts val="2160"/>
              </a:lnSpc>
              <a:spcBef>
                <a:spcPts val="0"/>
              </a:spcBef>
              <a:spcAft>
                <a:spcPts val="0"/>
              </a:spcAft>
              <a:defRPr sz="1600" b="0">
                <a:solidFill>
                  <a:srgbClr val="ECE9DF"/>
                </a:solidFill>
                <a:latin typeface="Noto Sans CJK SC"/>
              </a:defRPr>
            </a:pPr>
            <a:r>
              <a:t>棋桌；桌前保留轮椅转向。</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A003  Résumé</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S002 / PDF 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 / S014 / PDF 14,15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A006  Uniform / nurse wardrobe handoff</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S004 / PDF 3</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A007  Desk</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S002 / PDF 2</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E6 / S015 / PDF 16,18</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A029  Share transfer agreement / supplemental page</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 / S014 / PDF 13,14,15</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A030  Signing pen</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 / S014 / PDF 13,14</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A031  Button camera</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 / S014 / PDF 14,15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A032  Sandwiches / plate</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 / S014 / PDF 14,15</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A033  Chess table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E6 / S015 / PDF 16</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A034  Three black chess pieces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E6 / S015 / PDF 16</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3 scripted pieces; duplicates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A069  Curtains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E40 / S066 / PDF 82</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3/3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A130  Claire handbag</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E41 / S068 / PDF 85</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A131  Irregular holdings detail</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E41 / S068 / PDF 85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A139  Northbridge purchase records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E48 / S080 / PDF 96</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019</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门口窥视</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书桌签字</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侧面棋桌</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03 / UPPER HALL / STAIR LANDING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二层走廊／楼梯口</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E1,2,14  |  场景索引 S005, S006, S029</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020</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假人恶作剧与偷听；纵深制造威胁。</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走廊长轴→楼梯口；机位侧置，跌倒区由特技确认。</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 · S005 · PDF 3 / E2 · S006 · PDF 4 / E14 </a:t>
            </a:r>
          </a:p>
          <a:p>
            <a:pPr>
              <a:lnSpc>
                <a:spcPts val="2025"/>
              </a:lnSpc>
              <a:spcBef>
                <a:spcPts val="0"/>
              </a:spcBef>
              <a:spcAft>
                <a:spcPts val="0"/>
              </a:spcAft>
              <a:defRPr sz="1500" b="0">
                <a:solidFill>
                  <a:srgbClr val="C4A36C"/>
                </a:solidFill>
                <a:latin typeface="Noto Sans CJK SC"/>
              </a:defRPr>
            </a:pPr>
            <a:r>
              <a:t>· S029 · PDF 33</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UPPER HALL / STAIR LANDING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撤除动线边桌；楼梯口铺设可撤保</a:t>
            </a:r>
          </a:p>
          <a:p>
            <a:pPr>
              <a:lnSpc>
                <a:spcPts val="2160"/>
              </a:lnSpc>
              <a:spcBef>
                <a:spcPts val="0"/>
              </a:spcBef>
              <a:spcAft>
                <a:spcPts val="0"/>
              </a:spcAft>
              <a:defRPr sz="1600" b="0">
                <a:solidFill>
                  <a:srgbClr val="ECE9DF"/>
                </a:solidFill>
                <a:latin typeface="Noto Sans CJK SC"/>
              </a:defRPr>
            </a:pPr>
            <a:r>
              <a:t>护；假人轮椅与主轮椅分开管理[B</a:t>
            </a:r>
          </a:p>
          <a:p>
            <a:pPr>
              <a:lnSpc>
                <a:spcPts val="2160"/>
              </a:lnSpc>
              <a:spcBef>
                <a:spcPts val="0"/>
              </a:spcBef>
              <a:spcAft>
                <a:spcPts val="0"/>
              </a:spcAft>
              <a:defRPr sz="1600" b="0">
                <a:solidFill>
                  <a:srgbClr val="ECE9DF"/>
                </a:solidFill>
                <a:latin typeface="Noto Sans CJK SC"/>
              </a:defRPr>
            </a:pPr>
            <a:r>
              <a:t>]。</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重排：走廊长轴→楼梯口；机位侧</a:t>
            </a:r>
          </a:p>
          <a:p>
            <a:pPr>
              <a:lnSpc>
                <a:spcPts val="2160"/>
              </a:lnSpc>
              <a:spcBef>
                <a:spcPts val="0"/>
              </a:spcBef>
              <a:spcAft>
                <a:spcPts val="0"/>
              </a:spcAft>
              <a:defRPr sz="1600" b="0">
                <a:solidFill>
                  <a:srgbClr val="ECE9DF"/>
                </a:solidFill>
                <a:latin typeface="Noto Sans CJK SC"/>
              </a:defRPr>
            </a:pPr>
            <a:r>
              <a:t>置，跌倒区由特技确认。</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UPPER HALL / STAIR LANDING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S029 / PDF 33</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A006  Uniform / nurse wardrobe handoff</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S005 / PDF 3</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S005 / PDF 3,4</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A009  Blanket</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S005 / PDF 3,4</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A010  Plastic mannequin / detachable arm</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S005 / PDF 3,4</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A011  Checks — dismissal / bribe</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 / S005 / PDF 4</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UPPER HALL / STAIR LANDING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023</a:t>
            </a:r>
          </a:p>
        </p:txBody>
      </p:sp>
      <p:sp>
        <p:nvSpPr>
          <p:cNvPr id="9" name="Rectangle 8"/>
          <p:cNvSpPr/>
          <p:nvPr/>
        </p:nvSpPr>
        <p:spPr>
          <a:xfrm>
            <a:off x="635000" y="2540000"/>
            <a:ext cx="4978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4648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走廊长轴</a:t>
            </a:r>
          </a:p>
        </p:txBody>
      </p:sp>
      <p:sp>
        <p:nvSpPr>
          <p:cNvPr id="11" name="TextBox 10"/>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5969000" y="2540000"/>
            <a:ext cx="4978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4100" y="2755900"/>
            <a:ext cx="4648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楼梯口</a:t>
            </a:r>
          </a:p>
        </p:txBody>
      </p:sp>
      <p:sp>
        <p:nvSpPr>
          <p:cNvPr id="14" name="TextBox 13"/>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04 / 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客厅／日历区</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E2,3,4,18,40,42  |  场景索引 S007, S008, S009, S010, S013, S035, S067, S069, S071</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024</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从评估到公开决裂；日历是时间锚点。</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书房门→沙发／茶几→前门视线；日历独立插镜面。</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E2 · S007 · PDF 6 / E3 · S008 · PDF 7 / E4 </a:t>
            </a:r>
          </a:p>
          <a:p>
            <a:pPr>
              <a:lnSpc>
                <a:spcPts val="2025"/>
              </a:lnSpc>
              <a:spcBef>
                <a:spcPts val="0"/>
              </a:spcBef>
              <a:spcAft>
                <a:spcPts val="0"/>
              </a:spcAft>
              <a:defRPr sz="1500" b="0">
                <a:solidFill>
                  <a:srgbClr val="C4A36C"/>
                </a:solidFill>
                <a:latin typeface="Noto Sans CJK SC"/>
              </a:defRPr>
            </a:pPr>
            <a:r>
              <a:t>· S009 · PDF 10 / E4 · S010 · PDF 11 / E4 · </a:t>
            </a:r>
          </a:p>
          <a:p>
            <a:pPr>
              <a:lnSpc>
                <a:spcPts val="2025"/>
              </a:lnSpc>
              <a:spcBef>
                <a:spcPts val="0"/>
              </a:spcBef>
              <a:spcAft>
                <a:spcPts val="0"/>
              </a:spcAft>
              <a:defRPr sz="1500" b="0">
                <a:solidFill>
                  <a:srgbClr val="C4A36C"/>
                </a:solidFill>
                <a:latin typeface="Noto Sans CJK SC"/>
              </a:defRPr>
            </a:pPr>
            <a:r>
              <a:t>S013 · PDF 12</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保留壁炉日历位置；皮沙发与茶几</a:t>
            </a:r>
          </a:p>
          <a:p>
            <a:pPr>
              <a:lnSpc>
                <a:spcPts val="2160"/>
              </a:lnSpc>
              <a:spcBef>
                <a:spcPts val="0"/>
              </a:spcBef>
              <a:spcAft>
                <a:spcPts val="0"/>
              </a:spcAft>
              <a:defRPr sz="1600" b="0">
                <a:solidFill>
                  <a:srgbClr val="ECE9DF"/>
                </a:solidFill>
                <a:latin typeface="Noto Sans CJK SC"/>
              </a:defRPr>
            </a:pPr>
            <a:r>
              <a:t>支持E40；清出轮椅通道。</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重排：书房门→沙发／茶几→前门</a:t>
            </a:r>
          </a:p>
          <a:p>
            <a:pPr>
              <a:lnSpc>
                <a:spcPts val="2160"/>
              </a:lnSpc>
              <a:spcBef>
                <a:spcPts val="0"/>
              </a:spcBef>
              <a:spcAft>
                <a:spcPts val="0"/>
              </a:spcAft>
              <a:defRPr sz="1600" b="0">
                <a:solidFill>
                  <a:srgbClr val="ECE9DF"/>
                </a:solidFill>
                <a:latin typeface="Noto Sans CJK SC"/>
              </a:defRPr>
            </a:pPr>
            <a:r>
              <a:t>视线；日历独立插镜面。</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E18 / S035 / PDF 45</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 / S007 / PDF 6,7</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A012  Calendar / evolving red circles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 / S007 / PDF 6,7</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A013  Red marker</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 / S007 / PDF 6</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A014  Fireplace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 / S007 / PDF 6</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A015  Clipboard</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 / S008 / PDF 8,9</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A016  Training counter / number inserts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A017  Apron</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A018  Vegetables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A019  Pesto pasta / hot and cold plates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11,12</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A020  Dining table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A022  Wiping rag</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S013 / PDF 12</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3/4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A023  Training log / log sheet</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S013 / PDF 13</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A024  Watch</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A025  Window / blinds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A029  Share transfer agreement / supplemental page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 / S008 / PDF 9</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A075  Manila envelope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E18 / S035 / PDF 42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A076  University disciplinary notice</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E18 / S035 / PDF 42,44</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4/4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029</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A077  Anonymous texts / remote address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E18 / S035 / PDF 45</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A122  Front door / latch</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E42 / S071 / PDF 88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A127  Leather sofa</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E40 / S067 / PDF 83</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A128  Teacups / Darjeeling tea / milk</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E40 / S067 / PDF 83</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A129  Coffee table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E40 / S067 / PDF 83</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LIVING ROOM / CALENDAR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030</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书房门</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沙发／茶几</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前门视线</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05 / OPEN KITCHEN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开放厨房</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E4,39  |  场景索引 S009, S010, S013, S064</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031</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食物唤回记忆；后期早餐成为关系温暖面。</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轮椅停门口→餐桌；早餐环抱位置避开热锅[B]。</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E4 · S009 · PDF 10 / E4 · S010 · PDF 11 / E4 </a:t>
            </a:r>
          </a:p>
          <a:p>
            <a:pPr>
              <a:lnSpc>
                <a:spcPts val="2025"/>
              </a:lnSpc>
              <a:spcBef>
                <a:spcPts val="0"/>
              </a:spcBef>
              <a:spcAft>
                <a:spcPts val="0"/>
              </a:spcAft>
              <a:defRPr sz="1500" b="0">
                <a:solidFill>
                  <a:srgbClr val="C4A36C"/>
                </a:solidFill>
                <a:latin typeface="Noto Sans CJK SC"/>
              </a:defRPr>
            </a:pPr>
            <a:r>
              <a:t>· S013 · PDF 12 / E39 · S064 · PDF 80</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OPEN KITCHEN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032</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撤台面杂物；按洗菜—备菜—烹饪</a:t>
            </a:r>
          </a:p>
          <a:p>
            <a:pPr>
              <a:lnSpc>
                <a:spcPts val="2160"/>
              </a:lnSpc>
              <a:spcBef>
                <a:spcPts val="0"/>
              </a:spcBef>
              <a:spcAft>
                <a:spcPts val="0"/>
              </a:spcAft>
              <a:defRPr sz="1600" b="0">
                <a:solidFill>
                  <a:srgbClr val="ECE9DF"/>
                </a:solidFill>
                <a:latin typeface="Noto Sans CJK SC"/>
              </a:defRPr>
            </a:pPr>
            <a:r>
              <a:t>连续排列；炉灶设可控实用效果[B</a:t>
            </a:r>
          </a:p>
          <a:p>
            <a:pPr>
              <a:lnSpc>
                <a:spcPts val="2160"/>
              </a:lnSpc>
              <a:spcBef>
                <a:spcPts val="0"/>
              </a:spcBef>
              <a:spcAft>
                <a:spcPts val="0"/>
              </a:spcAft>
              <a:defRPr sz="1600" b="0">
                <a:solidFill>
                  <a:srgbClr val="ECE9DF"/>
                </a:solidFill>
                <a:latin typeface="Noto Sans CJK SC"/>
              </a:defRPr>
            </a:pPr>
            <a:r>
              <a:t>]。</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重排：轮椅停门口→餐桌；早餐环</a:t>
            </a:r>
          </a:p>
          <a:p>
            <a:pPr>
              <a:lnSpc>
                <a:spcPts val="2160"/>
              </a:lnSpc>
              <a:spcBef>
                <a:spcPts val="0"/>
              </a:spcBef>
              <a:spcAft>
                <a:spcPts val="0"/>
              </a:spcAft>
              <a:defRPr sz="1600" b="0">
                <a:solidFill>
                  <a:srgbClr val="ECE9DF"/>
                </a:solidFill>
                <a:latin typeface="Noto Sans CJK SC"/>
              </a:defRPr>
            </a:pPr>
            <a:r>
              <a:t>抱位置避开热锅[B]。</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OPEN KITCHEN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033</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10,11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A016  Training counter / number inserts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A017  Apron</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A018  Vegetables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A019  Pesto pasta / hot and cold plates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11,12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A020  Dining table</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OPEN KITCHEN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034</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A022  Wiping rag</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S013 / PDF 12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A023  Training log / log sheet</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S013 / PDF 13</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A024  Watch</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A025  Window / blinds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S010 / PDF 11</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A125  Eggs / frying pan / breakfast</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E39 / S064 / PDF 80</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OPEN KITCHEN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035</a:t>
            </a:r>
          </a:p>
        </p:txBody>
      </p:sp>
      <p:sp>
        <p:nvSpPr>
          <p:cNvPr id="9" name="Rectangle 8"/>
          <p:cNvSpPr/>
          <p:nvPr/>
        </p:nvSpPr>
        <p:spPr>
          <a:xfrm>
            <a:off x="635000" y="2540000"/>
            <a:ext cx="4978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4648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轮椅停门口</a:t>
            </a:r>
          </a:p>
        </p:txBody>
      </p:sp>
      <p:sp>
        <p:nvSpPr>
          <p:cNvPr id="11" name="TextBox 10"/>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5969000" y="2540000"/>
            <a:ext cx="4978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4100" y="2755900"/>
            <a:ext cx="4648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餐桌</a:t>
            </a:r>
          </a:p>
        </p:txBody>
      </p:sp>
      <p:sp>
        <p:nvSpPr>
          <p:cNvPr id="14" name="TextBox 13"/>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06 / DINING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餐厅</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E4  |  场景索引 S009, S011</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036</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同一餐厅的母亲记忆与当下训练。</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厨房→餐桌→轮椅停位；冷／热意面状态分开。</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E4 · S009 · PDF 10 / E4 · S011 · PDF 12</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DINING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037</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保留同款餐桌、餐盘；闪回暖黄／</a:t>
            </a:r>
          </a:p>
          <a:p>
            <a:pPr>
              <a:lnSpc>
                <a:spcPts val="2160"/>
              </a:lnSpc>
              <a:spcBef>
                <a:spcPts val="0"/>
              </a:spcBef>
              <a:spcAft>
                <a:spcPts val="0"/>
              </a:spcAft>
              <a:defRPr sz="1600" b="0">
                <a:solidFill>
                  <a:srgbClr val="ECE9DF"/>
                </a:solidFill>
                <a:latin typeface="Noto Sans CJK SC"/>
              </a:defRPr>
            </a:pPr>
            <a:r>
              <a:t>现在冷白；通道不能靠额外家具填</a:t>
            </a:r>
          </a:p>
          <a:p>
            <a:pPr>
              <a:lnSpc>
                <a:spcPts val="2160"/>
              </a:lnSpc>
              <a:spcBef>
                <a:spcPts val="0"/>
              </a:spcBef>
              <a:spcAft>
                <a:spcPts val="0"/>
              </a:spcAft>
              <a:defRPr sz="1600" b="0">
                <a:solidFill>
                  <a:srgbClr val="ECE9DF"/>
                </a:solidFill>
                <a:latin typeface="Noto Sans CJK SC"/>
              </a:defRPr>
            </a:pPr>
            <a:r>
              <a:t>满。</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重排：厨房→餐桌→轮椅停位；冷</a:t>
            </a:r>
          </a:p>
          <a:p>
            <a:pPr>
              <a:lnSpc>
                <a:spcPts val="2160"/>
              </a:lnSpc>
              <a:spcBef>
                <a:spcPts val="0"/>
              </a:spcBef>
              <a:spcAft>
                <a:spcPts val="0"/>
              </a:spcAft>
              <a:defRPr sz="1600" b="0">
                <a:solidFill>
                  <a:srgbClr val="ECE9DF"/>
                </a:solidFill>
                <a:latin typeface="Noto Sans CJK SC"/>
              </a:defRPr>
            </a:pPr>
            <a:r>
              <a:t>／热意面状态分开。</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DINING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10,11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A016  Training counter / number inserts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A017  Apron</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A018  Vegetables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S009 / PDF 11</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A019  Pesto pasta / hot and cold plates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S011 / PDF 12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DINING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039</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厨房</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餐桌</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轮椅停位</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07 / ACCIDENT ROAD — FLASHBACK</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事故道路／闪回</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E4  |  场景索引 S012</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040</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创伤闪回；强车灯、翻覆车与玻璃。</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车体→母亲位置→Bryce爬行线；救援通道另留[B]。</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E4 · S012 · PDF 12</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ACCIDENT ROAD — FLASHBACK</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车辆／玻璃／血迹均交特技与特效</a:t>
            </a:r>
          </a:p>
          <a:p>
            <a:pPr>
              <a:lnSpc>
                <a:spcPts val="2160"/>
              </a:lnSpc>
              <a:spcBef>
                <a:spcPts val="0"/>
              </a:spcBef>
              <a:spcAft>
                <a:spcPts val="0"/>
              </a:spcAft>
              <a:defRPr sz="1600" b="0">
                <a:solidFill>
                  <a:srgbClr val="ECE9DF"/>
                </a:solidFill>
                <a:latin typeface="Noto Sans CJK SC"/>
              </a:defRPr>
            </a:pPr>
            <a:r>
              <a:t>；美术负责地表状态拍照。</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重排：车体→母亲位置→Bryce爬</a:t>
            </a:r>
          </a:p>
          <a:p>
            <a:pPr>
              <a:lnSpc>
                <a:spcPts val="2160"/>
              </a:lnSpc>
              <a:spcBef>
                <a:spcPts val="0"/>
              </a:spcBef>
              <a:spcAft>
                <a:spcPts val="0"/>
              </a:spcAft>
              <a:defRPr sz="1600" b="0">
                <a:solidFill>
                  <a:srgbClr val="ECE9DF"/>
                </a:solidFill>
                <a:latin typeface="Noto Sans CJK SC"/>
              </a:defRPr>
            </a:pPr>
            <a:r>
              <a:t>行线；救援通道另留[B]。</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ACCIDENT ROAD — FLASHBACK</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A026  Overturned accident car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S012 / PDF 12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A027  Broken glass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S012 / PDF 12</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A028  Blood dressing</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 / S012 / PDF 12</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ACCIDENT ROAD — FLASHBACK</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043</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车体</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母亲位置</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Bryce爬行线</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08 / 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康复室</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E7,8,11,12,13,52  |  场景索引 S016, S017, S025, S026, S027, S085</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044</a:t>
            </a:r>
          </a:p>
        </p:txBody>
      </p:sp>
      <p:pic>
        <p:nvPicPr>
          <p:cNvPr id="9" name="Picture 8" descr="exec-1f6e298e-5282-4e03-9fe3-b6f7d9546465.png"/>
          <p:cNvPicPr>
            <a:picLocks noChangeAspect="1"/>
          </p:cNvPicPr>
          <p:nvPr/>
        </p:nvPicPr>
        <p:blipFill>
          <a:blip r:embed="rId2"/>
          <a:srcRect l="33333" r="33333" t="1852" b="68519"/>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训练进步与药物阴谋；庄园建</a:t>
            </a:r>
          </a:p>
          <a:p>
            <a:pPr>
              <a:lnSpc>
                <a:spcPts val="3105"/>
              </a:lnSpc>
              <a:spcBef>
                <a:spcPts val="0"/>
              </a:spcBef>
              <a:spcAft>
                <a:spcPts val="0"/>
              </a:spcAft>
              <a:defRPr sz="2300" b="0">
                <a:solidFill>
                  <a:srgbClr val="ECE9DF"/>
                </a:solidFill>
                <a:latin typeface="Noto Sans CJK SC"/>
              </a:defRPr>
            </a:pPr>
            <a:r>
              <a:t>筑中嵌入治疗功能。</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治疗台靠侧墙；阻力训练、转移、</a:t>
            </a:r>
          </a:p>
          <a:p>
            <a:pPr>
              <a:lnSpc>
                <a:spcPts val="2160"/>
              </a:lnSpc>
              <a:spcBef>
                <a:spcPts val="0"/>
              </a:spcBef>
              <a:spcAft>
                <a:spcPts val="0"/>
              </a:spcAft>
              <a:defRPr sz="1600" b="0">
                <a:solidFill>
                  <a:srgbClr val="ECE9DF"/>
                </a:solidFill>
                <a:latin typeface="Noto Sans CJK SC"/>
              </a:defRPr>
            </a:pPr>
            <a:r>
              <a:t>跌落区分开；不要添加无关大型器</a:t>
            </a:r>
          </a:p>
          <a:p>
            <a:pPr>
              <a:lnSpc>
                <a:spcPts val="2160"/>
              </a:lnSpc>
              <a:spcBef>
                <a:spcPts val="0"/>
              </a:spcBef>
              <a:spcAft>
                <a:spcPts val="0"/>
              </a:spcAft>
              <a:defRPr sz="1600" b="0">
                <a:solidFill>
                  <a:srgbClr val="ECE9DF"/>
                </a:solidFill>
                <a:latin typeface="Noto Sans CJK SC"/>
              </a:defRPr>
            </a:pPr>
            <a:r>
              <a:t>械。</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重排：轮椅→治疗台→垫子；门、</a:t>
            </a:r>
          </a:p>
          <a:p>
            <a:pPr>
              <a:lnSpc>
                <a:spcPts val="2160"/>
              </a:lnSpc>
              <a:spcBef>
                <a:spcPts val="0"/>
              </a:spcBef>
              <a:spcAft>
                <a:spcPts val="0"/>
              </a:spcAft>
              <a:defRPr sz="1600" b="0">
                <a:solidFill>
                  <a:srgbClr val="ECE9DF"/>
                </a:solidFill>
                <a:latin typeface="Noto Sans CJK SC"/>
              </a:defRPr>
            </a:pPr>
            <a:r>
              <a:t>药杯台脚、监控轴线固定。</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E13 / S027 / PDF 32,33</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18,19,20</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A012  Calendar / evolving red circles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18,19,20</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A015  Clipboard</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E8 / S017 / PDF 21</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A023  Training log / log sheet</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S025 / PDF 27,28</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A027  Broken glass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E13 / S027 / PDF 31,32</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A035  Resistance band</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18</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A036  Training / treatment table</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18,19</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A037  Reach target</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18</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A038  Training / safety belt</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19,20</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A039  Safety rope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19,20</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A040  Training mat</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E7 / S016 / PDF 19</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3/4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A041  Market flyer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E8 / S017 / PDF 21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A056  Dark medical bag / kit</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S025 / PDF 27</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A057  Pill bottles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S025 / PDF 28</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A058  White pills / dropped pills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E12 / S026 / PDF 29</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A059  Pill cup</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E12 / S026 / PDF 29,30</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A060  Water glass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E12 / S026 / PDF 30</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4/4</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049</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A061  Tissue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E13 / S027 / PDF 32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A062  Medication photo / WhatsApp chat</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E13 / S027 / PDF 32</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050</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治疗台</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垫子</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09 / CHRISTMAS MARKET / ENTRANCE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圣诞市场入口</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E8  |  场景索引 S018</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051</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进入公共空间的心理门槛。</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街外停位→拱门→主街；路人擦身点单独排练。</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E8 · S018 · PDF 21</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ENTRANCE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052</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木质拱门与暖灯串；控制群演密度</a:t>
            </a:r>
          </a:p>
          <a:p>
            <a:pPr>
              <a:lnSpc>
                <a:spcPts val="2160"/>
              </a:lnSpc>
              <a:spcBef>
                <a:spcPts val="0"/>
              </a:spcBef>
              <a:spcAft>
                <a:spcPts val="0"/>
              </a:spcAft>
              <a:defRPr sz="1600" b="0">
                <a:solidFill>
                  <a:srgbClr val="ECE9DF"/>
                </a:solidFill>
                <a:latin typeface="Noto Sans CJK SC"/>
              </a:defRPr>
            </a:pPr>
            <a:r>
              <a:t>；入口留轮椅路线。</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重排：街外停位→拱门→主街；路</a:t>
            </a:r>
          </a:p>
          <a:p>
            <a:pPr>
              <a:lnSpc>
                <a:spcPts val="2160"/>
              </a:lnSpc>
              <a:spcBef>
                <a:spcPts val="0"/>
              </a:spcBef>
              <a:spcAft>
                <a:spcPts val="0"/>
              </a:spcAft>
              <a:defRPr sz="1600" b="0">
                <a:solidFill>
                  <a:srgbClr val="ECE9DF"/>
                </a:solidFill>
                <a:latin typeface="Noto Sans CJK SC"/>
              </a:defRPr>
            </a:pPr>
            <a:r>
              <a:t>人擦身点单独排练。</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ENTRANCE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053</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E8 / S018 / PDF 21,22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A042  Market archway</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E8 / S018 / PDF 21</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A043  String lights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E8 / S018 / PDF 21,22</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ENTRANCE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054</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街外停位</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拱门</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主街</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10 / CHRISTMAS MARKET / STREET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圣诞市场主街</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E9,10,58,59  |  场景索引 S019, S021, S022, S093, S094</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055</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冬夜浪漫与最终和解；不扩大为豪华节庆。</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摊位→路缘→人群通道；结尾行李箱与手杖双人停位。</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E9 · S019 · PDF 22 / E10 · S021 · PDF 23 / E</a:t>
            </a:r>
          </a:p>
          <a:p>
            <a:pPr>
              <a:lnSpc>
                <a:spcPts val="2025"/>
              </a:lnSpc>
              <a:spcBef>
                <a:spcPts val="0"/>
              </a:spcBef>
              <a:spcAft>
                <a:spcPts val="0"/>
              </a:spcAft>
              <a:defRPr sz="1500" b="0">
                <a:solidFill>
                  <a:srgbClr val="C4A36C"/>
                </a:solidFill>
                <a:latin typeface="Noto Sans CJK SC"/>
              </a:defRPr>
            </a:pPr>
            <a:r>
              <a:t>10 · S022 · PDF 24 / E58 · S093 · PDF 109 / </a:t>
            </a:r>
          </a:p>
          <a:p>
            <a:pPr>
              <a:lnSpc>
                <a:spcPts val="2025"/>
              </a:lnSpc>
              <a:spcBef>
                <a:spcPts val="0"/>
              </a:spcBef>
              <a:spcAft>
                <a:spcPts val="0"/>
              </a:spcAft>
              <a:defRPr sz="1500" b="0">
                <a:solidFill>
                  <a:srgbClr val="C4A36C"/>
                </a:solidFill>
                <a:latin typeface="Noto Sans CJK SC"/>
              </a:defRPr>
            </a:pPr>
            <a:r>
              <a:t>E59 · S094 · PDF 110</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STREET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056</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建议少量木摊与绿枝[B]；首访与</a:t>
            </a:r>
          </a:p>
          <a:p>
            <a:pPr>
              <a:lnSpc>
                <a:spcPts val="2160"/>
              </a:lnSpc>
              <a:spcBef>
                <a:spcPts val="0"/>
              </a:spcBef>
              <a:spcAft>
                <a:spcPts val="0"/>
              </a:spcAft>
              <a:defRPr sz="1600" b="0">
                <a:solidFill>
                  <a:srgbClr val="ECE9DF"/>
                </a:solidFill>
                <a:latin typeface="Noto Sans CJK SC"/>
              </a:defRPr>
            </a:pPr>
            <a:r>
              <a:t>结尾保持建筑位置；结尾雪与灯光</a:t>
            </a:r>
          </a:p>
          <a:p>
            <a:pPr>
              <a:lnSpc>
                <a:spcPts val="2160"/>
              </a:lnSpc>
              <a:spcBef>
                <a:spcPts val="0"/>
              </a:spcBef>
              <a:spcAft>
                <a:spcPts val="0"/>
              </a:spcAft>
              <a:defRPr sz="1600" b="0">
                <a:solidFill>
                  <a:srgbClr val="ECE9DF"/>
                </a:solidFill>
                <a:latin typeface="Noto Sans CJK SC"/>
              </a:defRPr>
            </a:pPr>
            <a:r>
              <a:t>另建状态。</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重排：摊位→路缘→人群通道；结</a:t>
            </a:r>
          </a:p>
          <a:p>
            <a:pPr>
              <a:lnSpc>
                <a:spcPts val="2160"/>
              </a:lnSpc>
              <a:spcBef>
                <a:spcPts val="0"/>
              </a:spcBef>
              <a:spcAft>
                <a:spcPts val="0"/>
              </a:spcAft>
              <a:defRPr sz="1600" b="0">
                <a:solidFill>
                  <a:srgbClr val="ECE9DF"/>
                </a:solidFill>
                <a:latin typeface="Noto Sans CJK SC"/>
              </a:defRPr>
            </a:pPr>
            <a:r>
              <a:t>尾行李箱与手杖双人停位。</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STREET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S019 / PDF 22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S019 / PDF 22</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A047  Light-up reindeer hats / antler headband</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E10 / S022 / PDF 24,25</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2 hats in E9–10; headband continuity to confirm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A048  Market curb</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E10 / S022 / PDF 25</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A049  Shopping bags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E10 / S022 / PDF 24,25</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A121  Snow / wheel tracks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E59 / S094 / PDF 110,112</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STREET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A132  Suitcase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E58 / S093 / PDF 109,110</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A151  Cane</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E58 / S093 / PDF 109,110</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MARKET / STREET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059</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摊位</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路缘</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人群通道</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11 / CHRISTMAS DECORATION STALL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圣诞装饰摊</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E9  |  场景索引 S020</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060</a:t>
            </a:r>
          </a:p>
        </p:txBody>
      </p:sp>
      <p:pic>
        <p:nvPicPr>
          <p:cNvPr id="9" name="Picture 8" descr="exec-1f6e298e-5282-4e03-9fe3-b6f7d9546465.png"/>
          <p:cNvPicPr>
            <a:picLocks noChangeAspect="1"/>
          </p:cNvPicPr>
          <p:nvPr/>
        </p:nvPicPr>
        <p:blipFill>
          <a:blip r:embed="rId2"/>
          <a:srcRect r="66667" t="35185" b="35185"/>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购买装饰并触发轮椅失衡。</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DECORATION STALL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采购低价真实货品；篮筐可拥抱；</a:t>
            </a:r>
          </a:p>
          <a:p>
            <a:pPr>
              <a:lnSpc>
                <a:spcPts val="2160"/>
              </a:lnSpc>
              <a:spcBef>
                <a:spcPts val="0"/>
              </a:spcBef>
              <a:spcAft>
                <a:spcPts val="0"/>
              </a:spcAft>
              <a:defRPr sz="1600" b="0">
                <a:solidFill>
                  <a:srgbClr val="ECE9DF"/>
                </a:solidFill>
                <a:latin typeface="Noto Sans CJK SC"/>
              </a:defRPr>
            </a:pPr>
            <a:r>
              <a:t>星星、灯串、两顶发光驯鹿帽放演</a:t>
            </a:r>
          </a:p>
          <a:p>
            <a:pPr>
              <a:lnSpc>
                <a:spcPts val="2160"/>
              </a:lnSpc>
              <a:spcBef>
                <a:spcPts val="0"/>
              </a:spcBef>
              <a:spcAft>
                <a:spcPts val="0"/>
              </a:spcAft>
              <a:defRPr sz="1600" b="0">
                <a:solidFill>
                  <a:srgbClr val="ECE9DF"/>
                </a:solidFill>
                <a:latin typeface="Noto Sans CJK SC"/>
              </a:defRPr>
            </a:pPr>
            <a:r>
              <a:t>员可取层。</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重排：货架→购物篮→后退路缘；</a:t>
            </a:r>
          </a:p>
          <a:p>
            <a:pPr>
              <a:lnSpc>
                <a:spcPts val="2160"/>
              </a:lnSpc>
              <a:spcBef>
                <a:spcPts val="0"/>
              </a:spcBef>
              <a:spcAft>
                <a:spcPts val="0"/>
              </a:spcAft>
              <a:defRPr sz="1600" b="0">
                <a:solidFill>
                  <a:srgbClr val="ECE9DF"/>
                </a:solidFill>
                <a:latin typeface="Noto Sans CJK SC"/>
              </a:defRPr>
            </a:pPr>
            <a:r>
              <a:t>失衡动作须特技确认。</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DECORATION STALL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22,23</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A043  String lights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22</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A044  Shopping basket</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22</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A045  Merchandise shelf / storage shelf</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22</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A046  Gold tree-topper star</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A047  Light-up reindeer hats / antler headband</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23</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2 hats in E9–10; headband continuity to confirm  | P0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DECORATION STALL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063</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A048  Market curb</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E9 / S020 / PDF 23</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CHRISTMAS DECORATION STALL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064</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货架</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购物篮</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后退路缘</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12 / ESTATE STORAGE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储藏室</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E11  |  场景索引 S023</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065</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被锁起的创伤；灰尘画布对比金色饰球。</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门→货架→散纸→抽屉；轮椅门口反打。</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E11 · S023 · PDF 25</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STORAGE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066</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旧画叠放须可重复倒下；抽屉锁与</a:t>
            </a:r>
          </a:p>
          <a:p>
            <a:pPr>
              <a:lnSpc>
                <a:spcPts val="2160"/>
              </a:lnSpc>
              <a:spcBef>
                <a:spcPts val="0"/>
              </a:spcBef>
              <a:spcAft>
                <a:spcPts val="0"/>
              </a:spcAft>
              <a:defRPr sz="1600" b="0">
                <a:solidFill>
                  <a:srgbClr val="ECE9DF"/>
                </a:solidFill>
                <a:latin typeface="Noto Sans CJK SC"/>
              </a:defRPr>
            </a:pPr>
            <a:r>
              <a:t>钥匙可操作；局部灰尘可控[B]。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重排：门→货架→散纸→抽屉；轮</a:t>
            </a:r>
          </a:p>
          <a:p>
            <a:pPr>
              <a:lnSpc>
                <a:spcPts val="2160"/>
              </a:lnSpc>
              <a:spcBef>
                <a:spcPts val="0"/>
              </a:spcBef>
              <a:spcAft>
                <a:spcPts val="0"/>
              </a:spcAft>
              <a:defRPr sz="1600" b="0">
                <a:solidFill>
                  <a:srgbClr val="ECE9DF"/>
                </a:solidFill>
                <a:latin typeface="Noto Sans CJK SC"/>
              </a:defRPr>
            </a:pPr>
            <a:r>
              <a:t>椅门口反打。</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STORAGE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25,26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A045  Merchandise shelf / storage shelf</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A049  Shopping bags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25</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A050  Ornament box</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25</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A051  Trauma canvases / drawings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25</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A052  Black sketchbook</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25,26</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STORAGE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A053  Lockable drawer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S023 / PDF 26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STORAGE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069</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门</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货架</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散纸</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抽屉</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13 / HALL OUTSIDE STORAGE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储藏室外走廊</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E11  |  场景索引 S024</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070</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钥匙在手心留下痕迹的静默转折。</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储藏室门→轮椅停位→离开长轴；钥匙插镜。</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E11 · S024 · PDF 26</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HALL OUTSIDE STORAGE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门缝光保持与储藏室一致；走廊撤</a:t>
            </a:r>
          </a:p>
          <a:p>
            <a:pPr>
              <a:lnSpc>
                <a:spcPts val="2160"/>
              </a:lnSpc>
              <a:spcBef>
                <a:spcPts val="0"/>
              </a:spcBef>
              <a:spcAft>
                <a:spcPts val="0"/>
              </a:spcAft>
              <a:defRPr sz="1600" b="0">
                <a:solidFill>
                  <a:srgbClr val="ECE9DF"/>
                </a:solidFill>
                <a:latin typeface="Noto Sans CJK SC"/>
              </a:defRPr>
            </a:pPr>
            <a:r>
              <a:t>杂物；不新增故事道具。</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重排：储藏室门→轮椅停位→离开</a:t>
            </a:r>
          </a:p>
          <a:p>
            <a:pPr>
              <a:lnSpc>
                <a:spcPts val="2160"/>
              </a:lnSpc>
              <a:spcBef>
                <a:spcPts val="0"/>
              </a:spcBef>
              <a:spcAft>
                <a:spcPts val="0"/>
              </a:spcAft>
              <a:defRPr sz="1600" b="0">
                <a:solidFill>
                  <a:srgbClr val="ECE9DF"/>
                </a:solidFill>
                <a:latin typeface="Noto Sans CJK SC"/>
              </a:defRPr>
            </a:pPr>
            <a:r>
              <a:t>长轴；钥匙插镜。</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HALL OUTSIDE STORAGE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S024 / PDF 26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A053  Lockable drawer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S024 / PDF 26</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A054  Drawer key</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S024 / PDF 26</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A055  Gold ornament ball</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E11 / S024 / PDF 26</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HALL OUTSIDE STORAGE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073</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储藏室门</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轮椅停位</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离开长轴</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14 / GLORIA BEDROOM / ESTATE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Gloria庄园卧室</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E14  |  场景索引 S028</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074</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隐秘调查；手机分析与训练数据交叉。</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桌面证物→手机→出门；精简可读背景。</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E14 · S028 · PDF 33</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GLORIA BEDROOM / ESTATE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建议小书桌与单台灯[B]；药片密</a:t>
            </a:r>
          </a:p>
          <a:p>
            <a:pPr>
              <a:lnSpc>
                <a:spcPts val="2160"/>
              </a:lnSpc>
              <a:spcBef>
                <a:spcPts val="0"/>
              </a:spcBef>
              <a:spcAft>
                <a:spcPts val="0"/>
              </a:spcAft>
              <a:defRPr sz="1600" b="0">
                <a:solidFill>
                  <a:srgbClr val="ECE9DF"/>
                </a:solidFill>
                <a:latin typeface="Noto Sans CJK SC"/>
              </a:defRPr>
            </a:pPr>
            <a:r>
              <a:t>封袋与日志分开放置；不要冒充公</a:t>
            </a:r>
          </a:p>
          <a:p>
            <a:pPr>
              <a:lnSpc>
                <a:spcPts val="2160"/>
              </a:lnSpc>
              <a:spcBef>
                <a:spcPts val="0"/>
              </a:spcBef>
              <a:spcAft>
                <a:spcPts val="0"/>
              </a:spcAft>
              <a:defRPr sz="1600" b="0">
                <a:solidFill>
                  <a:srgbClr val="ECE9DF"/>
                </a:solidFill>
                <a:latin typeface="Noto Sans CJK SC"/>
              </a:defRPr>
            </a:pPr>
            <a:r>
              <a:t>寓。</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重排：桌面证物→手机→出门；精</a:t>
            </a:r>
          </a:p>
          <a:p>
            <a:pPr>
              <a:lnSpc>
                <a:spcPts val="2160"/>
              </a:lnSpc>
              <a:spcBef>
                <a:spcPts val="0"/>
              </a:spcBef>
              <a:spcAft>
                <a:spcPts val="0"/>
              </a:spcAft>
              <a:defRPr sz="1600" b="0">
                <a:solidFill>
                  <a:srgbClr val="ECE9DF"/>
                </a:solidFill>
                <a:latin typeface="Noto Sans CJK SC"/>
              </a:defRPr>
            </a:pPr>
            <a:r>
              <a:t>简可读背景。</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GLORIA BEDROOM / ESTATE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S028 / PDF 33</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A063  Zip / sealed evidence bag</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S028 / PDF 33</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A064  Mentor analysis report</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S028 / PDF 33</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GLORIA BEDROOM / ESTATE</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077</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桌面证物</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手机</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出门</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15 / 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Bryce卧室</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E14,15,16,17,38  |  场景索引 S030, S031, S032, S033, S034, S063</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078</a:t>
            </a:r>
          </a:p>
        </p:txBody>
      </p:sp>
      <p:pic>
        <p:nvPicPr>
          <p:cNvPr id="9" name="Picture 8" descr="exec-1f6e298e-5282-4e03-9fe3-b6f7d9546465.png"/>
          <p:cNvPicPr>
            <a:picLocks noChangeAspect="1"/>
          </p:cNvPicPr>
          <p:nvPr/>
        </p:nvPicPr>
        <p:blipFill>
          <a:blip r:embed="rId2"/>
          <a:srcRect r="66667" t="1852" b="68519"/>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冷峻私室转为亲密；床、门缝</a:t>
            </a:r>
          </a:p>
          <a:p>
            <a:pPr>
              <a:lnSpc>
                <a:spcPts val="3105"/>
              </a:lnSpc>
              <a:spcBef>
                <a:spcPts val="0"/>
              </a:spcBef>
              <a:spcAft>
                <a:spcPts val="0"/>
              </a:spcAft>
              <a:defRPr sz="2300" b="0">
                <a:solidFill>
                  <a:srgbClr val="ECE9DF"/>
                </a:solidFill>
                <a:latin typeface="Noto Sans CJK SC"/>
              </a:defRPr>
            </a:pPr>
            <a:r>
              <a:t>与药物位置是核心。</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079</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深木与海军蓝为提案[B/C]；床边</a:t>
            </a:r>
          </a:p>
          <a:p>
            <a:pPr>
              <a:lnSpc>
                <a:spcPts val="2160"/>
              </a:lnSpc>
              <a:spcBef>
                <a:spcPts val="0"/>
              </a:spcBef>
              <a:spcAft>
                <a:spcPts val="0"/>
              </a:spcAft>
              <a:defRPr sz="1600" b="0">
                <a:solidFill>
                  <a:srgbClr val="ECE9DF"/>
                </a:solidFill>
                <a:latin typeface="Noto Sans CJK SC"/>
              </a:defRPr>
            </a:pPr>
            <a:r>
              <a:t>训练架、药盒、床头柜按动作摆位</a:t>
            </a:r>
          </a:p>
          <a:p>
            <a:pPr>
              <a:lnSpc>
                <a:spcPts val="2160"/>
              </a:lnSpc>
              <a:spcBef>
                <a:spcPts val="0"/>
              </a:spcBef>
              <a:spcAft>
                <a:spcPts val="0"/>
              </a:spcAft>
              <a:defRPr sz="1600" b="0">
                <a:solidFill>
                  <a:srgbClr val="ECE9DF"/>
                </a:solidFill>
                <a:latin typeface="Noto Sans CJK SC"/>
              </a:defRPr>
            </a:pPr>
            <a:r>
              <a:t>；备替换床品[B]。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重排：门缝→轮椅→床边训练架→</a:t>
            </a:r>
          </a:p>
          <a:p>
            <a:pPr>
              <a:lnSpc>
                <a:spcPts val="2160"/>
              </a:lnSpc>
              <a:spcBef>
                <a:spcPts val="0"/>
              </a:spcBef>
              <a:spcAft>
                <a:spcPts val="0"/>
              </a:spcAft>
              <a:defRPr sz="1600" b="0">
                <a:solidFill>
                  <a:srgbClr val="ECE9DF"/>
                </a:solidFill>
                <a:latin typeface="Noto Sans CJK SC"/>
              </a:defRPr>
            </a:pPr>
            <a:r>
              <a:t>桌下文件；留床两侧机位。</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080</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E15 / S031 / PDF 36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A007  Desk</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E16 / S033 / PDF 38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S030 / PDF 33,34,35</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A058  White pills / dropped pills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E15 / S031 / PDF 35,37</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A060  Water glass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S030 / PDF 33,34</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A064  Mentor analysis report</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E15 / S031 / PDF 36</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081</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A065  Pale blue pill</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E14 / S030 / PDF 34</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A066  Vitamin C tablet / substitution</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E15 / S031 / PDF 37</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A067  Bed / headboard / mattress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E15 / S031 / PDF 35,37</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A068  Nightstand</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E15 / S031 / PDF 36</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A069  Curtains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E16 / S032 / PDF 37</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A070  Pill box</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E16 / S032 / PDF 37,38</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3/3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A071  Sheets / covers / pillow</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E16 / S033 / PDF 38,39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A072  Under-desk documents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E16 / S033 / PDF 38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A073  Bedside training frame</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E16 / S033 / PDF 38</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A074  Silver-gray medical case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E17 / S034 / PDF 39</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A075  Manila envelope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E17 / S034 / PDF 42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A124  Bedside lamp</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E38 / S063 / PDF 80</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Practical Lighting  | TBD  | P1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083</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门缝</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床边训练架</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桌下文件</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16 / ESTATE FOYER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门厅</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E19,38,39,47  |  场景索引 S036, S062, S065, S079</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084</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出走、救援后的吻、假订婚来客与证据交接</a:t>
            </a:r>
          </a:p>
          <a:p>
            <a:pPr>
              <a:lnSpc>
                <a:spcPts val="3645"/>
              </a:lnSpc>
              <a:spcBef>
                <a:spcPts val="0"/>
              </a:spcBef>
              <a:spcAft>
                <a:spcPts val="0"/>
              </a:spcAft>
              <a:defRPr sz="2700" b="0">
                <a:solidFill>
                  <a:srgbClr val="ECE9DF"/>
                </a:solidFill>
                <a:latin typeface="Noto Sans CJK SC"/>
              </a:defRPr>
            </a:pPr>
            <a:r>
              <a:t>。</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前门→镜子→走廊轮椅停位；门后亲密动作区域。</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E19 · S036 · PDF 45 / E38 · S062 · PDF 77 / </a:t>
            </a:r>
          </a:p>
          <a:p>
            <a:pPr>
              <a:lnSpc>
                <a:spcPts val="2025"/>
              </a:lnSpc>
              <a:spcBef>
                <a:spcPts val="0"/>
              </a:spcBef>
              <a:spcAft>
                <a:spcPts val="0"/>
              </a:spcAft>
              <a:defRPr sz="1500" b="0">
                <a:solidFill>
                  <a:srgbClr val="C4A36C"/>
                </a:solidFill>
                <a:latin typeface="Noto Sans CJK SC"/>
              </a:defRPr>
            </a:pPr>
            <a:r>
              <a:t>E39 · S065 · PDF 81 / E47 · S079 · PDF 94</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FOYER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保留镜子、厚重前门、墙面开关；</a:t>
            </a:r>
          </a:p>
          <a:p>
            <a:pPr>
              <a:lnSpc>
                <a:spcPts val="2160"/>
              </a:lnSpc>
              <a:spcBef>
                <a:spcPts val="0"/>
              </a:spcBef>
              <a:spcAft>
                <a:spcPts val="0"/>
              </a:spcAft>
              <a:defRPr sz="1600" b="0">
                <a:solidFill>
                  <a:srgbClr val="ECE9DF"/>
                </a:solidFill>
                <a:latin typeface="Noto Sans CJK SC"/>
              </a:defRPr>
            </a:pPr>
            <a:r>
              <a:t>门后清空；门锁与灯回路可控[B]</a:t>
            </a:r>
          </a:p>
          <a:p>
            <a:pPr>
              <a:lnSpc>
                <a:spcPts val="2160"/>
              </a:lnSpc>
              <a:spcBef>
                <a:spcPts val="0"/>
              </a:spcBef>
              <a:spcAft>
                <a:spcPts val="0"/>
              </a:spcAft>
              <a:defRPr sz="1600" b="0">
                <a:solidFill>
                  <a:srgbClr val="ECE9DF"/>
                </a:solidFill>
                <a:latin typeface="Noto Sans CJK SC"/>
              </a:defRPr>
            </a:pPr>
            <a:r>
              <a:t>。</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重排：前门→镜子→走廊轮椅停位</a:t>
            </a:r>
          </a:p>
          <a:p>
            <a:pPr>
              <a:lnSpc>
                <a:spcPts val="2160"/>
              </a:lnSpc>
              <a:spcBef>
                <a:spcPts val="0"/>
              </a:spcBef>
              <a:spcAft>
                <a:spcPts val="0"/>
              </a:spcAft>
              <a:defRPr sz="1600" b="0">
                <a:solidFill>
                  <a:srgbClr val="ECE9DF"/>
                </a:solidFill>
                <a:latin typeface="Noto Sans CJK SC"/>
              </a:defRPr>
            </a:pPr>
            <a:r>
              <a:t>；门后亲密动作区域。</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FOYER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S036 / PDF 45,46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S036 / PDF 45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A017  Apron</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E39 / S065 / PDF 81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A078  Foyer mirror</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S036 / PDF 45</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A079  Flashlight</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S036 / PDF 45</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A080  Pocket pepper spray</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S036 / PDF 45,46</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FOYER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A098  Crystal chandeliers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E38 / S062 / PDF 77</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Practical Lighting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A122  Front door / latch</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E38 / S062 / PDF 77</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A123  Wall light / chandelier switch</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E38 / S062 / PDF 77</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Practical Lighting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A126  Oven mitts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E39 / S065 / PDF 81</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FOYER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088</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前门</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镜子</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走廊轮椅停位</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17 / REMOTE ROAD / GLORIA CAR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偏僻道路／Gloria车</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E19  |  场景索引 S037</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089</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独自赴约；车失去行动能力。</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驾驶视线→路肩→右前轮下沉；车辆动作由特技方案决定。</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E19 · S037 · PDF 46</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REMOTE ROAD / GLORIA CAR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090</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车内后视镜、方向盘、安全带可拍</a:t>
            </a:r>
          </a:p>
          <a:p>
            <a:pPr>
              <a:lnSpc>
                <a:spcPts val="2160"/>
              </a:lnSpc>
              <a:spcBef>
                <a:spcPts val="0"/>
              </a:spcBef>
              <a:spcAft>
                <a:spcPts val="0"/>
              </a:spcAft>
              <a:defRPr sz="1600" b="0">
                <a:solidFill>
                  <a:srgbClr val="ECE9DF"/>
                </a:solidFill>
                <a:latin typeface="Noto Sans CJK SC"/>
              </a:defRPr>
            </a:pPr>
            <a:r>
              <a:t>；旧路灯与无门牌铁丝网延续仓库</a:t>
            </a:r>
          </a:p>
          <a:p>
            <a:pPr>
              <a:lnSpc>
                <a:spcPts val="2160"/>
              </a:lnSpc>
              <a:spcBef>
                <a:spcPts val="0"/>
              </a:spcBef>
              <a:spcAft>
                <a:spcPts val="0"/>
              </a:spcAft>
              <a:defRPr sz="1600" b="0">
                <a:solidFill>
                  <a:srgbClr val="ECE9DF"/>
                </a:solidFill>
                <a:latin typeface="Noto Sans CJK SC"/>
              </a:defRPr>
            </a:pPr>
            <a:r>
              <a:t>外景。</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重排：驾驶视线→路肩→右前轮下</a:t>
            </a:r>
          </a:p>
          <a:p>
            <a:pPr>
              <a:lnSpc>
                <a:spcPts val="2160"/>
              </a:lnSpc>
              <a:spcBef>
                <a:spcPts val="0"/>
              </a:spcBef>
              <a:spcAft>
                <a:spcPts val="0"/>
              </a:spcAft>
              <a:defRPr sz="1600" b="0">
                <a:solidFill>
                  <a:srgbClr val="ECE9DF"/>
                </a:solidFill>
                <a:latin typeface="Noto Sans CJK SC"/>
              </a:defRPr>
            </a:pPr>
            <a:r>
              <a:t>沉；车辆动作由特技方案决定。</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REMOTE ROAD / GLORIA CAR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091</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A081  Gloria car / steering / mirror / seatbelt</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S037 / PDF 46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A082  Old streetlight</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S037 / PDF 46</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Practical Lighting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A083  Chain-link fence / unmarked shoulder</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S037 / PDF 46</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REMOTE ROAD / GLORIA CAR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092</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驾驶视线</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路肩</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右前轮下沉</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18 / WAREHOUSE EXTERIOR / PARKING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废仓库外／停车场</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E19,20,21,22,23  |  场景索引 S038, S039, S040, S041, S042</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093</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围堵与首次站立；不要虚构仓库内景。</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车门背靠点→前后围堵→车灯中心→出口；坠膝点清地[B]。</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E19 · S038 · PDF 46 / E20 · S039 · PDF 47 / </a:t>
            </a:r>
          </a:p>
          <a:p>
            <a:pPr>
              <a:lnSpc>
                <a:spcPts val="2025"/>
              </a:lnSpc>
              <a:spcBef>
                <a:spcPts val="0"/>
              </a:spcBef>
              <a:spcAft>
                <a:spcPts val="0"/>
              </a:spcAft>
              <a:defRPr sz="1500" b="0">
                <a:solidFill>
                  <a:srgbClr val="C4A36C"/>
                </a:solidFill>
                <a:latin typeface="Noto Sans CJK SC"/>
              </a:defRPr>
            </a:pPr>
            <a:r>
              <a:t>E21 · S040 · PDF 49 / E22 · S041 · PDF 51 / </a:t>
            </a:r>
          </a:p>
          <a:p>
            <a:pPr>
              <a:lnSpc>
                <a:spcPts val="2025"/>
              </a:lnSpc>
              <a:spcBef>
                <a:spcPts val="0"/>
              </a:spcBef>
              <a:spcAft>
                <a:spcPts val="0"/>
              </a:spcAft>
              <a:defRPr sz="1500" b="0">
                <a:solidFill>
                  <a:srgbClr val="C4A36C"/>
                </a:solidFill>
                <a:latin typeface="Noto Sans CJK SC"/>
              </a:defRPr>
            </a:pPr>
            <a:r>
              <a:t>E23 · S042 · PDF 53</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WAREHOUSE EXTERIOR / PARKING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094</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保留铁丝网、混凝土／碎石；前灯</a:t>
            </a:r>
          </a:p>
          <a:p>
            <a:pPr>
              <a:lnSpc>
                <a:spcPts val="2160"/>
              </a:lnSpc>
              <a:spcBef>
                <a:spcPts val="0"/>
              </a:spcBef>
              <a:spcAft>
                <a:spcPts val="0"/>
              </a:spcAft>
              <a:defRPr sz="1600" b="0">
                <a:solidFill>
                  <a:srgbClr val="ECE9DF"/>
                </a:solidFill>
                <a:latin typeface="Noto Sans CJK SC"/>
              </a:defRPr>
            </a:pPr>
            <a:r>
              <a:t>与旧路灯分层；武器效果由专业部</a:t>
            </a:r>
          </a:p>
          <a:p>
            <a:pPr>
              <a:lnSpc>
                <a:spcPts val="2160"/>
              </a:lnSpc>
              <a:spcBef>
                <a:spcPts val="0"/>
              </a:spcBef>
              <a:spcAft>
                <a:spcPts val="0"/>
              </a:spcAft>
              <a:defRPr sz="1600" b="0">
                <a:solidFill>
                  <a:srgbClr val="ECE9DF"/>
                </a:solidFill>
                <a:latin typeface="Noto Sans CJK SC"/>
              </a:defRPr>
            </a:pPr>
            <a:r>
              <a:t>门执行。</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重排：车门背靠点→前后围堵→车</a:t>
            </a:r>
          </a:p>
          <a:p>
            <a:pPr>
              <a:lnSpc>
                <a:spcPts val="2160"/>
              </a:lnSpc>
              <a:spcBef>
                <a:spcPts val="0"/>
              </a:spcBef>
              <a:spcAft>
                <a:spcPts val="0"/>
              </a:spcAft>
              <a:defRPr sz="1600" b="0">
                <a:solidFill>
                  <a:srgbClr val="ECE9DF"/>
                </a:solidFill>
                <a:latin typeface="Noto Sans CJK SC"/>
              </a:defRPr>
            </a:pPr>
            <a:r>
              <a:t>灯中心→出口；坠膝点清地[B]。</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WAREHOUSE EXTERIOR / PARKING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095</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E20 / S039 / PDF 48,49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E21 / S040 / PDF 49,50</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A080  Pocket pepper spray</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S038 / PDF 46,47</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A082  Old streetlight</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S038 / PDF 46,47</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Practical Lighting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A083  Chain-link fence / unmarked shoulder</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S038 / PDF 46,47</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A084  Ryan gloves / coat</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E19 / S038 / PDF 47</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WAREHOUSE EXTERIOR / PARKING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A085  Baseball bats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E20 / S039 / PDF 48,49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A086  Black sedan / headlight units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E21 / S040 / PDF 49,50</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A087  Bodyguard / Bryce firearms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E21 / S040 / PDF 50,51</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A088  Assistant recording phone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E21 / S040 / PDF 50</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WAREHOUSE EXTERIOR / PARKING</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097</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车门背靠点</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前后围堵</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车灯中心</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出口</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19 / ESTATE GRAND HALL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庄园大堂</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E24,25,26  |  场景索引 S043, S044, S045</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098</a:t>
            </a:r>
          </a:p>
        </p:txBody>
      </p:sp>
      <p:pic>
        <p:nvPicPr>
          <p:cNvPr id="9" name="Picture 8" descr="exec-1f6e298e-5282-4e03-9fe3-b6f7d9546465.png"/>
          <p:cNvPicPr>
            <a:picLocks noChangeAspect="1"/>
          </p:cNvPicPr>
          <p:nvPr/>
        </p:nvPicPr>
        <p:blipFill>
          <a:blip r:embed="rId2"/>
          <a:srcRect r="66667" t="68519" b="1852"/>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共同装树、站立与吻；同属庄</a:t>
            </a:r>
          </a:p>
          <a:p>
            <a:pPr>
              <a:lnSpc>
                <a:spcPts val="3105"/>
              </a:lnSpc>
              <a:spcBef>
                <a:spcPts val="0"/>
              </a:spcBef>
              <a:spcAft>
                <a:spcPts val="0"/>
              </a:spcAft>
              <a:defRPr sz="2300" b="0">
                <a:solidFill>
                  <a:srgbClr val="ECE9DF"/>
                </a:solidFill>
                <a:latin typeface="Noto Sans CJK SC"/>
              </a:defRPr>
            </a:pPr>
            <a:r>
              <a:t>园但不是宴会厅。</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GRAND HALL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099</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树、地毯与门口关系固定；树灯电</a:t>
            </a:r>
          </a:p>
          <a:p>
            <a:pPr>
              <a:lnSpc>
                <a:spcPts val="2160"/>
              </a:lnSpc>
              <a:spcBef>
                <a:spcPts val="0"/>
              </a:spcBef>
              <a:spcAft>
                <a:spcPts val="0"/>
              </a:spcAft>
              <a:defRPr sz="1600" b="0">
                <a:solidFill>
                  <a:srgbClr val="ECE9DF"/>
                </a:solidFill>
                <a:latin typeface="Noto Sans CJK SC"/>
              </a:defRPr>
            </a:pPr>
            <a:r>
              <a:t>线隐藏[B]；服装盒桌面独立。</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重排：前门→树底→轮椅起身线→</a:t>
            </a:r>
          </a:p>
          <a:p>
            <a:pPr>
              <a:lnSpc>
                <a:spcPts val="2160"/>
              </a:lnSpc>
              <a:spcBef>
                <a:spcPts val="0"/>
              </a:spcBef>
              <a:spcAft>
                <a:spcPts val="0"/>
              </a:spcAft>
              <a:defRPr sz="1600" b="0">
                <a:solidFill>
                  <a:srgbClr val="ECE9DF"/>
                </a:solidFill>
                <a:latin typeface="Noto Sans CJK SC"/>
              </a:defRPr>
            </a:pPr>
            <a:r>
              <a:t>地毯落点；星星高度按勘景确定。</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GRAND HALL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100</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54,55,56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A043  String lights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54,55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A046  Gold tree-topper star</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56</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A050  Ornament box</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54</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A089  Giant Christmas tree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54,55,56</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A090  Gold ribbon</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54,55</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GRAND HALL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101</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A091  Purple ornament</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54</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A092  Red ornament</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A093  Silver bell</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E24 / S043 / PDF 55</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A094  Mistletoe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E25 / S044 / PDF 57</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Holiday Dressing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A095  Rug / fall landing surface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E25 / S044 / PDF 57</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A096  Family-crest garment box</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E26 / S045 / PDF 57</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GRAND HALL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3/3</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A097  Tuxedo / silver-gray tie / crest cufflinks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E26 / S045 / PDF 57,58,59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A122  Front door / latch</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E26 / S045 / PDF 57,58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GRAND HALL</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103</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前门</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树底</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轮椅起身线</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地毯落点</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20 / 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宴会厅主厅</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E27,28,29,30,31,51,52,53,54,55,56,57  |  场景索引 S046, S047, S048, S049, S050, S051, S083, S084, S086, S087, S088, S089, S090, S091</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104</a:t>
            </a:r>
          </a:p>
        </p:txBody>
      </p:sp>
      <p:pic>
        <p:nvPicPr>
          <p:cNvPr id="9" name="Picture 8" descr="exec-1f6e298e-5282-4e03-9fe3-b6f7d9546465.png"/>
          <p:cNvPicPr>
            <a:picLocks noChangeAspect="1"/>
          </p:cNvPicPr>
          <p:nvPr/>
        </p:nvPicPr>
        <p:blipFill>
          <a:blip r:embed="rId2"/>
          <a:srcRect l="33333" r="33333" t="35185" b="35185"/>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生日羞辱与平安夜翻盘，两种</a:t>
            </a:r>
          </a:p>
          <a:p>
            <a:pPr>
              <a:lnSpc>
                <a:spcPts val="3105"/>
              </a:lnSpc>
              <a:spcBef>
                <a:spcPts val="0"/>
              </a:spcBef>
              <a:spcAft>
                <a:spcPts val="0"/>
              </a:spcAft>
              <a:defRPr sz="2300" b="0">
                <a:solidFill>
                  <a:srgbClr val="ECE9DF"/>
                </a:solidFill>
                <a:latin typeface="Noto Sans CJK SC"/>
              </a:defRPr>
            </a:pPr>
            <a:r>
              <a:t>事件状态。</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生日：背景板、蛋糕台与礼炮；平</a:t>
            </a:r>
          </a:p>
          <a:p>
            <a:pPr>
              <a:lnSpc>
                <a:spcPts val="2160"/>
              </a:lnSpc>
              <a:spcBef>
                <a:spcPts val="0"/>
              </a:spcBef>
              <a:spcAft>
                <a:spcPts val="0"/>
              </a:spcAft>
              <a:defRPr sz="1600" b="0">
                <a:solidFill>
                  <a:srgbClr val="ECE9DF"/>
                </a:solidFill>
                <a:latin typeface="Noto Sans CJK SC"/>
              </a:defRPr>
            </a:pPr>
            <a:r>
              <a:t>安夜：长桌、表决文件、屏幕与主</a:t>
            </a:r>
          </a:p>
          <a:p>
            <a:pPr>
              <a:lnSpc>
                <a:spcPts val="2160"/>
              </a:lnSpc>
              <a:spcBef>
                <a:spcPts val="0"/>
              </a:spcBef>
              <a:spcAft>
                <a:spcPts val="0"/>
              </a:spcAft>
              <a:defRPr sz="1600" b="0">
                <a:solidFill>
                  <a:srgbClr val="ECE9DF"/>
                </a:solidFill>
                <a:latin typeface="Noto Sans CJK SC"/>
              </a:defRPr>
            </a:pPr>
            <a:r>
              <a:t>位；不可沿用脏乱状态。</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重排：入口→中央轮椅→长桌主位</a:t>
            </a:r>
          </a:p>
          <a:p>
            <a:pPr>
              <a:lnSpc>
                <a:spcPts val="2160"/>
              </a:lnSpc>
              <a:spcBef>
                <a:spcPts val="0"/>
              </a:spcBef>
              <a:spcAft>
                <a:spcPts val="0"/>
              </a:spcAft>
              <a:defRPr sz="1600" b="0">
                <a:solidFill>
                  <a:srgbClr val="ECE9DF"/>
                </a:solidFill>
                <a:latin typeface="Noto Sans CJK SC"/>
              </a:defRPr>
            </a:pPr>
            <a:r>
              <a:t>；屏幕反打与保安封门线留空。</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1/6</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S046 / PDF 59</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A027  Broken glass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E31 / S051 / PDF 66</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A029  Share transfer agreement / supplemental page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60</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A047  Light-up reindeer hats / antler headband</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E57 / S091 / PDF 109</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2 hats in E9–10; headband continuity to confirm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A058  White pills / dropped pills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E56 / S090 / PDF 106</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2/6</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A063  Zip / sealed evidence bag</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E52 / S084 / PDF 100</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A097  Tuxedo / silver-gray tie / crest cufflinks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S046 / PDF 59</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A098  Crystal chandeliers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E51 / S083 / PDF 98</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Practical Lighting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A099  Black and gold carpet</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S046 / PDF 59</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A100  Long banquet tables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E51 / S083 / PDF 99</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A101  Banquet silverware</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S046 / PDF 59</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3/6</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A102  Champagne / wine / glasses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S046 / PDF 59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A103  Champagne tower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S047 / PDF 59,60</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A104  Flat painting gift box</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60</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A105  Old black-forest painting</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60</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A106  Partnership suspended email</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61</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A107  Birthday backdrop</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E29 / S049 / PDF 64</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4/6</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109</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A108  Party cannons / remote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E30 / S050 / PDF 64,65</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3 scripted cannons; resets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A109  Confetti / fake snow / red glitter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E30 / S050 / PDF 65</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A110  Cream cake</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E30 / S050 / PDF 65</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A111  Cake table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E30 / S050 / PDF 65</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A112  Phone video / TikTok UI</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E30 / S050 / PDF 65</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A121  Snow / wheel tracks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E30 / S050 / PDF 65</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5/6</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110</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A139  Northbridge purchase records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E52 / S084 / PDF 100</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A143  Voting resolution / results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E51 / S083 / PDF 99</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A144  Folder / banquet evidence pack</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E51 / S083 / PDF 99</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A145  Banquet display / frozen security footage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E52 / S084 / PDF 101</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A146  Personal seal</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E55 / S089 / PDF 104,105</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A147  Accounts frozen phone screen</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E55 / S089 / PDF 105</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6/6</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111</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A148  Adrian nameplate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E55 / S089 / PDF 106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A149  Handcuffs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E57 / S091 / PDF 108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A150  Banquet chair / headband landing</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E57 / S091 / PDF 109</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112</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入口</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中央轮椅</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长桌主位</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21 / BANQUET / CHAMPAGNE TOWER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宴会厅香槟塔区</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E27,28,29  |  场景索引 S047, S048, S049</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113</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股东围堵与旧画被泼。</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Gloria离开→三人围上→画落地；与背景板保持连续方向。</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E27 · S047 · PDF 59 / E28 · S048 · PDF 60 / </a:t>
            </a:r>
          </a:p>
          <a:p>
            <a:pPr>
              <a:lnSpc>
                <a:spcPts val="2025"/>
              </a:lnSpc>
              <a:spcBef>
                <a:spcPts val="0"/>
              </a:spcBef>
              <a:spcAft>
                <a:spcPts val="0"/>
              </a:spcAft>
              <a:defRPr sz="1500" b="0">
                <a:solidFill>
                  <a:srgbClr val="C4A36C"/>
                </a:solidFill>
                <a:latin typeface="Noto Sans CJK SC"/>
              </a:defRPr>
            </a:pPr>
            <a:r>
              <a:t>E29 · S049 · PDF 61</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 CHAMPAGNE TOWER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114</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香槟塔独立安全底座[B]；旧画落</a:t>
            </a:r>
          </a:p>
          <a:p>
            <a:pPr>
              <a:lnSpc>
                <a:spcPts val="2160"/>
              </a:lnSpc>
              <a:spcBef>
                <a:spcPts val="0"/>
              </a:spcBef>
              <a:spcAft>
                <a:spcPts val="0"/>
              </a:spcAft>
              <a:defRPr sz="1600" b="0">
                <a:solidFill>
                  <a:srgbClr val="ECE9DF"/>
                </a:solidFill>
                <a:latin typeface="Noto Sans CJK SC"/>
              </a:defRPr>
            </a:pPr>
            <a:r>
              <a:t>点离真实玻璃远；酒液损坏版备份</a:t>
            </a:r>
          </a:p>
          <a:p>
            <a:pPr>
              <a:lnSpc>
                <a:spcPts val="2160"/>
              </a:lnSpc>
              <a:spcBef>
                <a:spcPts val="0"/>
              </a:spcBef>
              <a:spcAft>
                <a:spcPts val="0"/>
              </a:spcAft>
              <a:defRPr sz="1600" b="0">
                <a:solidFill>
                  <a:srgbClr val="ECE9DF"/>
                </a:solidFill>
                <a:latin typeface="Noto Sans CJK SC"/>
              </a:defRPr>
            </a:pPr>
            <a:r>
              <a:t>[B]。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重排：Gloria离开→三人围上→画</a:t>
            </a:r>
          </a:p>
          <a:p>
            <a:pPr>
              <a:lnSpc>
                <a:spcPts val="2160"/>
              </a:lnSpc>
              <a:spcBef>
                <a:spcPts val="0"/>
              </a:spcBef>
              <a:spcAft>
                <a:spcPts val="0"/>
              </a:spcAft>
              <a:defRPr sz="1600" b="0">
                <a:solidFill>
                  <a:srgbClr val="ECE9DF"/>
                </a:solidFill>
                <a:latin typeface="Noto Sans CJK SC"/>
              </a:defRPr>
            </a:pPr>
            <a:r>
              <a:t>落地；与背景板保持连续方向。</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 CHAMPAGNE TOWER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115</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61</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A102  Champagne / wine / glasses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S047 / PDF 59,60</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A103  Champagne tower</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E27 / S047 / PDF 59,60</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A104  Flat painting gift box</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60</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A105  Old black-forest painting</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60</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 CHAMPAGNE TOWER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A106  Partnership suspended email</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E28 / S048 / PDF 61</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A107  Birthday backdrop</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E29 / S049 / PDF 64</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 CHAMPAGNE TOWER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117</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Gloria离开</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三人围上</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画落地</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22 / PAINTING STUDIO</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画室</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E32,33,34  |  场景索引 S052, S053, S054, S056</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118</a:t>
            </a:r>
          </a:p>
        </p:txBody>
      </p:sp>
      <p:pic>
        <p:nvPicPr>
          <p:cNvPr id="9" name="Picture 8" descr="exec-1f6e298e-5282-4e03-9fe3-b6f7d9546465.png"/>
          <p:cNvPicPr>
            <a:picLocks noChangeAspect="1"/>
          </p:cNvPicPr>
          <p:nvPr/>
        </p:nvPicPr>
        <p:blipFill>
          <a:blip r:embed="rId2"/>
          <a:srcRect l="66667" r="0" t="35185" b="35185"/>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将伤痕改成雪夜星光；随即遭</a:t>
            </a:r>
          </a:p>
          <a:p>
            <a:pPr>
              <a:lnSpc>
                <a:spcPts val="3105"/>
              </a:lnSpc>
              <a:spcBef>
                <a:spcPts val="0"/>
              </a:spcBef>
              <a:spcAft>
                <a:spcPts val="0"/>
              </a:spcAft>
              <a:defRPr sz="2300" b="0">
                <a:solidFill>
                  <a:srgbClr val="ECE9DF"/>
                </a:solidFill>
                <a:latin typeface="Noto Sans CJK SC"/>
              </a:defRPr>
            </a:pPr>
            <a:r>
              <a:t>遇契约威胁。</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PAINTING STUDIO</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119</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画架、颜料与笔是动作核心；推荐</a:t>
            </a:r>
          </a:p>
          <a:p>
            <a:pPr>
              <a:lnSpc>
                <a:spcPts val="2160"/>
              </a:lnSpc>
              <a:spcBef>
                <a:spcPts val="0"/>
              </a:spcBef>
              <a:spcAft>
                <a:spcPts val="0"/>
              </a:spcAft>
              <a:defRPr sz="1600" b="0">
                <a:solidFill>
                  <a:srgbClr val="ECE9DF"/>
                </a:solidFill>
                <a:latin typeface="Noto Sans CJK SC"/>
              </a:defRPr>
            </a:pPr>
            <a:r>
              <a:t>可清洁工作台[B]；旧画不同阶段</a:t>
            </a:r>
          </a:p>
          <a:p>
            <a:pPr>
              <a:lnSpc>
                <a:spcPts val="2160"/>
              </a:lnSpc>
              <a:spcBef>
                <a:spcPts val="0"/>
              </a:spcBef>
              <a:spcAft>
                <a:spcPts val="0"/>
              </a:spcAft>
              <a:defRPr sz="1600" b="0">
                <a:solidFill>
                  <a:srgbClr val="ECE9DF"/>
                </a:solidFill>
                <a:latin typeface="Noto Sans CJK SC"/>
              </a:defRPr>
            </a:pPr>
            <a:r>
              <a:t>独立编号[B]。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重排：门口Adrian→画架修复→轮</a:t>
            </a:r>
          </a:p>
          <a:p>
            <a:pPr>
              <a:lnSpc>
                <a:spcPts val="2160"/>
              </a:lnSpc>
              <a:spcBef>
                <a:spcPts val="0"/>
              </a:spcBef>
              <a:spcAft>
                <a:spcPts val="0"/>
              </a:spcAft>
              <a:defRPr sz="1600" b="0">
                <a:solidFill>
                  <a:srgbClr val="ECE9DF"/>
                </a:solidFill>
                <a:latin typeface="Noto Sans CJK SC"/>
              </a:defRPr>
            </a:pPr>
            <a:r>
              <a:t>椅近身；画面朝向留揭示机位。</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PAINTING STUDIO</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120</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E34 / S056 / PDF 71,72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E32 / S052 / PDF 68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A029  Share transfer agreement / supplemental page</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E33 / S053 / PDF 69,70</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A105  Old black-forest painting</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E32 / S052 / PDF 67,68,69</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A113  Easel / clamp</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E32 / S052 / PDF 67</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A114  Paint / silvery-white repair / star</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E32 / S052 / PDF 67</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PAINTING STUDIO</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121</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门口Adrian</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画架修复</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轮椅近身</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23 / STUDIO CORRIDOR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画室外廊</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E34  |  场景索引 S055</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122</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假争执后的被观察状态。</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画室出口→转角→楼梯顶Adrian；不与二层走廊擅自合并。</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E34 · S055 · PDF 71</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STUDIO CORRIDOR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123</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保持画室门与转角、楼梯关系；若</a:t>
            </a:r>
          </a:p>
          <a:p>
            <a:pPr>
              <a:lnSpc>
                <a:spcPts val="2160"/>
              </a:lnSpc>
              <a:spcBef>
                <a:spcPts val="0"/>
              </a:spcBef>
              <a:spcAft>
                <a:spcPts val="0"/>
              </a:spcAft>
              <a:defRPr sz="1600" b="0">
                <a:solidFill>
                  <a:srgbClr val="ECE9DF"/>
                </a:solidFill>
                <a:latin typeface="Noto Sans CJK SC"/>
              </a:defRPr>
            </a:pPr>
            <a:r>
              <a:t>实景不同用遮挡辅助[B]。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重排：画室出口→转角→楼梯顶A</a:t>
            </a:r>
          </a:p>
          <a:p>
            <a:pPr>
              <a:lnSpc>
                <a:spcPts val="2160"/>
              </a:lnSpc>
              <a:spcBef>
                <a:spcPts val="0"/>
              </a:spcBef>
              <a:spcAft>
                <a:spcPts val="0"/>
              </a:spcAft>
              <a:defRPr sz="1600" b="0">
                <a:solidFill>
                  <a:srgbClr val="ECE9DF"/>
                </a:solidFill>
                <a:latin typeface="Noto Sans CJK SC"/>
              </a:defRPr>
            </a:pPr>
            <a:r>
              <a:t>drian；不与二层走廊擅自合并。</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STUDIO CORRIDOR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124</a:t>
            </a:r>
          </a:p>
        </p:txBody>
      </p:sp>
      <p:sp>
        <p:nvSpPr>
          <p:cNvPr id="9" name="TextBox 8"/>
          <p:cNvSpPr txBox="1"/>
          <p:nvPr/>
        </p:nvSpPr>
        <p:spPr>
          <a:xfrm>
            <a:off x="457200" y="2413000"/>
            <a:ext cx="10922000" cy="1397000"/>
          </a:xfrm>
          <a:prstGeom prst="rect">
            <a:avLst/>
          </a:prstGeom>
          <a:noFill/>
        </p:spPr>
        <p:txBody>
          <a:bodyPr wrap="none" lIns="0" rIns="0" tIns="0" bIns="0">
            <a:spAutoFit/>
          </a:bodyPr>
          <a:lstStyle/>
          <a:p>
            <a:pPr>
              <a:lnSpc>
                <a:spcPts val="2970"/>
              </a:lnSpc>
              <a:spcBef>
                <a:spcPts val="0"/>
              </a:spcBef>
              <a:spcAft>
                <a:spcPts val="0"/>
              </a:spcAft>
              <a:defRPr sz="2200" b="0">
                <a:solidFill>
                  <a:srgbClr val="ECE9DF"/>
                </a:solidFill>
                <a:latin typeface="Noto Sans CJK SC"/>
              </a:defRPr>
            </a:pPr>
            <a:r>
              <a:t>本区未单独指定可移动物件。</a:t>
            </a:r>
          </a:p>
          <a:p>
            <a:pPr>
              <a:lnSpc>
                <a:spcPts val="2970"/>
              </a:lnSpc>
              <a:spcBef>
                <a:spcPts val="0"/>
              </a:spcBef>
              <a:spcAft>
                <a:spcPts val="0"/>
              </a:spcAft>
              <a:defRPr sz="2200" b="0">
                <a:solidFill>
                  <a:srgbClr val="ECE9DF"/>
                </a:solidFill>
                <a:latin typeface="Noto Sans CJK SC"/>
              </a:defRPr>
            </a:pPr>
            <a:r>
              <a:t>保留场景中的门、转角／楼梯视线，不补造A类道具。</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STUDIO CORRIDOR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125</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画室出口</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转角</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楼梯顶Adrian</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24 / ESTATE ROAD / VIVIAN SEDAN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庄园外道路／Vivian轿车</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E35,36  |  场景索引 S058, S059</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126</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锁车、支票诱惑与危险升级。</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后排对峙→门把手→安全带扣→后窗救援；不实车冒险验证。</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E35 · S058 · PDF 72 / E36 · S059 · PDF 73</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ROAD / VIVIAN SEDAN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127</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车门锁、安全带卡滞、后窗碎裂分</a:t>
            </a:r>
          </a:p>
          <a:p>
            <a:pPr>
              <a:lnSpc>
                <a:spcPts val="2160"/>
              </a:lnSpc>
              <a:spcBef>
                <a:spcPts val="0"/>
              </a:spcBef>
              <a:spcAft>
                <a:spcPts val="0"/>
              </a:spcAft>
              <a:defRPr sz="1600" b="0">
                <a:solidFill>
                  <a:srgbClr val="ECE9DF"/>
                </a:solidFill>
                <a:latin typeface="Noto Sans CJK SC"/>
              </a:defRPr>
            </a:pPr>
            <a:r>
              <a:t>阶段；普通车、动作车、破损件按</a:t>
            </a:r>
          </a:p>
          <a:p>
            <a:pPr>
              <a:lnSpc>
                <a:spcPts val="2160"/>
              </a:lnSpc>
              <a:spcBef>
                <a:spcPts val="0"/>
              </a:spcBef>
              <a:spcAft>
                <a:spcPts val="0"/>
              </a:spcAft>
              <a:defRPr sz="1600" b="0">
                <a:solidFill>
                  <a:srgbClr val="ECE9DF"/>
                </a:solidFill>
                <a:latin typeface="Noto Sans CJK SC"/>
              </a:defRPr>
            </a:pPr>
            <a:r>
              <a:t>特技计划区分[B]。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重排：后排对峙→门把手→安全带</a:t>
            </a:r>
          </a:p>
          <a:p>
            <a:pPr>
              <a:lnSpc>
                <a:spcPts val="2160"/>
              </a:lnSpc>
              <a:spcBef>
                <a:spcPts val="0"/>
              </a:spcBef>
              <a:spcAft>
                <a:spcPts val="0"/>
              </a:spcAft>
              <a:defRPr sz="1600" b="0">
                <a:solidFill>
                  <a:srgbClr val="ECE9DF"/>
                </a:solidFill>
                <a:latin typeface="Noto Sans CJK SC"/>
              </a:defRPr>
            </a:pPr>
            <a:r>
              <a:t>扣→后窗救援；不实车冒险验证。</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ROAD / VIVIAN SEDAN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128</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E35 / S058 / PDF 72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A011  Checks — dismissal / bribe</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E35 / S058 / PDF 72</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A029  Share transfer agreement / supplemental page</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E35 / S058 / PDF 72</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A086  Black sedan / headlight units</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E35 / S058 / PDF 72</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A115  Live location sharing screen</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E35 / S058 / PDF 72</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A116  Vivian sedan / locking doors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E35 / S058 / PDF 72,73</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ROAD / VIVIAN SEDAN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129</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后排对峙</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门把手</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安全带扣</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后窗救援</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25 / SNOWY ROAD</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雪夜道路</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E36,37  |  场景索引 S060, S061</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130</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车辆拦截与身份揭示。</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SUV横停→轿车刹停→后门→抱离；人车区隔离[B]。</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E36 · S060 · PDF 74 / E37 · S061 · PDF 76</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SNOWY ROAD</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SUV与轿车碰撞接触状态由特技统</a:t>
            </a:r>
          </a:p>
          <a:p>
            <a:pPr>
              <a:lnSpc>
                <a:spcPts val="2160"/>
              </a:lnSpc>
              <a:spcBef>
                <a:spcPts val="0"/>
              </a:spcBef>
              <a:spcAft>
                <a:spcPts val="0"/>
              </a:spcAft>
              <a:defRPr sz="1600" b="0">
                <a:solidFill>
                  <a:srgbClr val="ECE9DF"/>
                </a:solidFill>
                <a:latin typeface="Noto Sans CJK SC"/>
              </a:defRPr>
            </a:pPr>
            <a:r>
              <a:t>筹；雪面轮迹和车头损伤拍照[B]</a:t>
            </a:r>
          </a:p>
          <a:p>
            <a:pPr>
              <a:lnSpc>
                <a:spcPts val="2160"/>
              </a:lnSpc>
              <a:spcBef>
                <a:spcPts val="0"/>
              </a:spcBef>
              <a:spcAft>
                <a:spcPts val="0"/>
              </a:spcAft>
              <a:defRPr sz="1600" b="0">
                <a:solidFill>
                  <a:srgbClr val="ECE9DF"/>
                </a:solidFill>
                <a:latin typeface="Noto Sans CJK SC"/>
              </a:defRPr>
            </a:pPr>
            <a:r>
              <a:t>。</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重排：SUV横停→轿车刹停→后门</a:t>
            </a:r>
          </a:p>
          <a:p>
            <a:pPr>
              <a:lnSpc>
                <a:spcPts val="2160"/>
              </a:lnSpc>
              <a:spcBef>
                <a:spcPts val="0"/>
              </a:spcBef>
              <a:spcAft>
                <a:spcPts val="0"/>
              </a:spcAft>
              <a:defRPr sz="1600" b="0">
                <a:solidFill>
                  <a:srgbClr val="ECE9DF"/>
                </a:solidFill>
                <a:latin typeface="Noto Sans CJK SC"/>
              </a:defRPr>
            </a:pPr>
            <a:r>
              <a:t>→抱离；人车区隔离[B]。</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SNOWY ROAD</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A086  Black sedan / headlight units</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E36 / S060 / PDF 75</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A087  Bodyguard / Bryce firearms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E37 / S061 / PDF 76</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A116  Vivian sedan / locking doors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E37 / S061 / PDF 76</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A117  Black SUV / collision damage</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E36 / S060 / PDF 74,75,76</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A118  Black cap / mask disguise</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E36 / S060 / PDF 74,76</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A119  Jammed / tearable seatbelt</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E36 / S060 / PDF 75,76</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SNOWY ROAD</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133</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A120  Breakaway rear window</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E37 / S061 / PDF 76</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A121  Snow / wheel tracks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E36 / S060 / PDF 74,75,76</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SNOWY ROAD</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134</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SUV横停</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轿车刹停</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后门</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抱离</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26 / GLORIA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Gloria公寓</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E43,46  |  场景索引 S072, S077</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135</a:t>
            </a:r>
          </a:p>
        </p:txBody>
      </p:sp>
      <p:pic>
        <p:nvPicPr>
          <p:cNvPr id="9" name="Picture 8" descr="exec-1f6e298e-5282-4e03-9fe3-b6f7d9546465.png"/>
          <p:cNvPicPr>
            <a:picLocks noChangeAspect="1"/>
          </p:cNvPicPr>
          <p:nvPr/>
        </p:nvPicPr>
        <p:blipFill>
          <a:blip r:embed="rId2"/>
          <a:srcRect l="33333" r="33333" t="68519" b="1852"/>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准备离开与再次选择调查。</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GLORIA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136</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床上行李箱开／关状态；推荐普通</a:t>
            </a:r>
          </a:p>
          <a:p>
            <a:pPr>
              <a:lnSpc>
                <a:spcPts val="2160"/>
              </a:lnSpc>
              <a:spcBef>
                <a:spcPts val="0"/>
              </a:spcBef>
              <a:spcAft>
                <a:spcPts val="0"/>
              </a:spcAft>
              <a:defRPr sz="1600" b="0">
                <a:solidFill>
                  <a:srgbClr val="ECE9DF"/>
                </a:solidFill>
                <a:latin typeface="Noto Sans CJK SC"/>
              </a:defRPr>
            </a:pPr>
            <a:r>
              <a:t>暖灰织物[B]；保留手机阅读近景</a:t>
            </a:r>
          </a:p>
          <a:p>
            <a:pPr>
              <a:lnSpc>
                <a:spcPts val="2160"/>
              </a:lnSpc>
              <a:spcBef>
                <a:spcPts val="0"/>
              </a:spcBef>
              <a:spcAft>
                <a:spcPts val="0"/>
              </a:spcAft>
              <a:defRPr sz="1600" b="0">
                <a:solidFill>
                  <a:srgbClr val="ECE9DF"/>
                </a:solidFill>
                <a:latin typeface="Noto Sans CJK SC"/>
              </a:defRPr>
            </a:pPr>
            <a:r>
              <a:t>。</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重排：床→箱子→手机→房门；不</a:t>
            </a:r>
          </a:p>
          <a:p>
            <a:pPr>
              <a:lnSpc>
                <a:spcPts val="2160"/>
              </a:lnSpc>
              <a:spcBef>
                <a:spcPts val="0"/>
              </a:spcBef>
              <a:spcAft>
                <a:spcPts val="0"/>
              </a:spcAft>
              <a:defRPr sz="1600" b="0">
                <a:solidFill>
                  <a:srgbClr val="ECE9DF"/>
                </a:solidFill>
                <a:latin typeface="Noto Sans CJK SC"/>
              </a:defRPr>
            </a:pPr>
            <a:r>
              <a:t>要沿用庄园奢华卧室陈设。</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GLORIA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137</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S072 / PDF 88,89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A067  Bed / headboard / mattress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S072 / PDF 88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A132  Suitcase</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S072 / PDF 88,89</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A133  Christmas tree couple photo</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S072 / PDF 88</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A134  Bridal photo / invitation address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S072 / PDF 89</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A139  Northbridge purchase records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E46 / S077 / PDF 93</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GLORIA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138</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床</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箱子</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手机</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房门</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27 / BRIDAL BOUTIQUE / WINDOW</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婚纱店／橱窗</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E43,44,45,46  |  场景索引 S073, S074, S075, S076</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139</a:t>
            </a:r>
          </a:p>
        </p:txBody>
      </p:sp>
      <p:pic>
        <p:nvPicPr>
          <p:cNvPr id="9" name="Picture 8" descr="exec-1f6e298e-5282-4e03-9fe3-b6f7d9546465.png"/>
          <p:cNvPicPr>
            <a:picLocks noChangeAspect="1"/>
          </p:cNvPicPr>
          <p:nvPr/>
        </p:nvPicPr>
        <p:blipFill>
          <a:blip r:embed="rId2"/>
          <a:srcRect l="66667" r="0" t="68519" b="1852"/>
          <a:stretch>
            <a:fillRect/>
          </a:stretch>
        </p:blipFill>
        <p:spPr>
          <a:xfrm>
            <a:off x="457200" y="2146300"/>
            <a:ext cx="6858000" cy="4064000"/>
          </a:xfrm>
          <a:prstGeom prst="rect">
            <a:avLst/>
          </a:prstGeom>
        </p:spPr>
      </p:pic>
      <p:sp>
        <p:nvSpPr>
          <p:cNvPr id="10" name="TextBox 9"/>
          <p:cNvSpPr txBox="1"/>
          <p:nvPr/>
        </p:nvSpPr>
        <p:spPr>
          <a:xfrm>
            <a:off x="7556500" y="2184400"/>
            <a:ext cx="4064000" cy="2603500"/>
          </a:xfrm>
          <a:prstGeom prst="rect">
            <a:avLst/>
          </a:prstGeom>
          <a:noFill/>
        </p:spPr>
        <p:txBody>
          <a:bodyPr wrap="none" lIns="0" rIns="0" tIns="0" bIns="0">
            <a:spAutoFit/>
          </a:bodyPr>
          <a:lstStyle/>
          <a:p>
            <a:pPr>
              <a:lnSpc>
                <a:spcPts val="3105"/>
              </a:lnSpc>
              <a:spcBef>
                <a:spcPts val="0"/>
              </a:spcBef>
              <a:spcAft>
                <a:spcPts val="0"/>
              </a:spcAft>
              <a:defRPr sz="2300" b="0">
                <a:solidFill>
                  <a:srgbClr val="ECE9DF"/>
                </a:solidFill>
                <a:latin typeface="Noto Sans CJK SC"/>
              </a:defRPr>
            </a:pPr>
            <a:r>
              <a:t>橱窗和镜面把公开订婚变成伤</a:t>
            </a:r>
          </a:p>
          <a:p>
            <a:pPr>
              <a:lnSpc>
                <a:spcPts val="3105"/>
              </a:lnSpc>
              <a:spcBef>
                <a:spcPts val="0"/>
              </a:spcBef>
              <a:spcAft>
                <a:spcPts val="0"/>
              </a:spcAft>
              <a:defRPr sz="2300" b="0">
                <a:solidFill>
                  <a:srgbClr val="ECE9DF"/>
                </a:solidFill>
                <a:latin typeface="Noto Sans CJK SC"/>
              </a:defRPr>
            </a:pPr>
            <a:r>
              <a:t>害。</a:t>
            </a:r>
          </a:p>
        </p:txBody>
      </p:sp>
      <p:sp>
        <p:nvSpPr>
          <p:cNvPr id="11" name="TextBox 10"/>
          <p:cNvSpPr txBox="1"/>
          <p:nvPr/>
        </p:nvSpPr>
        <p:spPr>
          <a:xfrm>
            <a:off x="7556500" y="5054600"/>
            <a:ext cx="4064000" cy="1143000"/>
          </a:xfrm>
          <a:prstGeom prst="rect">
            <a:avLst/>
          </a:prstGeom>
          <a:noFill/>
        </p:spPr>
        <p:txBody>
          <a:bodyPr wrap="none" lIns="0" rIns="0" tIns="0" bIns="0">
            <a:spAutoFit/>
          </a:bodyPr>
          <a:lstStyle/>
          <a:p>
            <a:pPr>
              <a:lnSpc>
                <a:spcPts val="1755"/>
              </a:lnSpc>
              <a:spcBef>
                <a:spcPts val="0"/>
              </a:spcBef>
              <a:spcAft>
                <a:spcPts val="0"/>
              </a:spcAft>
              <a:defRPr sz="1300" b="0">
                <a:solidFill>
                  <a:srgbClr val="C4A36C"/>
                </a:solidFill>
                <a:latin typeface="Noto Sans CJK SC"/>
              </a:defRPr>
            </a:pPr>
            <a:r>
              <a:t>B/C · AI概念提案</a:t>
            </a:r>
          </a:p>
          <a:p>
            <a:pPr>
              <a:lnSpc>
                <a:spcPts val="1755"/>
              </a:lnSpc>
              <a:spcBef>
                <a:spcPts val="0"/>
              </a:spcBef>
              <a:spcAft>
                <a:spcPts val="0"/>
              </a:spcAft>
              <a:defRPr sz="1300" b="0">
                <a:solidFill>
                  <a:srgbClr val="C4A36C"/>
                </a:solidFill>
                <a:latin typeface="Noto Sans CJK SC"/>
              </a:defRPr>
            </a:pPr>
            <a:r>
              <a:t>不是实景照片；图中非A物件为建议。</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BRIDAL BOUTIQUE / WINDOW</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140</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镜子、玻璃橱窗、丝绒双戒托盘、</a:t>
            </a:r>
          </a:p>
          <a:p>
            <a:pPr>
              <a:lnSpc>
                <a:spcPts val="2160"/>
              </a:lnSpc>
              <a:spcBef>
                <a:spcPts val="0"/>
              </a:spcBef>
              <a:spcAft>
                <a:spcPts val="0"/>
              </a:spcAft>
              <a:defRPr sz="1600" b="0">
                <a:solidFill>
                  <a:srgbClr val="ECE9DF"/>
                </a:solidFill>
                <a:latin typeface="Noto Sans CJK SC"/>
              </a:defRPr>
            </a:pPr>
            <a:r>
              <a:t>沙发与香槟；橱窗必须看得见试戒</a:t>
            </a:r>
          </a:p>
          <a:p>
            <a:pPr>
              <a:lnSpc>
                <a:spcPts val="2160"/>
              </a:lnSpc>
              <a:spcBef>
                <a:spcPts val="0"/>
              </a:spcBef>
              <a:spcAft>
                <a:spcPts val="0"/>
              </a:spcAft>
              <a:defRPr sz="1600" b="0">
                <a:solidFill>
                  <a:srgbClr val="ECE9DF"/>
                </a:solidFill>
                <a:latin typeface="Noto Sans CJK SC"/>
              </a:defRPr>
            </a:pPr>
            <a:r>
              <a:t>。</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重排：窗外Gloria→镜中Bryce→店</a:t>
            </a:r>
          </a:p>
          <a:p>
            <a:pPr>
              <a:lnSpc>
                <a:spcPts val="2160"/>
              </a:lnSpc>
              <a:spcBef>
                <a:spcPts val="0"/>
              </a:spcBef>
              <a:spcAft>
                <a:spcPts val="0"/>
              </a:spcAft>
              <a:defRPr sz="1600" b="0">
                <a:solidFill>
                  <a:srgbClr val="ECE9DF"/>
                </a:solidFill>
                <a:latin typeface="Noto Sans CJK SC"/>
              </a:defRPr>
            </a:pPr>
            <a:r>
              <a:t>门→轮椅；戒指／钥匙插镜台位。</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BRIDAL BOUTIQUE / WINDOW</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1/2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141</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A008  Wheelchair</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S073 / PDF 89,90</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Medical / Rehabilitation Equipment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A025  Window / blinds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S073 / PDF 89</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A102  Champagne / wine / glasses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E44 / S074 / PDF 90</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Food Props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A135  Wedding gown</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S073 / PDF 89</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A136  Bridal mirror / glass storefront</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S073 / PDF 89</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
        <p:nvSpPr>
          <p:cNvPr id="29" name="Rectangle 28"/>
          <p:cNvSpPr/>
          <p:nvPr/>
        </p:nvSpPr>
        <p:spPr>
          <a:xfrm>
            <a:off x="457200" y="5562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6900" y="5626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A137  Velvet ring tray / two engagement rings</a:t>
            </a:r>
          </a:p>
        </p:txBody>
      </p:sp>
      <p:sp>
        <p:nvSpPr>
          <p:cNvPr id="31" name="TextBox 30"/>
          <p:cNvSpPr txBox="1"/>
          <p:nvPr/>
        </p:nvSpPr>
        <p:spPr>
          <a:xfrm>
            <a:off x="8255000" y="5626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E43 / S073 / PDF 89</a:t>
            </a:r>
          </a:p>
        </p:txBody>
      </p:sp>
      <p:sp>
        <p:nvSpPr>
          <p:cNvPr id="32" name="TextBox 31"/>
          <p:cNvSpPr txBox="1"/>
          <p:nvPr/>
        </p:nvSpPr>
        <p:spPr>
          <a:xfrm>
            <a:off x="596900" y="5930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2 scripted rings; duplicates TBD  | P0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BRIDAL BOUTIQUE / WINDOW</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  2/2</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142</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A138  Estate key</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E45 / S075 / PDF 92</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TBD  | P0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BRIDAL BOUTIQUE / WINDOW</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143</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窗外Gloria</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镜中Bryce</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店门</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轮椅</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28 / STREET OUTSIDE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公寓外街道</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E46  |  场景索引 S078</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144</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重新出发；招出租车。</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楼门→路缘→出租车；夜间交通协作[B]。</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E46 · S078 · PDF 94</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STREET OUTSIDE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145</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保留楼门与可停出租车位；不用补</a:t>
            </a:r>
          </a:p>
          <a:p>
            <a:pPr>
              <a:lnSpc>
                <a:spcPts val="2160"/>
              </a:lnSpc>
              <a:spcBef>
                <a:spcPts val="0"/>
              </a:spcBef>
              <a:spcAft>
                <a:spcPts val="0"/>
              </a:spcAft>
              <a:defRPr sz="1600" b="0">
                <a:solidFill>
                  <a:srgbClr val="ECE9DF"/>
                </a:solidFill>
                <a:latin typeface="Noto Sans CJK SC"/>
              </a:defRPr>
            </a:pPr>
            <a:r>
              <a:t>造新商店故事。</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重排：楼门→路缘→出租车；夜间</a:t>
            </a:r>
          </a:p>
          <a:p>
            <a:pPr>
              <a:lnSpc>
                <a:spcPts val="2160"/>
              </a:lnSpc>
              <a:spcBef>
                <a:spcPts val="0"/>
              </a:spcBef>
              <a:spcAft>
                <a:spcPts val="0"/>
              </a:spcAft>
              <a:defRPr sz="1600" b="0">
                <a:solidFill>
                  <a:srgbClr val="ECE9DF"/>
                </a:solidFill>
                <a:latin typeface="Noto Sans CJK SC"/>
              </a:defRPr>
            </a:pPr>
            <a:r>
              <a:t>交通协作[B]。</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STREET OUTSIDE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146</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A140  Taxi</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E46 / S078 / PDF 94</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STREET OUTSIDE APARTMENT</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147</a:t>
            </a:r>
          </a:p>
        </p:txBody>
      </p:sp>
      <p:sp>
        <p:nvSpPr>
          <p:cNvPr id="9" name="Rectangle 8"/>
          <p:cNvSpPr/>
          <p:nvPr/>
        </p:nvSpPr>
        <p:spPr>
          <a:xfrm>
            <a:off x="635000"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楼门</a:t>
            </a:r>
          </a:p>
        </p:txBody>
      </p:sp>
      <p:sp>
        <p:nvSpPr>
          <p:cNvPr id="11" name="TextBox 10"/>
          <p:cNvSpPr txBox="1"/>
          <p:nvPr/>
        </p:nvSpPr>
        <p:spPr>
          <a:xfrm>
            <a:off x="3810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4190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6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路缘</a:t>
            </a:r>
          </a:p>
        </p:txBody>
      </p:sp>
      <p:sp>
        <p:nvSpPr>
          <p:cNvPr id="14" name="TextBox 13"/>
          <p:cNvSpPr txBox="1"/>
          <p:nvPr/>
        </p:nvSpPr>
        <p:spPr>
          <a:xfrm>
            <a:off x="7366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7746999" y="2540000"/>
            <a:ext cx="3200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12100" y="2755900"/>
            <a:ext cx="2870200"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出租车</a:t>
            </a:r>
          </a:p>
        </p:txBody>
      </p:sp>
      <p:sp>
        <p:nvSpPr>
          <p:cNvPr id="17" name="TextBox 16"/>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29 / ESTATE GUEST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庄园客房</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E50  |  场景索引 S082</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148</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平安夜重新出场；整理服装和文件。</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床→镜前→桌面→门；Claire门口观察线。</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E50 · S082 · PDF 97</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GUEST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149</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床上黑礼服、镜子、书桌文件；耳</a:t>
            </a:r>
          </a:p>
          <a:p>
            <a:pPr>
              <a:lnSpc>
                <a:spcPts val="2160"/>
              </a:lnSpc>
              <a:spcBef>
                <a:spcPts val="0"/>
              </a:spcBef>
              <a:spcAft>
                <a:spcPts val="0"/>
              </a:spcAft>
              <a:defRPr sz="1600" b="0">
                <a:solidFill>
                  <a:srgbClr val="ECE9DF"/>
                </a:solidFill>
                <a:latin typeface="Noto Sans CJK SC"/>
              </a:defRPr>
            </a:pPr>
            <a:r>
              <a:t>环、手包由服装与道具交接。</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重排：床→镜前→桌面→门；Clair</a:t>
            </a:r>
          </a:p>
          <a:p>
            <a:pPr>
              <a:lnSpc>
                <a:spcPts val="2160"/>
              </a:lnSpc>
              <a:spcBef>
                <a:spcPts val="0"/>
              </a:spcBef>
              <a:spcAft>
                <a:spcPts val="0"/>
              </a:spcAft>
              <a:defRPr sz="1600" b="0">
                <a:solidFill>
                  <a:srgbClr val="ECE9DF"/>
                </a:solidFill>
                <a:latin typeface="Noto Sans CJK SC"/>
              </a:defRPr>
            </a:pPr>
            <a:r>
              <a:t>e门口观察线。</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GUEST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150</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A004  Phone / camera phone</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E50 / S082 / PDF 98</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A007  Desk</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E50 / S082 / PDF 98</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A067  Bed / headboard / mattress</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E50 / S082 / PDF 97</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Furniture  | TBD  | P1</a:t>
            </a:r>
          </a:p>
        </p:txBody>
      </p:sp>
      <p:sp>
        <p:nvSpPr>
          <p:cNvPr id="21" name="Rectangle 20"/>
          <p:cNvSpPr/>
          <p:nvPr/>
        </p:nvSpPr>
        <p:spPr>
          <a:xfrm>
            <a:off x="457200" y="4190999"/>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6900" y="42545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A141  Black evening gown / earrings / clutch</a:t>
            </a:r>
          </a:p>
        </p:txBody>
      </p:sp>
      <p:sp>
        <p:nvSpPr>
          <p:cNvPr id="23" name="TextBox 22"/>
          <p:cNvSpPr txBox="1"/>
          <p:nvPr/>
        </p:nvSpPr>
        <p:spPr>
          <a:xfrm>
            <a:off x="8255000" y="42545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E50 / S082 / PDF 97,98</a:t>
            </a:r>
          </a:p>
        </p:txBody>
      </p:sp>
      <p:sp>
        <p:nvSpPr>
          <p:cNvPr id="24" name="TextBox 23"/>
          <p:cNvSpPr txBox="1"/>
          <p:nvPr/>
        </p:nvSpPr>
        <p:spPr>
          <a:xfrm>
            <a:off x="596900" y="45593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Hand Props  | TBD  | P1</a:t>
            </a:r>
          </a:p>
        </p:txBody>
      </p:sp>
      <p:sp>
        <p:nvSpPr>
          <p:cNvPr id="25" name="Rectangle 24"/>
          <p:cNvSpPr/>
          <p:nvPr/>
        </p:nvSpPr>
        <p:spPr>
          <a:xfrm>
            <a:off x="457200" y="48768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900" y="49403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A142  Guest room desk documents</a:t>
            </a:r>
          </a:p>
        </p:txBody>
      </p:sp>
      <p:sp>
        <p:nvSpPr>
          <p:cNvPr id="27" name="TextBox 26"/>
          <p:cNvSpPr txBox="1"/>
          <p:nvPr/>
        </p:nvSpPr>
        <p:spPr>
          <a:xfrm>
            <a:off x="8255000" y="49403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E50 / S082 / PDF 98</a:t>
            </a:r>
          </a:p>
        </p:txBody>
      </p:sp>
      <p:sp>
        <p:nvSpPr>
          <p:cNvPr id="28" name="TextBox 27"/>
          <p:cNvSpPr txBox="1"/>
          <p:nvPr/>
        </p:nvSpPr>
        <p:spPr>
          <a:xfrm>
            <a:off x="596900" y="52451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Graphics / Printed Materials  | TBD  | P0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GUEST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151</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床</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镜前</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桌面</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门</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30 / ESTATE GROUNDS</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庄园庭院</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E58  |  场景索引 S092</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152</a:t>
            </a:r>
          </a:p>
        </p:txBody>
      </p:sp>
      <p:sp>
        <p:nvSpPr>
          <p:cNvPr id="9" name="TextBox 8"/>
          <p:cNvSpPr txBox="1"/>
          <p:nvPr/>
        </p:nvSpPr>
        <p:spPr>
          <a:xfrm>
            <a:off x="457200" y="2286000"/>
            <a:ext cx="6858000" cy="1841500"/>
          </a:xfrm>
          <a:prstGeom prst="rect">
            <a:avLst/>
          </a:prstGeom>
          <a:noFill/>
        </p:spPr>
        <p:txBody>
          <a:bodyPr wrap="none" lIns="0" rIns="0" tIns="0" bIns="0">
            <a:spAutoFit/>
          </a:bodyPr>
          <a:lstStyle/>
          <a:p>
            <a:pPr>
              <a:lnSpc>
                <a:spcPts val="3645"/>
              </a:lnSpc>
              <a:spcBef>
                <a:spcPts val="0"/>
              </a:spcBef>
              <a:spcAft>
                <a:spcPts val="0"/>
              </a:spcAft>
              <a:defRPr sz="2700" b="0">
                <a:solidFill>
                  <a:srgbClr val="ECE9DF"/>
                </a:solidFill>
                <a:latin typeface="Noto Sans CJK SC"/>
              </a:defRPr>
            </a:pPr>
            <a:r>
              <a:t>追出宴会厅；雪中独行。</a:t>
            </a:r>
          </a:p>
        </p:txBody>
      </p:sp>
      <p:sp>
        <p:nvSpPr>
          <p:cNvPr id="10" name="Rectangle 9"/>
          <p:cNvSpPr/>
          <p:nvPr/>
        </p:nvSpPr>
        <p:spPr>
          <a:xfrm>
            <a:off x="457200" y="4610100"/>
            <a:ext cx="6794500" cy="1397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100" y="4800600"/>
            <a:ext cx="6350000" cy="10160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B / 空间策略</a:t>
            </a:r>
          </a:p>
          <a:p>
            <a:pPr>
              <a:lnSpc>
                <a:spcPts val="2160"/>
              </a:lnSpc>
              <a:spcBef>
                <a:spcPts val="0"/>
              </a:spcBef>
              <a:spcAft>
                <a:spcPts val="0"/>
              </a:spcAft>
              <a:defRPr sz="1600" b="0">
                <a:solidFill>
                  <a:srgbClr val="ECE9DF"/>
                </a:solidFill>
                <a:latin typeface="Noto Sans CJK SC"/>
              </a:defRPr>
            </a:pPr>
            <a:r>
              <a:t>前门→Daniel止步→Bryce独行→市场转场。</a:t>
            </a:r>
          </a:p>
        </p:txBody>
      </p:sp>
      <p:sp>
        <p:nvSpPr>
          <p:cNvPr id="12" name="TextBox 11"/>
          <p:cNvSpPr txBox="1"/>
          <p:nvPr/>
        </p:nvSpPr>
        <p:spPr>
          <a:xfrm>
            <a:off x="7683500" y="2247900"/>
            <a:ext cx="3873499" cy="3048000"/>
          </a:xfrm>
          <a:prstGeom prst="rect">
            <a:avLst/>
          </a:prstGeom>
          <a:noFill/>
        </p:spPr>
        <p:txBody>
          <a:bodyPr wrap="none" lIns="0" rIns="0" tIns="0" bIns="0">
            <a:spAutoFit/>
          </a:bodyPr>
          <a:lstStyle/>
          <a:p>
            <a:pPr>
              <a:lnSpc>
                <a:spcPts val="2025"/>
              </a:lnSpc>
              <a:spcBef>
                <a:spcPts val="0"/>
              </a:spcBef>
              <a:spcAft>
                <a:spcPts val="0"/>
              </a:spcAft>
              <a:defRPr sz="1500" b="0">
                <a:solidFill>
                  <a:srgbClr val="C4A36C"/>
                </a:solidFill>
                <a:latin typeface="Noto Sans CJK SC"/>
              </a:defRPr>
            </a:pPr>
            <a:r>
              <a:t>A / 场景依据</a:t>
            </a:r>
          </a:p>
          <a:p>
            <a:pPr>
              <a:lnSpc>
                <a:spcPts val="2025"/>
              </a:lnSpc>
              <a:spcBef>
                <a:spcPts val="0"/>
              </a:spcBef>
              <a:spcAft>
                <a:spcPts val="0"/>
              </a:spcAft>
              <a:defRPr sz="1500" b="0">
                <a:solidFill>
                  <a:srgbClr val="C4A36C"/>
                </a:solidFill>
                <a:latin typeface="Noto Sans CJK SC"/>
              </a:defRPr>
            </a:pPr>
            <a:r>
              <a:t>E58 · S092 · PDF 109</a:t>
            </a:r>
          </a:p>
          <a:p>
            <a:pPr>
              <a:lnSpc>
                <a:spcPts val="2025"/>
              </a:lnSpc>
              <a:spcBef>
                <a:spcPts val="0"/>
              </a:spcBef>
              <a:spcAft>
                <a:spcPts val="0"/>
              </a:spcAft>
              <a:defRPr sz="1500" b="0">
                <a:solidFill>
                  <a:srgbClr val="C4A36C"/>
                </a:solidFill>
                <a:latin typeface="Noto Sans CJK SC"/>
              </a:defRPr>
            </a:pPr>
          </a:p>
          <a:p>
            <a:pPr>
              <a:lnSpc>
                <a:spcPts val="2025"/>
              </a:lnSpc>
              <a:spcBef>
                <a:spcPts val="0"/>
              </a:spcBef>
              <a:spcAft>
                <a:spcPts val="0"/>
              </a:spcAft>
              <a:defRPr sz="1500" b="0">
                <a:solidFill>
                  <a:srgbClr val="C4A36C"/>
                </a:solidFill>
                <a:latin typeface="Noto Sans CJK SC"/>
              </a:defRPr>
            </a:pPr>
            <a:r>
              <a:t>完整逐场页码见工作簿。</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GROUNDS</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陈设与改造 / Dressing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以下执行步骤为B制作建议；其中A物件依据在下一页与工作簿列出。</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153</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增加／采购／租赁</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前门与雪地路线衔接；头饰握持与</a:t>
            </a:r>
          </a:p>
          <a:p>
            <a:pPr>
              <a:lnSpc>
                <a:spcPts val="2160"/>
              </a:lnSpc>
              <a:spcBef>
                <a:spcPts val="0"/>
              </a:spcBef>
              <a:spcAft>
                <a:spcPts val="0"/>
              </a:spcAft>
              <a:defRPr sz="1600" b="0">
                <a:solidFill>
                  <a:srgbClr val="ECE9DF"/>
                </a:solidFill>
                <a:latin typeface="Noto Sans CJK SC"/>
              </a:defRPr>
            </a:pPr>
            <a:r>
              <a:t>肩部积雪逐镜登记[B]。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移除／替换／重排</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移除：遮住门洞、轮椅或揭示视线</a:t>
            </a:r>
          </a:p>
          <a:p>
            <a:pPr>
              <a:lnSpc>
                <a:spcPts val="2160"/>
              </a:lnSpc>
              <a:spcBef>
                <a:spcPts val="0"/>
              </a:spcBef>
              <a:spcAft>
                <a:spcPts val="0"/>
              </a:spcAft>
              <a:defRPr sz="1600" b="0">
                <a:solidFill>
                  <a:srgbClr val="ECE9DF"/>
                </a:solidFill>
                <a:latin typeface="Noto Sans CJK SC"/>
              </a:defRPr>
            </a:pPr>
            <a:r>
              <a:t>的杂物。</a:t>
            </a:r>
          </a:p>
          <a:p>
            <a:pPr>
              <a:lnSpc>
                <a:spcPts val="2160"/>
              </a:lnSpc>
              <a:spcBef>
                <a:spcPts val="0"/>
              </a:spcBef>
              <a:spcAft>
                <a:spcPts val="0"/>
              </a:spcAft>
              <a:defRPr sz="1600" b="0">
                <a:solidFill>
                  <a:srgbClr val="ECE9DF"/>
                </a:solidFill>
                <a:latin typeface="Noto Sans CJK SC"/>
              </a:defRPr>
            </a:pPr>
            <a:r>
              <a:t>重排：前门→Daniel止步→Bryce独</a:t>
            </a:r>
          </a:p>
          <a:p>
            <a:pPr>
              <a:lnSpc>
                <a:spcPts val="2160"/>
              </a:lnSpc>
              <a:spcBef>
                <a:spcPts val="0"/>
              </a:spcBef>
              <a:spcAft>
                <a:spcPts val="0"/>
              </a:spcAft>
              <a:defRPr sz="1600" b="0">
                <a:solidFill>
                  <a:srgbClr val="ECE9DF"/>
                </a:solidFill>
                <a:latin typeface="Noto Sans CJK SC"/>
              </a:defRPr>
            </a:pPr>
            <a:r>
              <a:t>行→市场转场。</a:t>
            </a:r>
          </a:p>
          <a:p>
            <a:pPr>
              <a:lnSpc>
                <a:spcPts val="2160"/>
              </a:lnSpc>
              <a:spcBef>
                <a:spcPts val="0"/>
              </a:spcBef>
              <a:spcAft>
                <a:spcPts val="0"/>
              </a:spcAft>
              <a:defRPr sz="1600" b="0">
                <a:solidFill>
                  <a:srgbClr val="ECE9DF"/>
                </a:solidFill>
                <a:latin typeface="Noto Sans CJK SC"/>
              </a:defRPr>
            </a:pPr>
            <a:r>
              <a:t>替换：强反光／带未清权商标物件</a:t>
            </a:r>
          </a:p>
          <a:p>
            <a:pPr>
              <a:lnSpc>
                <a:spcPts val="2160"/>
              </a:lnSpc>
              <a:spcBef>
                <a:spcPts val="0"/>
              </a:spcBef>
              <a:spcAft>
                <a:spcPts val="0"/>
              </a:spcAft>
              <a:defRPr sz="1600" b="0">
                <a:solidFill>
                  <a:srgbClr val="ECE9DF"/>
                </a:solidFill>
                <a:latin typeface="Noto Sans CJK SC"/>
              </a:defRPr>
            </a:pPr>
            <a:r>
              <a:t>[B]。</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制作／复位／收景</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制作：本区A类图文与动作版本；</a:t>
            </a:r>
          </a:p>
          <a:p>
            <a:pPr>
              <a:lnSpc>
                <a:spcPts val="2160"/>
              </a:lnSpc>
              <a:spcBef>
                <a:spcPts val="0"/>
              </a:spcBef>
              <a:spcAft>
                <a:spcPts val="0"/>
              </a:spcAft>
              <a:defRPr sz="1600" b="0">
                <a:solidFill>
                  <a:srgbClr val="ECE9DF"/>
                </a:solidFill>
                <a:latin typeface="Noto Sans CJK SC"/>
              </a:defRPr>
            </a:pPr>
            <a:r>
              <a:t>其余TBD。</a:t>
            </a:r>
          </a:p>
          <a:p>
            <a:pPr>
              <a:lnSpc>
                <a:spcPts val="2160"/>
              </a:lnSpc>
              <a:spcBef>
                <a:spcPts val="0"/>
              </a:spcBef>
              <a:spcAft>
                <a:spcPts val="0"/>
              </a:spcAft>
              <a:defRPr sz="1600" b="0">
                <a:solidFill>
                  <a:srgbClr val="ECE9DF"/>
                </a:solidFill>
                <a:latin typeface="Noto Sans CJK SC"/>
              </a:defRPr>
            </a:pPr>
            <a:r>
              <a:t>开拍前：照明、位置、版本照片。</a:t>
            </a:r>
          </a:p>
          <a:p>
            <a:pPr>
              <a:lnSpc>
                <a:spcPts val="2160"/>
              </a:lnSpc>
              <a:spcBef>
                <a:spcPts val="0"/>
              </a:spcBef>
              <a:spcAft>
                <a:spcPts val="0"/>
              </a:spcAft>
              <a:defRPr sz="1600" b="0">
                <a:solidFill>
                  <a:srgbClr val="ECE9DF"/>
                </a:solidFill>
                <a:latin typeface="Noto Sans CJK SC"/>
              </a:defRPr>
            </a:pPr>
            <a:r>
              <a:t>转场后：盘点英雄道具；保留脏损</a:t>
            </a:r>
          </a:p>
          <a:p>
            <a:pPr>
              <a:lnSpc>
                <a:spcPts val="2160"/>
              </a:lnSpc>
              <a:spcBef>
                <a:spcPts val="0"/>
              </a:spcBef>
              <a:spcAft>
                <a:spcPts val="0"/>
              </a:spcAft>
              <a:defRPr sz="1600" b="0">
                <a:solidFill>
                  <a:srgbClr val="ECE9DF"/>
                </a:solidFill>
                <a:latin typeface="Noto Sans CJK SC"/>
              </a:defRPr>
            </a:pPr>
            <a:r>
              <a:t>版，归还租赁件。</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GROUNDS</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剧本道具 / Required Objects</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有文字依据；借用同场合成标题的物件须在走位后确认所属分区。数量未明确者均TBD。</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154</a:t>
            </a:r>
          </a:p>
        </p:txBody>
      </p:sp>
      <p:sp>
        <p:nvSpPr>
          <p:cNvPr id="9" name="Rectangle 8"/>
          <p:cNvSpPr/>
          <p:nvPr/>
        </p:nvSpPr>
        <p:spPr>
          <a:xfrm>
            <a:off x="457200" y="21336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6900" y="21971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A047  Light-up reindeer hats / antler headband</a:t>
            </a:r>
          </a:p>
        </p:txBody>
      </p:sp>
      <p:sp>
        <p:nvSpPr>
          <p:cNvPr id="11" name="TextBox 10"/>
          <p:cNvSpPr txBox="1"/>
          <p:nvPr/>
        </p:nvSpPr>
        <p:spPr>
          <a:xfrm>
            <a:off x="8255000" y="21971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E58 / S092 / PDF 109</a:t>
            </a:r>
          </a:p>
        </p:txBody>
      </p:sp>
      <p:sp>
        <p:nvSpPr>
          <p:cNvPr id="12" name="TextBox 11"/>
          <p:cNvSpPr txBox="1"/>
          <p:nvPr/>
        </p:nvSpPr>
        <p:spPr>
          <a:xfrm>
            <a:off x="596900" y="25019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Hero Props  | 2 hats in E9–10; headband continuity to confirm  | P0</a:t>
            </a:r>
          </a:p>
        </p:txBody>
      </p:sp>
      <p:sp>
        <p:nvSpPr>
          <p:cNvPr id="13" name="Rectangle 12"/>
          <p:cNvSpPr/>
          <p:nvPr/>
        </p:nvSpPr>
        <p:spPr>
          <a:xfrm>
            <a:off x="457200" y="28194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900" y="28829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A121  Snow / wheel tracks</a:t>
            </a:r>
          </a:p>
        </p:txBody>
      </p:sp>
      <p:sp>
        <p:nvSpPr>
          <p:cNvPr id="15" name="TextBox 14"/>
          <p:cNvSpPr txBox="1"/>
          <p:nvPr/>
        </p:nvSpPr>
        <p:spPr>
          <a:xfrm>
            <a:off x="8255000" y="28829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E58 / S092 / PDF 109</a:t>
            </a:r>
          </a:p>
        </p:txBody>
      </p:sp>
      <p:sp>
        <p:nvSpPr>
          <p:cNvPr id="16" name="TextBox 15"/>
          <p:cNvSpPr txBox="1"/>
          <p:nvPr/>
        </p:nvSpPr>
        <p:spPr>
          <a:xfrm>
            <a:off x="596900" y="3187700"/>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Special Effects / Breakaway Props  | TBD  | P0</a:t>
            </a:r>
          </a:p>
        </p:txBody>
      </p:sp>
      <p:sp>
        <p:nvSpPr>
          <p:cNvPr id="17" name="Rectangle 16"/>
          <p:cNvSpPr/>
          <p:nvPr/>
        </p:nvSpPr>
        <p:spPr>
          <a:xfrm>
            <a:off x="457200" y="3505200"/>
            <a:ext cx="11277600" cy="6096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6900" y="3568700"/>
            <a:ext cx="7493000" cy="317500"/>
          </a:xfrm>
          <a:prstGeom prst="rect">
            <a:avLst/>
          </a:prstGeom>
          <a:noFill/>
        </p:spPr>
        <p:txBody>
          <a:bodyPr wrap="none" lIns="0" rIns="0" tIns="0" bIns="0">
            <a:spAutoFit/>
          </a:bodyPr>
          <a:lstStyle/>
          <a:p>
            <a:pPr>
              <a:lnSpc>
                <a:spcPts val="1890"/>
              </a:lnSpc>
              <a:spcBef>
                <a:spcPts val="0"/>
              </a:spcBef>
              <a:spcAft>
                <a:spcPts val="0"/>
              </a:spcAft>
              <a:defRPr sz="1400" b="0">
                <a:solidFill>
                  <a:srgbClr val="ECE9DF"/>
                </a:solidFill>
                <a:latin typeface="Noto Sans CJK SC"/>
              </a:defRPr>
            </a:pPr>
            <a:r>
              <a:t>A122  Front door / latch</a:t>
            </a:r>
          </a:p>
        </p:txBody>
      </p:sp>
      <p:sp>
        <p:nvSpPr>
          <p:cNvPr id="19" name="TextBox 18"/>
          <p:cNvSpPr txBox="1"/>
          <p:nvPr/>
        </p:nvSpPr>
        <p:spPr>
          <a:xfrm>
            <a:off x="8255000" y="3568700"/>
            <a:ext cx="33020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E58 / S092 / PDF 109</a:t>
            </a:r>
          </a:p>
        </p:txBody>
      </p:sp>
      <p:sp>
        <p:nvSpPr>
          <p:cNvPr id="20" name="TextBox 19"/>
          <p:cNvSpPr txBox="1"/>
          <p:nvPr/>
        </p:nvSpPr>
        <p:spPr>
          <a:xfrm>
            <a:off x="596900" y="3873499"/>
            <a:ext cx="10922000" cy="215900"/>
          </a:xfrm>
          <a:prstGeom prst="rect">
            <a:avLst/>
          </a:prstGeom>
          <a:noFill/>
        </p:spPr>
        <p:txBody>
          <a:bodyPr wrap="none" lIns="0" rIns="0" tIns="0" bIns="0">
            <a:spAutoFit/>
          </a:bodyPr>
          <a:lstStyle/>
          <a:p>
            <a:pPr>
              <a:lnSpc>
                <a:spcPts val="1215"/>
              </a:lnSpc>
              <a:spcBef>
                <a:spcPts val="0"/>
              </a:spcBef>
              <a:spcAft>
                <a:spcPts val="0"/>
              </a:spcAft>
              <a:defRPr sz="900" b="0">
                <a:solidFill>
                  <a:srgbClr val="A7B0B2"/>
                </a:solidFill>
                <a:latin typeface="Noto Sans CJK SC"/>
              </a:defRPr>
            </a:pPr>
            <a:r>
              <a:t>Set Decoration  | TBD  | P1</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GROUNDS</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动线与机位 / Blocking Study</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关系示意，不按比例。实际门窗、净空、设备与安全方案均待勘景／部门确认。</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155</a:t>
            </a:r>
          </a:p>
        </p:txBody>
      </p:sp>
      <p:sp>
        <p:nvSpPr>
          <p:cNvPr id="9" name="Rectangle 8"/>
          <p:cNvSpPr/>
          <p:nvPr/>
        </p:nvSpPr>
        <p:spPr>
          <a:xfrm>
            <a:off x="635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前门</a:t>
            </a:r>
          </a:p>
        </p:txBody>
      </p:sp>
      <p:sp>
        <p:nvSpPr>
          <p:cNvPr id="11" name="TextBox 10"/>
          <p:cNvSpPr txBox="1"/>
          <p:nvPr/>
        </p:nvSpPr>
        <p:spPr>
          <a:xfrm>
            <a:off x="2921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2" name="Rectangle 11"/>
          <p:cNvSpPr/>
          <p:nvPr/>
        </p:nvSpPr>
        <p:spPr>
          <a:xfrm>
            <a:off x="3302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7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Daniel止步</a:t>
            </a:r>
          </a:p>
        </p:txBody>
      </p:sp>
      <p:sp>
        <p:nvSpPr>
          <p:cNvPr id="14" name="TextBox 13"/>
          <p:cNvSpPr txBox="1"/>
          <p:nvPr/>
        </p:nvSpPr>
        <p:spPr>
          <a:xfrm>
            <a:off x="5588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5" name="Rectangle 14"/>
          <p:cNvSpPr/>
          <p:nvPr/>
        </p:nvSpPr>
        <p:spPr>
          <a:xfrm>
            <a:off x="5969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4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Bryce独行</a:t>
            </a:r>
          </a:p>
        </p:txBody>
      </p:sp>
      <p:sp>
        <p:nvSpPr>
          <p:cNvPr id="17" name="TextBox 16"/>
          <p:cNvSpPr txBox="1"/>
          <p:nvPr/>
        </p:nvSpPr>
        <p:spPr>
          <a:xfrm>
            <a:off x="8255000" y="3048000"/>
            <a:ext cx="381000" cy="508000"/>
          </a:xfrm>
          <a:prstGeom prst="rect">
            <a:avLst/>
          </a:prstGeom>
          <a:noFill/>
        </p:spPr>
        <p:txBody>
          <a:bodyPr wrap="none" lIns="0" rIns="0" tIns="0" bIns="0">
            <a:spAutoFit/>
          </a:bodyPr>
          <a:lstStyle/>
          <a:p>
            <a:pPr>
              <a:lnSpc>
                <a:spcPts val="2835"/>
              </a:lnSpc>
              <a:spcBef>
                <a:spcPts val="0"/>
              </a:spcBef>
              <a:spcAft>
                <a:spcPts val="0"/>
              </a:spcAft>
              <a:defRPr sz="2100" b="0">
                <a:solidFill>
                  <a:srgbClr val="C4A36C"/>
                </a:solidFill>
                <a:latin typeface="Noto Sans CJK SC"/>
              </a:defRPr>
            </a:pPr>
            <a:r>
              <a:t>→</a:t>
            </a:r>
          </a:p>
        </p:txBody>
      </p:sp>
      <p:sp>
        <p:nvSpPr>
          <p:cNvPr id="18" name="Rectangle 17"/>
          <p:cNvSpPr/>
          <p:nvPr/>
        </p:nvSpPr>
        <p:spPr>
          <a:xfrm>
            <a:off x="8636000" y="2540000"/>
            <a:ext cx="2311400" cy="14478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01100" y="2755900"/>
            <a:ext cx="1981199" cy="1206500"/>
          </a:xfrm>
          <a:prstGeom prst="rect">
            <a:avLst/>
          </a:prstGeom>
          <a:noFill/>
        </p:spPr>
        <p:txBody>
          <a:bodyPr wrap="none" lIns="0" rIns="0" tIns="0" bIns="0">
            <a:spAutoFit/>
          </a:bodyPr>
          <a:lstStyle/>
          <a:p>
            <a:pPr>
              <a:lnSpc>
                <a:spcPts val="2295"/>
              </a:lnSpc>
              <a:spcBef>
                <a:spcPts val="0"/>
              </a:spcBef>
              <a:spcAft>
                <a:spcPts val="0"/>
              </a:spcAft>
              <a:defRPr sz="1700" b="0">
                <a:solidFill>
                  <a:srgbClr val="ECE9DF"/>
                </a:solidFill>
                <a:latin typeface="Noto Sans CJK SC"/>
              </a:defRPr>
            </a:pPr>
            <a:r>
              <a:t>市场转场。</a:t>
            </a:r>
          </a:p>
        </p:txBody>
      </p:sp>
      <p:sp>
        <p:nvSpPr>
          <p:cNvPr id="20" name="TextBox 19"/>
          <p:cNvSpPr txBox="1"/>
          <p:nvPr/>
        </p:nvSpPr>
        <p:spPr>
          <a:xfrm>
            <a:off x="635000" y="4445000"/>
            <a:ext cx="10795000" cy="1587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机位建议[B]：沿演员视线建立主轴；插镜单独留台面和光线。</a:t>
            </a:r>
          </a:p>
          <a:p>
            <a:pPr>
              <a:lnSpc>
                <a:spcPts val="2160"/>
              </a:lnSpc>
              <a:spcBef>
                <a:spcPts val="0"/>
              </a:spcBef>
              <a:spcAft>
                <a:spcPts val="0"/>
              </a:spcAft>
              <a:defRPr sz="1600" b="0">
                <a:solidFill>
                  <a:srgbClr val="ECE9DF"/>
                </a:solidFill>
                <a:latin typeface="Noto Sans CJK SC"/>
              </a:defRPr>
            </a:pPr>
            <a:r>
              <a:t>轮椅／动作通道[B]：先走位再摆饰品；不以概念图推定净空。</a:t>
            </a:r>
          </a:p>
          <a:p>
            <a:pPr>
              <a:lnSpc>
                <a:spcPts val="2160"/>
              </a:lnSpc>
              <a:spcBef>
                <a:spcPts val="0"/>
              </a:spcBef>
              <a:spcAft>
                <a:spcPts val="0"/>
              </a:spcAft>
              <a:defRPr sz="1600" b="0">
                <a:solidFill>
                  <a:srgbClr val="ECE9DF"/>
                </a:solidFill>
                <a:latin typeface="Noto Sans CJK SC"/>
              </a:defRPr>
            </a:pPr>
            <a:r>
              <a:t>实景对照：Location Photo Pending；收到照片后再标“保留／拆除／改造”。</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建议平面 / Schematic Set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未测量、无比例；物件A标记只指剧本存在，摆位和房间轮廓均为提案。</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156</a:t>
            </a:r>
          </a:p>
        </p:txBody>
      </p:sp>
      <p:sp>
        <p:nvSpPr>
          <p:cNvPr id="9" name="Rectangle 8"/>
          <p:cNvSpPr/>
          <p:nvPr/>
        </p:nvSpPr>
        <p:spPr>
          <a:xfrm>
            <a:off x="1905000" y="2108200"/>
            <a:ext cx="9017000" cy="3810000"/>
          </a:xfrm>
          <a:prstGeom prst="rect">
            <a:avLst/>
          </a:prstGeom>
          <a:solidFill>
            <a:srgbClr val="344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68500" y="2171700"/>
            <a:ext cx="8890000" cy="3683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937000" y="2540000"/>
            <a:ext cx="3048000" cy="1333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38600" y="2628900"/>
            <a:ext cx="2844800" cy="1206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床 / A</a:t>
            </a:r>
          </a:p>
        </p:txBody>
      </p:sp>
      <p:sp>
        <p:nvSpPr>
          <p:cNvPr id="13" name="Rectangle 12"/>
          <p:cNvSpPr/>
          <p:nvPr/>
        </p:nvSpPr>
        <p:spPr>
          <a:xfrm>
            <a:off x="7112000" y="2540000"/>
            <a:ext cx="1206500" cy="952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13600" y="2628900"/>
            <a:ext cx="1003300" cy="825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床头柜 / A</a:t>
            </a:r>
          </a:p>
        </p:txBody>
      </p:sp>
      <p:sp>
        <p:nvSpPr>
          <p:cNvPr id="15" name="Rectangle 14"/>
          <p:cNvSpPr/>
          <p:nvPr/>
        </p:nvSpPr>
        <p:spPr>
          <a:xfrm>
            <a:off x="2476500" y="4000500"/>
            <a:ext cx="1270000" cy="825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78100" y="4089400"/>
            <a:ext cx="1066800" cy="698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训练架 / A</a:t>
            </a:r>
          </a:p>
        </p:txBody>
      </p:sp>
      <p:sp>
        <p:nvSpPr>
          <p:cNvPr id="17" name="Rectangle 16"/>
          <p:cNvSpPr/>
          <p:nvPr/>
        </p:nvSpPr>
        <p:spPr>
          <a:xfrm>
            <a:off x="8255000" y="4190999"/>
            <a:ext cx="1905000" cy="825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6600" y="4279900"/>
            <a:ext cx="1701800" cy="698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书桌＋文件 / A</a:t>
            </a:r>
          </a:p>
        </p:txBody>
      </p:sp>
      <p:sp>
        <p:nvSpPr>
          <p:cNvPr id="19" name="Rectangle 18"/>
          <p:cNvSpPr/>
          <p:nvPr/>
        </p:nvSpPr>
        <p:spPr>
          <a:xfrm>
            <a:off x="5461000" y="4635500"/>
            <a:ext cx="1397000" cy="825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2600" y="4724400"/>
            <a:ext cx="1193800" cy="698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轮椅停位 / A</a:t>
            </a:r>
          </a:p>
        </p:txBody>
      </p:sp>
      <p:sp>
        <p:nvSpPr>
          <p:cNvPr id="21" name="Rectangle 20"/>
          <p:cNvSpPr/>
          <p:nvPr/>
        </p:nvSpPr>
        <p:spPr>
          <a:xfrm>
            <a:off x="2006600" y="5461000"/>
            <a:ext cx="1651000" cy="3556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95499" y="5499100"/>
            <a:ext cx="1524000" cy="317500"/>
          </a:xfrm>
          <a:prstGeom prst="rect">
            <a:avLst/>
          </a:prstGeom>
          <a:noFill/>
        </p:spPr>
        <p:txBody>
          <a:bodyPr wrap="none" lIns="0" rIns="0" tIns="0" bIns="0">
            <a:spAutoFit/>
          </a:bodyPr>
          <a:lstStyle/>
          <a:p>
            <a:pPr>
              <a:lnSpc>
                <a:spcPts val="1485"/>
              </a:lnSpc>
              <a:spcBef>
                <a:spcPts val="0"/>
              </a:spcBef>
              <a:spcAft>
                <a:spcPts val="0"/>
              </a:spcAft>
              <a:defRPr sz="1100" b="0">
                <a:solidFill>
                  <a:srgbClr val="ECE9DF"/>
                </a:solidFill>
                <a:latin typeface="Noto Sans CJK SC"/>
              </a:defRPr>
            </a:pPr>
            <a:r>
              <a:t>入口 / B</a:t>
            </a:r>
          </a:p>
        </p:txBody>
      </p:sp>
      <p:sp>
        <p:nvSpPr>
          <p:cNvPr id="23" name="TextBox 22"/>
          <p:cNvSpPr txBox="1"/>
          <p:nvPr/>
        </p:nvSpPr>
        <p:spPr>
          <a:xfrm>
            <a:off x="457200" y="6032500"/>
            <a:ext cx="11239500" cy="3429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保留中央出入路径与低机位；实际尺寸／门窗／转向净空TBD。 *宴会厅生日与平安夜为不同状态。</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建议平面 / Schematic Set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未测量、无比例；物件A标记只指剧本存在，摆位和房间轮廓均为提案。</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157</a:t>
            </a:r>
          </a:p>
        </p:txBody>
      </p:sp>
      <p:sp>
        <p:nvSpPr>
          <p:cNvPr id="9" name="Rectangle 8"/>
          <p:cNvSpPr/>
          <p:nvPr/>
        </p:nvSpPr>
        <p:spPr>
          <a:xfrm>
            <a:off x="1905000" y="2108200"/>
            <a:ext cx="9017000" cy="3810000"/>
          </a:xfrm>
          <a:prstGeom prst="rect">
            <a:avLst/>
          </a:prstGeom>
          <a:solidFill>
            <a:srgbClr val="344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68500" y="2171700"/>
            <a:ext cx="8890000" cy="3683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94000" y="2603500"/>
            <a:ext cx="3048000" cy="1206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95600" y="2692400"/>
            <a:ext cx="2844800" cy="1079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治疗台 / A</a:t>
            </a:r>
          </a:p>
        </p:txBody>
      </p:sp>
      <p:sp>
        <p:nvSpPr>
          <p:cNvPr id="13" name="Rectangle 12"/>
          <p:cNvSpPr/>
          <p:nvPr/>
        </p:nvSpPr>
        <p:spPr>
          <a:xfrm>
            <a:off x="3111500" y="4254500"/>
            <a:ext cx="2667000" cy="1143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13100" y="4343400"/>
            <a:ext cx="2463800" cy="1016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跌落垫 / A</a:t>
            </a:r>
          </a:p>
        </p:txBody>
      </p:sp>
      <p:sp>
        <p:nvSpPr>
          <p:cNvPr id="15" name="Rectangle 14"/>
          <p:cNvSpPr/>
          <p:nvPr/>
        </p:nvSpPr>
        <p:spPr>
          <a:xfrm>
            <a:off x="6350000" y="3302000"/>
            <a:ext cx="1651000" cy="1016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1600" y="3390900"/>
            <a:ext cx="1447800" cy="889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轮椅转移 / A</a:t>
            </a:r>
          </a:p>
        </p:txBody>
      </p:sp>
      <p:sp>
        <p:nvSpPr>
          <p:cNvPr id="17" name="Rectangle 16"/>
          <p:cNvSpPr/>
          <p:nvPr/>
        </p:nvSpPr>
        <p:spPr>
          <a:xfrm>
            <a:off x="8572500" y="2730500"/>
            <a:ext cx="1460500" cy="825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74100" y="2819400"/>
            <a:ext cx="1257300" cy="698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药杯台脚 / A</a:t>
            </a:r>
          </a:p>
        </p:txBody>
      </p:sp>
      <p:sp>
        <p:nvSpPr>
          <p:cNvPr id="19" name="Rectangle 18"/>
          <p:cNvSpPr/>
          <p:nvPr/>
        </p:nvSpPr>
        <p:spPr>
          <a:xfrm>
            <a:off x="8509000" y="4762500"/>
            <a:ext cx="1651000" cy="698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0600" y="4851400"/>
            <a:ext cx="1447800" cy="571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监控视轴 / B</a:t>
            </a:r>
          </a:p>
        </p:txBody>
      </p:sp>
      <p:sp>
        <p:nvSpPr>
          <p:cNvPr id="21" name="Rectangle 20"/>
          <p:cNvSpPr/>
          <p:nvPr/>
        </p:nvSpPr>
        <p:spPr>
          <a:xfrm>
            <a:off x="2006600" y="5461000"/>
            <a:ext cx="1651000" cy="3556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95499" y="5499100"/>
            <a:ext cx="1524000" cy="317500"/>
          </a:xfrm>
          <a:prstGeom prst="rect">
            <a:avLst/>
          </a:prstGeom>
          <a:noFill/>
        </p:spPr>
        <p:txBody>
          <a:bodyPr wrap="none" lIns="0" rIns="0" tIns="0" bIns="0">
            <a:spAutoFit/>
          </a:bodyPr>
          <a:lstStyle/>
          <a:p>
            <a:pPr>
              <a:lnSpc>
                <a:spcPts val="1485"/>
              </a:lnSpc>
              <a:spcBef>
                <a:spcPts val="0"/>
              </a:spcBef>
              <a:spcAft>
                <a:spcPts val="0"/>
              </a:spcAft>
              <a:defRPr sz="1100" b="0">
                <a:solidFill>
                  <a:srgbClr val="ECE9DF"/>
                </a:solidFill>
                <a:latin typeface="Noto Sans CJK SC"/>
              </a:defRPr>
            </a:pPr>
            <a:r>
              <a:t>入口 / B</a:t>
            </a:r>
          </a:p>
        </p:txBody>
      </p:sp>
      <p:sp>
        <p:nvSpPr>
          <p:cNvPr id="23" name="TextBox 22"/>
          <p:cNvSpPr txBox="1"/>
          <p:nvPr/>
        </p:nvSpPr>
        <p:spPr>
          <a:xfrm>
            <a:off x="457200" y="6032500"/>
            <a:ext cx="11239500" cy="3429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保留中央出入路径与低机位；实际尺寸／门窗／转向净空TBD。 *宴会厅生日与平安夜为不同状态。</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建议平面 / Schematic Set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未测量、无比例；物件A标记只指剧本存在，摆位和房间轮廓均为提案。</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158</a:t>
            </a:r>
          </a:p>
        </p:txBody>
      </p:sp>
      <p:sp>
        <p:nvSpPr>
          <p:cNvPr id="9" name="Rectangle 8"/>
          <p:cNvSpPr/>
          <p:nvPr/>
        </p:nvSpPr>
        <p:spPr>
          <a:xfrm>
            <a:off x="1905000" y="2108200"/>
            <a:ext cx="9017000" cy="3810000"/>
          </a:xfrm>
          <a:prstGeom prst="rect">
            <a:avLst/>
          </a:prstGeom>
          <a:solidFill>
            <a:srgbClr val="344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68500" y="2171700"/>
            <a:ext cx="8890000" cy="3683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8000" y="2667000"/>
            <a:ext cx="3048000" cy="1143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9600" y="2755900"/>
            <a:ext cx="2844800" cy="1016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书桌 / A</a:t>
            </a:r>
          </a:p>
        </p:txBody>
      </p:sp>
      <p:sp>
        <p:nvSpPr>
          <p:cNvPr id="13" name="Rectangle 12"/>
          <p:cNvSpPr/>
          <p:nvPr/>
        </p:nvSpPr>
        <p:spPr>
          <a:xfrm>
            <a:off x="5207000" y="4318000"/>
            <a:ext cx="1587500" cy="762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8600" y="4406900"/>
            <a:ext cx="1384300" cy="635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访客站位 / B</a:t>
            </a:r>
          </a:p>
        </p:txBody>
      </p:sp>
      <p:sp>
        <p:nvSpPr>
          <p:cNvPr id="15" name="Rectangle 14"/>
          <p:cNvSpPr/>
          <p:nvPr/>
        </p:nvSpPr>
        <p:spPr>
          <a:xfrm>
            <a:off x="8763000" y="3556000"/>
            <a:ext cx="1460500" cy="1079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4600" y="3644900"/>
            <a:ext cx="1257300" cy="952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棋桌 / A</a:t>
            </a:r>
          </a:p>
        </p:txBody>
      </p:sp>
      <p:sp>
        <p:nvSpPr>
          <p:cNvPr id="17" name="Rectangle 16"/>
          <p:cNvSpPr/>
          <p:nvPr/>
        </p:nvSpPr>
        <p:spPr>
          <a:xfrm>
            <a:off x="5080000" y="2159000"/>
            <a:ext cx="1460500" cy="444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1600" y="2247900"/>
            <a:ext cx="1257300" cy="317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轮椅 / A</a:t>
            </a:r>
          </a:p>
        </p:txBody>
      </p:sp>
      <p:sp>
        <p:nvSpPr>
          <p:cNvPr id="19" name="Rectangle 18"/>
          <p:cNvSpPr/>
          <p:nvPr/>
        </p:nvSpPr>
        <p:spPr>
          <a:xfrm>
            <a:off x="2006600" y="5461000"/>
            <a:ext cx="1651000" cy="3556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95499" y="5499100"/>
            <a:ext cx="1524000" cy="317500"/>
          </a:xfrm>
          <a:prstGeom prst="rect">
            <a:avLst/>
          </a:prstGeom>
          <a:noFill/>
        </p:spPr>
        <p:txBody>
          <a:bodyPr wrap="none" lIns="0" rIns="0" tIns="0" bIns="0">
            <a:spAutoFit/>
          </a:bodyPr>
          <a:lstStyle/>
          <a:p>
            <a:pPr>
              <a:lnSpc>
                <a:spcPts val="1485"/>
              </a:lnSpc>
              <a:spcBef>
                <a:spcPts val="0"/>
              </a:spcBef>
              <a:spcAft>
                <a:spcPts val="0"/>
              </a:spcAft>
              <a:defRPr sz="1100" b="0">
                <a:solidFill>
                  <a:srgbClr val="ECE9DF"/>
                </a:solidFill>
                <a:latin typeface="Noto Sans CJK SC"/>
              </a:defRPr>
            </a:pPr>
            <a:r>
              <a:t>入口 / B</a:t>
            </a:r>
          </a:p>
        </p:txBody>
      </p:sp>
      <p:sp>
        <p:nvSpPr>
          <p:cNvPr id="21" name="TextBox 20"/>
          <p:cNvSpPr txBox="1"/>
          <p:nvPr/>
        </p:nvSpPr>
        <p:spPr>
          <a:xfrm>
            <a:off x="457200" y="6032500"/>
            <a:ext cx="11239500" cy="3429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保留中央出入路径与低机位；实际尺寸／门窗／转向净空TBD。 *宴会厅生日与平安夜为不同状态。</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BANQUET HALL / MAIN FLOOR</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建议平面 / Schematic Set Plan</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未测量、无比例；物件A标记只指剧本存在，摆位和房间轮廓均为提案。</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159</a:t>
            </a:r>
          </a:p>
        </p:txBody>
      </p:sp>
      <p:sp>
        <p:nvSpPr>
          <p:cNvPr id="9" name="Rectangle 8"/>
          <p:cNvSpPr/>
          <p:nvPr/>
        </p:nvSpPr>
        <p:spPr>
          <a:xfrm>
            <a:off x="1905000" y="2108200"/>
            <a:ext cx="9017000" cy="3810000"/>
          </a:xfrm>
          <a:prstGeom prst="rect">
            <a:avLst/>
          </a:prstGeom>
          <a:solidFill>
            <a:srgbClr val="344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68500" y="2171700"/>
            <a:ext cx="8890000" cy="3683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937000" y="2730500"/>
            <a:ext cx="4064000" cy="1143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38600" y="2819400"/>
            <a:ext cx="3860800" cy="1016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长桌／主位 / A</a:t>
            </a:r>
          </a:p>
        </p:txBody>
      </p:sp>
      <p:sp>
        <p:nvSpPr>
          <p:cNvPr id="13" name="Rectangle 12"/>
          <p:cNvSpPr/>
          <p:nvPr/>
        </p:nvSpPr>
        <p:spPr>
          <a:xfrm>
            <a:off x="9017000" y="2603500"/>
            <a:ext cx="1524000" cy="825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18600" y="2692400"/>
            <a:ext cx="1320800" cy="698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显示屏 / A</a:t>
            </a:r>
          </a:p>
        </p:txBody>
      </p:sp>
      <p:sp>
        <p:nvSpPr>
          <p:cNvPr id="15" name="Rectangle 14"/>
          <p:cNvSpPr/>
          <p:nvPr/>
        </p:nvSpPr>
        <p:spPr>
          <a:xfrm>
            <a:off x="2984500" y="4381500"/>
            <a:ext cx="2286000" cy="952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86100" y="4470400"/>
            <a:ext cx="2082800" cy="825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宾客区 / B</a:t>
            </a:r>
          </a:p>
        </p:txBody>
      </p:sp>
      <p:sp>
        <p:nvSpPr>
          <p:cNvPr id="17" name="Rectangle 16"/>
          <p:cNvSpPr/>
          <p:nvPr/>
        </p:nvSpPr>
        <p:spPr>
          <a:xfrm>
            <a:off x="5969000" y="4381500"/>
            <a:ext cx="2286000" cy="952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70600" y="4470400"/>
            <a:ext cx="2082800" cy="8255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表演／轮椅区 / B</a:t>
            </a:r>
          </a:p>
        </p:txBody>
      </p:sp>
      <p:sp>
        <p:nvSpPr>
          <p:cNvPr id="19" name="Rectangle 18"/>
          <p:cNvSpPr/>
          <p:nvPr/>
        </p:nvSpPr>
        <p:spPr>
          <a:xfrm>
            <a:off x="8763000" y="4445000"/>
            <a:ext cx="1841500" cy="7620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4600" y="4533900"/>
            <a:ext cx="1638300" cy="635000"/>
          </a:xfrm>
          <a:prstGeom prst="rect">
            <a:avLst/>
          </a:prstGeom>
          <a:noFill/>
        </p:spPr>
        <p:txBody>
          <a:bodyPr wrap="none" lIns="0" rIns="0" tIns="0" bIns="0">
            <a:spAutoFit/>
          </a:bodyPr>
          <a:lstStyle/>
          <a:p>
            <a:pPr>
              <a:lnSpc>
                <a:spcPts val="1620"/>
              </a:lnSpc>
              <a:spcBef>
                <a:spcPts val="0"/>
              </a:spcBef>
              <a:spcAft>
                <a:spcPts val="0"/>
              </a:spcAft>
              <a:defRPr sz="1200" b="0">
                <a:solidFill>
                  <a:srgbClr val="C4A36C"/>
                </a:solidFill>
                <a:latin typeface="Noto Sans CJK SC"/>
              </a:defRPr>
            </a:pPr>
            <a:r>
              <a:t>生日蛋糕台 / A*</a:t>
            </a:r>
          </a:p>
        </p:txBody>
      </p:sp>
      <p:sp>
        <p:nvSpPr>
          <p:cNvPr id="21" name="Rectangle 20"/>
          <p:cNvSpPr/>
          <p:nvPr/>
        </p:nvSpPr>
        <p:spPr>
          <a:xfrm>
            <a:off x="2006600" y="5461000"/>
            <a:ext cx="1651000" cy="3556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95499" y="5499100"/>
            <a:ext cx="1524000" cy="317500"/>
          </a:xfrm>
          <a:prstGeom prst="rect">
            <a:avLst/>
          </a:prstGeom>
          <a:noFill/>
        </p:spPr>
        <p:txBody>
          <a:bodyPr wrap="none" lIns="0" rIns="0" tIns="0" bIns="0">
            <a:spAutoFit/>
          </a:bodyPr>
          <a:lstStyle/>
          <a:p>
            <a:pPr>
              <a:lnSpc>
                <a:spcPts val="1485"/>
              </a:lnSpc>
              <a:spcBef>
                <a:spcPts val="0"/>
              </a:spcBef>
              <a:spcAft>
                <a:spcPts val="0"/>
              </a:spcAft>
              <a:defRPr sz="1100" b="0">
                <a:solidFill>
                  <a:srgbClr val="ECE9DF"/>
                </a:solidFill>
                <a:latin typeface="Noto Sans CJK SC"/>
              </a:defRPr>
            </a:pPr>
            <a:r>
              <a:t>入口 / B</a:t>
            </a:r>
          </a:p>
        </p:txBody>
      </p:sp>
      <p:sp>
        <p:nvSpPr>
          <p:cNvPr id="23" name="TextBox 22"/>
          <p:cNvSpPr txBox="1"/>
          <p:nvPr/>
        </p:nvSpPr>
        <p:spPr>
          <a:xfrm>
            <a:off x="457200" y="6032500"/>
            <a:ext cx="11239500" cy="342900"/>
          </a:xfrm>
          <a:prstGeom prst="rect">
            <a:avLst/>
          </a:prstGeom>
          <a:noFill/>
        </p:spPr>
        <p:txBody>
          <a:bodyPr wrap="none" lIns="0" rIns="0" tIns="0" bIns="0">
            <a:spAutoFit/>
          </a:bodyPr>
          <a:lstStyle/>
          <a:p>
            <a:pPr>
              <a:lnSpc>
                <a:spcPts val="1485"/>
              </a:lnSpc>
              <a:spcBef>
                <a:spcPts val="0"/>
              </a:spcBef>
              <a:spcAft>
                <a:spcPts val="0"/>
              </a:spcAft>
              <a:defRPr sz="1100" b="0">
                <a:solidFill>
                  <a:srgbClr val="A7B0B2"/>
                </a:solidFill>
                <a:latin typeface="Noto Sans CJK SC"/>
              </a:defRPr>
            </a:pPr>
            <a:r>
              <a:t>保留中央出入路径与低机位；实际尺寸／门窗／转向净空TBD。 *宴会厅生日与平安夜为不同状态。</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BRYCE BEDROOM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四墙一致性 / Four-Wall Register</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仅为待勘景的墙面任务分配；未收到四面实景照片，不能确认窗门方位。</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160</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A＋B / 先锁关系</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A墙：主要动作／主物件背景。</a:t>
            </a:r>
          </a:p>
          <a:p>
            <a:pPr>
              <a:lnSpc>
                <a:spcPts val="2160"/>
              </a:lnSpc>
              <a:spcBef>
                <a:spcPts val="0"/>
              </a:spcBef>
              <a:spcAft>
                <a:spcPts val="0"/>
              </a:spcAft>
              <a:defRPr sz="1600" b="0">
                <a:solidFill>
                  <a:srgbClr val="ECE9DF"/>
                </a:solidFill>
                <a:latin typeface="Noto Sans CJK SC"/>
              </a:defRPr>
            </a:pPr>
            <a:r>
              <a:t>B墙：实际窗墙，现场确认。</a:t>
            </a:r>
          </a:p>
          <a:p>
            <a:pPr>
              <a:lnSpc>
                <a:spcPts val="2160"/>
              </a:lnSpc>
              <a:spcBef>
                <a:spcPts val="0"/>
              </a:spcBef>
              <a:spcAft>
                <a:spcPts val="0"/>
              </a:spcAft>
              <a:defRPr sz="1600" b="0">
                <a:solidFill>
                  <a:srgbClr val="ECE9DF"/>
                </a:solidFill>
                <a:latin typeface="Noto Sans CJK SC"/>
              </a:defRPr>
            </a:pPr>
            <a:r>
              <a:t>统一木色、踢脚、窗帘和地面。</a:t>
            </a:r>
          </a:p>
          <a:p>
            <a:pPr>
              <a:lnSpc>
                <a:spcPts val="2160"/>
              </a:lnSpc>
              <a:spcBef>
                <a:spcPts val="0"/>
              </a:spcBef>
              <a:spcAft>
                <a:spcPts val="0"/>
              </a:spcAft>
              <a:defRPr sz="1600" b="0">
                <a:solidFill>
                  <a:srgbClr val="ECE9DF"/>
                </a:solidFill>
                <a:latin typeface="Noto Sans CJK SC"/>
              </a:defRPr>
            </a:pPr>
            <a:r>
              <a:t>不能将不同AI房间拼成四墙实景。</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C＋D / 再补视线</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C墙：对面反打背景，控制装饰密</a:t>
            </a:r>
          </a:p>
          <a:p>
            <a:pPr>
              <a:lnSpc>
                <a:spcPts val="2160"/>
              </a:lnSpc>
              <a:spcBef>
                <a:spcPts val="0"/>
              </a:spcBef>
              <a:spcAft>
                <a:spcPts val="0"/>
              </a:spcAft>
              <a:defRPr sz="1600" b="0">
                <a:solidFill>
                  <a:srgbClr val="ECE9DF"/>
                </a:solidFill>
                <a:latin typeface="Noto Sans CJK SC"/>
              </a:defRPr>
            </a:pPr>
            <a:r>
              <a:t>度。</a:t>
            </a:r>
          </a:p>
          <a:p>
            <a:pPr>
              <a:lnSpc>
                <a:spcPts val="2160"/>
              </a:lnSpc>
              <a:spcBef>
                <a:spcPts val="0"/>
              </a:spcBef>
              <a:spcAft>
                <a:spcPts val="0"/>
              </a:spcAft>
              <a:defRPr sz="1600" b="0">
                <a:solidFill>
                  <a:srgbClr val="ECE9DF"/>
                </a:solidFill>
                <a:latin typeface="Noto Sans CJK SC"/>
              </a:defRPr>
            </a:pPr>
            <a:r>
              <a:t>D墙：入口与出入画遮挡。</a:t>
            </a:r>
          </a:p>
          <a:p>
            <a:pPr>
              <a:lnSpc>
                <a:spcPts val="2160"/>
              </a:lnSpc>
              <a:spcBef>
                <a:spcPts val="0"/>
              </a:spcBef>
              <a:spcAft>
                <a:spcPts val="0"/>
              </a:spcAft>
              <a:defRPr sz="1600" b="0">
                <a:solidFill>
                  <a:srgbClr val="ECE9DF"/>
                </a:solidFill>
                <a:latin typeface="Noto Sans CJK SC"/>
              </a:defRPr>
            </a:pPr>
            <a:r>
              <a:t>门缝窥视、轮椅通道优先。</a:t>
            </a:r>
          </a:p>
          <a:p>
            <a:pPr>
              <a:lnSpc>
                <a:spcPts val="2160"/>
              </a:lnSpc>
              <a:spcBef>
                <a:spcPts val="0"/>
              </a:spcBef>
              <a:spcAft>
                <a:spcPts val="0"/>
              </a:spcAft>
              <a:defRPr sz="1600" b="0">
                <a:solidFill>
                  <a:srgbClr val="ECE9DF"/>
                </a:solidFill>
                <a:latin typeface="Noto Sans CJK SC"/>
              </a:defRPr>
            </a:pPr>
            <a:r>
              <a:t>记录每件家具与地插位置。</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验证与所需资料</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补交：全景四面照片、尺寸、门窗</a:t>
            </a:r>
          </a:p>
          <a:p>
            <a:pPr>
              <a:lnSpc>
                <a:spcPts val="2160"/>
              </a:lnSpc>
              <a:spcBef>
                <a:spcPts val="0"/>
              </a:spcBef>
              <a:spcAft>
                <a:spcPts val="0"/>
              </a:spcAft>
              <a:defRPr sz="1600" b="0">
                <a:solidFill>
                  <a:srgbClr val="ECE9DF"/>
                </a:solidFill>
                <a:latin typeface="Noto Sans CJK SC"/>
              </a:defRPr>
            </a:pPr>
            <a:r>
              <a:t>、现场电路。</a:t>
            </a:r>
          </a:p>
          <a:p>
            <a:pPr>
              <a:lnSpc>
                <a:spcPts val="2160"/>
              </a:lnSpc>
              <a:spcBef>
                <a:spcPts val="0"/>
              </a:spcBef>
              <a:spcAft>
                <a:spcPts val="0"/>
              </a:spcAft>
              <a:defRPr sz="1600" b="0">
                <a:solidFill>
                  <a:srgbClr val="ECE9DF"/>
                </a:solidFill>
                <a:latin typeface="Noto Sans CJK SC"/>
              </a:defRPr>
            </a:pPr>
            <a:r>
              <a:t>摄影与美术确认竖屏近景及低机位</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本版没有已验证的四墙施工图。</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REHABILITATION ROOM</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四墙一致性 / Four-Wall Register</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仅为待勘景的墙面任务分配；未收到四面实景照片，不能确认窗门方位。</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161</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A＋B / 先锁关系</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A墙：主要动作／主物件背景。</a:t>
            </a:r>
          </a:p>
          <a:p>
            <a:pPr>
              <a:lnSpc>
                <a:spcPts val="2160"/>
              </a:lnSpc>
              <a:spcBef>
                <a:spcPts val="0"/>
              </a:spcBef>
              <a:spcAft>
                <a:spcPts val="0"/>
              </a:spcAft>
              <a:defRPr sz="1600" b="0">
                <a:solidFill>
                  <a:srgbClr val="ECE9DF"/>
                </a:solidFill>
                <a:latin typeface="Noto Sans CJK SC"/>
              </a:defRPr>
            </a:pPr>
            <a:r>
              <a:t>B墙：实际窗墙，现场确认。</a:t>
            </a:r>
          </a:p>
          <a:p>
            <a:pPr>
              <a:lnSpc>
                <a:spcPts val="2160"/>
              </a:lnSpc>
              <a:spcBef>
                <a:spcPts val="0"/>
              </a:spcBef>
              <a:spcAft>
                <a:spcPts val="0"/>
              </a:spcAft>
              <a:defRPr sz="1600" b="0">
                <a:solidFill>
                  <a:srgbClr val="ECE9DF"/>
                </a:solidFill>
                <a:latin typeface="Noto Sans CJK SC"/>
              </a:defRPr>
            </a:pPr>
            <a:r>
              <a:t>统一木色、踢脚、窗帘和地面。</a:t>
            </a:r>
          </a:p>
          <a:p>
            <a:pPr>
              <a:lnSpc>
                <a:spcPts val="2160"/>
              </a:lnSpc>
              <a:spcBef>
                <a:spcPts val="0"/>
              </a:spcBef>
              <a:spcAft>
                <a:spcPts val="0"/>
              </a:spcAft>
              <a:defRPr sz="1600" b="0">
                <a:solidFill>
                  <a:srgbClr val="ECE9DF"/>
                </a:solidFill>
                <a:latin typeface="Noto Sans CJK SC"/>
              </a:defRPr>
            </a:pPr>
            <a:r>
              <a:t>不能将不同AI房间拼成四墙实景。</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C＋D / 再补视线</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C墙：对面反打背景，控制装饰密</a:t>
            </a:r>
          </a:p>
          <a:p>
            <a:pPr>
              <a:lnSpc>
                <a:spcPts val="2160"/>
              </a:lnSpc>
              <a:spcBef>
                <a:spcPts val="0"/>
              </a:spcBef>
              <a:spcAft>
                <a:spcPts val="0"/>
              </a:spcAft>
              <a:defRPr sz="1600" b="0">
                <a:solidFill>
                  <a:srgbClr val="ECE9DF"/>
                </a:solidFill>
                <a:latin typeface="Noto Sans CJK SC"/>
              </a:defRPr>
            </a:pPr>
            <a:r>
              <a:t>度。</a:t>
            </a:r>
          </a:p>
          <a:p>
            <a:pPr>
              <a:lnSpc>
                <a:spcPts val="2160"/>
              </a:lnSpc>
              <a:spcBef>
                <a:spcPts val="0"/>
              </a:spcBef>
              <a:spcAft>
                <a:spcPts val="0"/>
              </a:spcAft>
              <a:defRPr sz="1600" b="0">
                <a:solidFill>
                  <a:srgbClr val="ECE9DF"/>
                </a:solidFill>
                <a:latin typeface="Noto Sans CJK SC"/>
              </a:defRPr>
            </a:pPr>
            <a:r>
              <a:t>D墙：入口与出入画遮挡。</a:t>
            </a:r>
          </a:p>
          <a:p>
            <a:pPr>
              <a:lnSpc>
                <a:spcPts val="2160"/>
              </a:lnSpc>
              <a:spcBef>
                <a:spcPts val="0"/>
              </a:spcBef>
              <a:spcAft>
                <a:spcPts val="0"/>
              </a:spcAft>
              <a:defRPr sz="1600" b="0">
                <a:solidFill>
                  <a:srgbClr val="ECE9DF"/>
                </a:solidFill>
                <a:latin typeface="Noto Sans CJK SC"/>
              </a:defRPr>
            </a:pPr>
            <a:r>
              <a:t>门缝窥视、轮椅通道优先。</a:t>
            </a:r>
          </a:p>
          <a:p>
            <a:pPr>
              <a:lnSpc>
                <a:spcPts val="2160"/>
              </a:lnSpc>
              <a:spcBef>
                <a:spcPts val="0"/>
              </a:spcBef>
              <a:spcAft>
                <a:spcPts val="0"/>
              </a:spcAft>
              <a:defRPr sz="1600" b="0">
                <a:solidFill>
                  <a:srgbClr val="ECE9DF"/>
                </a:solidFill>
                <a:latin typeface="Noto Sans CJK SC"/>
              </a:defRPr>
            </a:pPr>
            <a:r>
              <a:t>记录每件家具与地插位置。</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验证与所需资料</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补交：全景四面照片、尺寸、门窗</a:t>
            </a:r>
          </a:p>
          <a:p>
            <a:pPr>
              <a:lnSpc>
                <a:spcPts val="2160"/>
              </a:lnSpc>
              <a:spcBef>
                <a:spcPts val="0"/>
              </a:spcBef>
              <a:spcAft>
                <a:spcPts val="0"/>
              </a:spcAft>
              <a:defRPr sz="1600" b="0">
                <a:solidFill>
                  <a:srgbClr val="ECE9DF"/>
                </a:solidFill>
                <a:latin typeface="Noto Sans CJK SC"/>
              </a:defRPr>
            </a:pPr>
            <a:r>
              <a:t>、现场电路。</a:t>
            </a:r>
          </a:p>
          <a:p>
            <a:pPr>
              <a:lnSpc>
                <a:spcPts val="2160"/>
              </a:lnSpc>
              <a:spcBef>
                <a:spcPts val="0"/>
              </a:spcBef>
              <a:spcAft>
                <a:spcPts val="0"/>
              </a:spcAft>
              <a:defRPr sz="1600" b="0">
                <a:solidFill>
                  <a:srgbClr val="ECE9DF"/>
                </a:solidFill>
                <a:latin typeface="Noto Sans CJK SC"/>
              </a:defRPr>
            </a:pPr>
            <a:r>
              <a:t>摄影与美术确认竖屏近景及低机位</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本版没有已验证的四墙施工图。</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ESTATE STUDY</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四墙一致性 / Four-Wall Register</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仅为待勘景的墙面任务分配；未收到四面实景照片，不能确认窗门方位。</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162</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A＋B / 先锁关系</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A墙：主要动作／主物件背景。</a:t>
            </a:r>
          </a:p>
          <a:p>
            <a:pPr>
              <a:lnSpc>
                <a:spcPts val="2160"/>
              </a:lnSpc>
              <a:spcBef>
                <a:spcPts val="0"/>
              </a:spcBef>
              <a:spcAft>
                <a:spcPts val="0"/>
              </a:spcAft>
              <a:defRPr sz="1600" b="0">
                <a:solidFill>
                  <a:srgbClr val="ECE9DF"/>
                </a:solidFill>
                <a:latin typeface="Noto Sans CJK SC"/>
              </a:defRPr>
            </a:pPr>
            <a:r>
              <a:t>B墙：实际窗墙，现场确认。</a:t>
            </a:r>
          </a:p>
          <a:p>
            <a:pPr>
              <a:lnSpc>
                <a:spcPts val="2160"/>
              </a:lnSpc>
              <a:spcBef>
                <a:spcPts val="0"/>
              </a:spcBef>
              <a:spcAft>
                <a:spcPts val="0"/>
              </a:spcAft>
              <a:defRPr sz="1600" b="0">
                <a:solidFill>
                  <a:srgbClr val="ECE9DF"/>
                </a:solidFill>
                <a:latin typeface="Noto Sans CJK SC"/>
              </a:defRPr>
            </a:pPr>
            <a:r>
              <a:t>统一木色、踢脚、窗帘和地面。</a:t>
            </a:r>
          </a:p>
          <a:p>
            <a:pPr>
              <a:lnSpc>
                <a:spcPts val="2160"/>
              </a:lnSpc>
              <a:spcBef>
                <a:spcPts val="0"/>
              </a:spcBef>
              <a:spcAft>
                <a:spcPts val="0"/>
              </a:spcAft>
              <a:defRPr sz="1600" b="0">
                <a:solidFill>
                  <a:srgbClr val="ECE9DF"/>
                </a:solidFill>
                <a:latin typeface="Noto Sans CJK SC"/>
              </a:defRPr>
            </a:pPr>
            <a:r>
              <a:t>不能将不同AI房间拼成四墙实景。</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C＋D / 再补视线</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C墙：对面反打背景，控制装饰密</a:t>
            </a:r>
          </a:p>
          <a:p>
            <a:pPr>
              <a:lnSpc>
                <a:spcPts val="2160"/>
              </a:lnSpc>
              <a:spcBef>
                <a:spcPts val="0"/>
              </a:spcBef>
              <a:spcAft>
                <a:spcPts val="0"/>
              </a:spcAft>
              <a:defRPr sz="1600" b="0">
                <a:solidFill>
                  <a:srgbClr val="ECE9DF"/>
                </a:solidFill>
                <a:latin typeface="Noto Sans CJK SC"/>
              </a:defRPr>
            </a:pPr>
            <a:r>
              <a:t>度。</a:t>
            </a:r>
          </a:p>
          <a:p>
            <a:pPr>
              <a:lnSpc>
                <a:spcPts val="2160"/>
              </a:lnSpc>
              <a:spcBef>
                <a:spcPts val="0"/>
              </a:spcBef>
              <a:spcAft>
                <a:spcPts val="0"/>
              </a:spcAft>
              <a:defRPr sz="1600" b="0">
                <a:solidFill>
                  <a:srgbClr val="ECE9DF"/>
                </a:solidFill>
                <a:latin typeface="Noto Sans CJK SC"/>
              </a:defRPr>
            </a:pPr>
            <a:r>
              <a:t>D墙：入口与出入画遮挡。</a:t>
            </a:r>
          </a:p>
          <a:p>
            <a:pPr>
              <a:lnSpc>
                <a:spcPts val="2160"/>
              </a:lnSpc>
              <a:spcBef>
                <a:spcPts val="0"/>
              </a:spcBef>
              <a:spcAft>
                <a:spcPts val="0"/>
              </a:spcAft>
              <a:defRPr sz="1600" b="0">
                <a:solidFill>
                  <a:srgbClr val="ECE9DF"/>
                </a:solidFill>
                <a:latin typeface="Noto Sans CJK SC"/>
              </a:defRPr>
            </a:pPr>
            <a:r>
              <a:t>门缝窥视、轮椅通道优先。</a:t>
            </a:r>
          </a:p>
          <a:p>
            <a:pPr>
              <a:lnSpc>
                <a:spcPts val="2160"/>
              </a:lnSpc>
              <a:spcBef>
                <a:spcPts val="0"/>
              </a:spcBef>
              <a:spcAft>
                <a:spcPts val="0"/>
              </a:spcAft>
              <a:defRPr sz="1600" b="0">
                <a:solidFill>
                  <a:srgbClr val="ECE9DF"/>
                </a:solidFill>
                <a:latin typeface="Noto Sans CJK SC"/>
              </a:defRPr>
            </a:pPr>
            <a:r>
              <a:t>记录每件家具与地插位置。</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验证与所需资料</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补交：全景四面照片、尺寸、门窗</a:t>
            </a:r>
          </a:p>
          <a:p>
            <a:pPr>
              <a:lnSpc>
                <a:spcPts val="2160"/>
              </a:lnSpc>
              <a:spcBef>
                <a:spcPts val="0"/>
              </a:spcBef>
              <a:spcAft>
                <a:spcPts val="0"/>
              </a:spcAft>
              <a:defRPr sz="1600" b="0">
                <a:solidFill>
                  <a:srgbClr val="ECE9DF"/>
                </a:solidFill>
                <a:latin typeface="Noto Sans CJK SC"/>
              </a:defRPr>
            </a:pPr>
            <a:r>
              <a:t>、现场电路。</a:t>
            </a:r>
          </a:p>
          <a:p>
            <a:pPr>
              <a:lnSpc>
                <a:spcPts val="2160"/>
              </a:lnSpc>
              <a:spcBef>
                <a:spcPts val="0"/>
              </a:spcBef>
              <a:spcAft>
                <a:spcPts val="0"/>
              </a:spcAft>
              <a:defRPr sz="1600" b="0">
                <a:solidFill>
                  <a:srgbClr val="ECE9DF"/>
                </a:solidFill>
                <a:latin typeface="Noto Sans CJK SC"/>
              </a:defRPr>
            </a:pPr>
            <a:r>
              <a:t>摄影与美术确认竖屏近景及低机位</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本版没有已验证的四墙施工图。</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PAINTING STUDIO</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四墙一致性 / Four-Wall Register</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B / 仅为待勘景的墙面任务分配；未收到四面实景照片，不能确认窗门方位。</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163</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A＋B / 先锁关系</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A墙：主要动作／主物件背景。</a:t>
            </a:r>
          </a:p>
          <a:p>
            <a:pPr>
              <a:lnSpc>
                <a:spcPts val="2160"/>
              </a:lnSpc>
              <a:spcBef>
                <a:spcPts val="0"/>
              </a:spcBef>
              <a:spcAft>
                <a:spcPts val="0"/>
              </a:spcAft>
              <a:defRPr sz="1600" b="0">
                <a:solidFill>
                  <a:srgbClr val="ECE9DF"/>
                </a:solidFill>
                <a:latin typeface="Noto Sans CJK SC"/>
              </a:defRPr>
            </a:pPr>
            <a:r>
              <a:t>B墙：实际窗墙，现场确认。</a:t>
            </a:r>
          </a:p>
          <a:p>
            <a:pPr>
              <a:lnSpc>
                <a:spcPts val="2160"/>
              </a:lnSpc>
              <a:spcBef>
                <a:spcPts val="0"/>
              </a:spcBef>
              <a:spcAft>
                <a:spcPts val="0"/>
              </a:spcAft>
              <a:defRPr sz="1600" b="0">
                <a:solidFill>
                  <a:srgbClr val="ECE9DF"/>
                </a:solidFill>
                <a:latin typeface="Noto Sans CJK SC"/>
              </a:defRPr>
            </a:pPr>
            <a:r>
              <a:t>统一木色、踢脚、窗帘和地面。</a:t>
            </a:r>
          </a:p>
          <a:p>
            <a:pPr>
              <a:lnSpc>
                <a:spcPts val="2160"/>
              </a:lnSpc>
              <a:spcBef>
                <a:spcPts val="0"/>
              </a:spcBef>
              <a:spcAft>
                <a:spcPts val="0"/>
              </a:spcAft>
              <a:defRPr sz="1600" b="0">
                <a:solidFill>
                  <a:srgbClr val="ECE9DF"/>
                </a:solidFill>
                <a:latin typeface="Noto Sans CJK SC"/>
              </a:defRPr>
            </a:pPr>
            <a:r>
              <a:t>不能将不同AI房间拼成四墙实景。</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C＋D / 再补视线</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C墙：对面反打背景，控制装饰密</a:t>
            </a:r>
          </a:p>
          <a:p>
            <a:pPr>
              <a:lnSpc>
                <a:spcPts val="2160"/>
              </a:lnSpc>
              <a:spcBef>
                <a:spcPts val="0"/>
              </a:spcBef>
              <a:spcAft>
                <a:spcPts val="0"/>
              </a:spcAft>
              <a:defRPr sz="1600" b="0">
                <a:solidFill>
                  <a:srgbClr val="ECE9DF"/>
                </a:solidFill>
                <a:latin typeface="Noto Sans CJK SC"/>
              </a:defRPr>
            </a:pPr>
            <a:r>
              <a:t>度。</a:t>
            </a:r>
          </a:p>
          <a:p>
            <a:pPr>
              <a:lnSpc>
                <a:spcPts val="2160"/>
              </a:lnSpc>
              <a:spcBef>
                <a:spcPts val="0"/>
              </a:spcBef>
              <a:spcAft>
                <a:spcPts val="0"/>
              </a:spcAft>
              <a:defRPr sz="1600" b="0">
                <a:solidFill>
                  <a:srgbClr val="ECE9DF"/>
                </a:solidFill>
                <a:latin typeface="Noto Sans CJK SC"/>
              </a:defRPr>
            </a:pPr>
            <a:r>
              <a:t>D墙：入口与出入画遮挡。</a:t>
            </a:r>
          </a:p>
          <a:p>
            <a:pPr>
              <a:lnSpc>
                <a:spcPts val="2160"/>
              </a:lnSpc>
              <a:spcBef>
                <a:spcPts val="0"/>
              </a:spcBef>
              <a:spcAft>
                <a:spcPts val="0"/>
              </a:spcAft>
              <a:defRPr sz="1600" b="0">
                <a:solidFill>
                  <a:srgbClr val="ECE9DF"/>
                </a:solidFill>
                <a:latin typeface="Noto Sans CJK SC"/>
              </a:defRPr>
            </a:pPr>
            <a:r>
              <a:t>门缝窥视、轮椅通道优先。</a:t>
            </a:r>
          </a:p>
          <a:p>
            <a:pPr>
              <a:lnSpc>
                <a:spcPts val="2160"/>
              </a:lnSpc>
              <a:spcBef>
                <a:spcPts val="0"/>
              </a:spcBef>
              <a:spcAft>
                <a:spcPts val="0"/>
              </a:spcAft>
              <a:defRPr sz="1600" b="0">
                <a:solidFill>
                  <a:srgbClr val="ECE9DF"/>
                </a:solidFill>
                <a:latin typeface="Noto Sans CJK SC"/>
              </a:defRPr>
            </a:pPr>
            <a:r>
              <a:t>记录每件家具与地插位置。</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验证与所需资料</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补交：全景四面照片、尺寸、门窗</a:t>
            </a:r>
          </a:p>
          <a:p>
            <a:pPr>
              <a:lnSpc>
                <a:spcPts val="2160"/>
              </a:lnSpc>
              <a:spcBef>
                <a:spcPts val="0"/>
              </a:spcBef>
              <a:spcAft>
                <a:spcPts val="0"/>
              </a:spcAft>
              <a:defRPr sz="1600" b="0">
                <a:solidFill>
                  <a:srgbClr val="ECE9DF"/>
                </a:solidFill>
                <a:latin typeface="Noto Sans CJK SC"/>
              </a:defRPr>
            </a:pPr>
            <a:r>
              <a:t>、现场电路。</a:t>
            </a:r>
          </a:p>
          <a:p>
            <a:pPr>
              <a:lnSpc>
                <a:spcPts val="2160"/>
              </a:lnSpc>
              <a:spcBef>
                <a:spcPts val="0"/>
              </a:spcBef>
              <a:spcAft>
                <a:spcPts val="0"/>
              </a:spcAft>
              <a:defRPr sz="1600" b="0">
                <a:solidFill>
                  <a:srgbClr val="ECE9DF"/>
                </a:solidFill>
                <a:latin typeface="Noto Sans CJK SC"/>
              </a:defRPr>
            </a:pPr>
            <a:r>
              <a:t>摄影与美术确认竖屏近景及低机位</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本版没有已验证的四墙施工图。</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事件换装 / Birthday → Christmas Eve</a:t>
            </a:r>
          </a:p>
        </p:txBody>
      </p:sp>
      <p:sp>
        <p:nvSpPr>
          <p:cNvPr id="5" name="TextBox 4"/>
          <p:cNvSpPr txBox="1"/>
          <p:nvPr/>
        </p:nvSpPr>
        <p:spPr>
          <a:xfrm>
            <a:off x="457200" y="1485900"/>
            <a:ext cx="11303000" cy="508000"/>
          </a:xfrm>
          <a:prstGeom prst="rect">
            <a:avLst/>
          </a:prstGeom>
          <a:noFill/>
        </p:spPr>
        <p:txBody>
          <a:bodyPr wrap="none" lIns="0" rIns="0" tIns="0" bIns="0">
            <a:spAutoFit/>
          </a:bodyPr>
          <a:lstStyle/>
          <a:p>
            <a:pPr>
              <a:lnSpc>
                <a:spcPts val="1620"/>
              </a:lnSpc>
              <a:spcBef>
                <a:spcPts val="0"/>
              </a:spcBef>
              <a:spcAft>
                <a:spcPts val="0"/>
              </a:spcAft>
              <a:defRPr sz="1200" b="0">
                <a:solidFill>
                  <a:srgbClr val="A7B0B2"/>
                </a:solidFill>
                <a:latin typeface="Noto Sans CJK SC"/>
              </a:defRPr>
            </a:pPr>
            <a:r>
              <a:t>A / 宴会厅在E27–31与E51–57为不同事件。</a:t>
            </a:r>
          </a:p>
        </p:txBody>
      </p:sp>
      <p:sp>
        <p:nvSpPr>
          <p:cNvPr id="6" name="Rectangle 5"/>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8" name="TextBox 7"/>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164</a:t>
            </a:r>
          </a:p>
        </p:txBody>
      </p:sp>
      <p:sp>
        <p:nvSpPr>
          <p:cNvPr id="9" name="Rectangle 8"/>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生日 / E27–31</a:t>
            </a:r>
          </a:p>
        </p:txBody>
      </p:sp>
      <p:sp>
        <p:nvSpPr>
          <p:cNvPr id="11" name="TextBox 10"/>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PDF 59–67</a:t>
            </a:r>
          </a:p>
          <a:p>
            <a:pPr>
              <a:lnSpc>
                <a:spcPts val="2160"/>
              </a:lnSpc>
              <a:spcBef>
                <a:spcPts val="0"/>
              </a:spcBef>
              <a:spcAft>
                <a:spcPts val="0"/>
              </a:spcAft>
              <a:defRPr sz="1600" b="0">
                <a:solidFill>
                  <a:srgbClr val="ECE9DF"/>
                </a:solidFill>
                <a:latin typeface="Noto Sans CJK SC"/>
              </a:defRPr>
            </a:pPr>
            <a:r>
              <a:t>黑金地毯、水晶吊灯、银器、香槟</a:t>
            </a:r>
          </a:p>
          <a:p>
            <a:pPr>
              <a:lnSpc>
                <a:spcPts val="2160"/>
              </a:lnSpc>
              <a:spcBef>
                <a:spcPts val="0"/>
              </a:spcBef>
              <a:spcAft>
                <a:spcPts val="0"/>
              </a:spcAft>
              <a:defRPr sz="1600" b="0">
                <a:solidFill>
                  <a:srgbClr val="ECE9DF"/>
                </a:solidFill>
                <a:latin typeface="Noto Sans CJK SC"/>
              </a:defRPr>
            </a:pPr>
            <a:r>
              <a:t>塔。</a:t>
            </a:r>
          </a:p>
          <a:p>
            <a:pPr>
              <a:lnSpc>
                <a:spcPts val="2160"/>
              </a:lnSpc>
              <a:spcBef>
                <a:spcPts val="0"/>
              </a:spcBef>
              <a:spcAft>
                <a:spcPts val="0"/>
              </a:spcAft>
              <a:defRPr sz="1600" b="0">
                <a:solidFill>
                  <a:srgbClr val="ECE9DF"/>
                </a:solidFill>
                <a:latin typeface="Noto Sans CJK SC"/>
              </a:defRPr>
            </a:pPr>
            <a:r>
              <a:t>旧画→泼酒→礼炮／雪／红闪粉→</a:t>
            </a:r>
          </a:p>
          <a:p>
            <a:pPr>
              <a:lnSpc>
                <a:spcPts val="2160"/>
              </a:lnSpc>
              <a:spcBef>
                <a:spcPts val="0"/>
              </a:spcBef>
              <a:spcAft>
                <a:spcPts val="0"/>
              </a:spcAft>
              <a:defRPr sz="1600" b="0">
                <a:solidFill>
                  <a:srgbClr val="ECE9DF"/>
                </a:solidFill>
                <a:latin typeface="Noto Sans CJK SC"/>
              </a:defRPr>
            </a:pPr>
            <a:r>
              <a:t>蛋糕倒落→清理。</a:t>
            </a:r>
          </a:p>
          <a:p>
            <a:pPr>
              <a:lnSpc>
                <a:spcPts val="2160"/>
              </a:lnSpc>
              <a:spcBef>
                <a:spcPts val="0"/>
              </a:spcBef>
              <a:spcAft>
                <a:spcPts val="0"/>
              </a:spcAft>
              <a:defRPr sz="1600" b="0">
                <a:solidFill>
                  <a:srgbClr val="ECE9DF"/>
                </a:solidFill>
                <a:latin typeface="Noto Sans CJK SC"/>
              </a:defRPr>
            </a:pPr>
            <a:r>
              <a:t>每阶段建立地面与服装照片[B]。</a:t>
            </a:r>
          </a:p>
        </p:txBody>
      </p:sp>
      <p:sp>
        <p:nvSpPr>
          <p:cNvPr id="12" name="Rectangle 11"/>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平安夜 / E51–57</a:t>
            </a:r>
          </a:p>
        </p:txBody>
      </p:sp>
      <p:sp>
        <p:nvSpPr>
          <p:cNvPr id="14" name="TextBox 13"/>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PDF 98–109</a:t>
            </a:r>
          </a:p>
          <a:p>
            <a:pPr>
              <a:lnSpc>
                <a:spcPts val="2160"/>
              </a:lnSpc>
              <a:spcBef>
                <a:spcPts val="0"/>
              </a:spcBef>
              <a:spcAft>
                <a:spcPts val="0"/>
              </a:spcAft>
              <a:defRPr sz="1600" b="0">
                <a:solidFill>
                  <a:srgbClr val="ECE9DF"/>
                </a:solidFill>
                <a:latin typeface="Noto Sans CJK SC"/>
              </a:defRPr>
            </a:pPr>
            <a:r>
              <a:t>长桌两侧董事／宾客、主位、表决</a:t>
            </a:r>
          </a:p>
          <a:p>
            <a:pPr>
              <a:lnSpc>
                <a:spcPts val="2160"/>
              </a:lnSpc>
              <a:spcBef>
                <a:spcPts val="0"/>
              </a:spcBef>
              <a:spcAft>
                <a:spcPts val="0"/>
              </a:spcAft>
              <a:defRPr sz="1600" b="0">
                <a:solidFill>
                  <a:srgbClr val="ECE9DF"/>
                </a:solidFill>
                <a:latin typeface="Noto Sans CJK SC"/>
              </a:defRPr>
            </a:pPr>
            <a:r>
              <a:t>纸。</a:t>
            </a:r>
          </a:p>
          <a:p>
            <a:pPr>
              <a:lnSpc>
                <a:spcPts val="2160"/>
              </a:lnSpc>
              <a:spcBef>
                <a:spcPts val="0"/>
              </a:spcBef>
              <a:spcAft>
                <a:spcPts val="0"/>
              </a:spcAft>
              <a:defRPr sz="1600" b="0">
                <a:solidFill>
                  <a:srgbClr val="ECE9DF"/>
                </a:solidFill>
                <a:latin typeface="Noto Sans CJK SC"/>
              </a:defRPr>
            </a:pPr>
            <a:r>
              <a:t>屏幕放大E52康复室监控；药片落</a:t>
            </a:r>
          </a:p>
          <a:p>
            <a:pPr>
              <a:lnSpc>
                <a:spcPts val="2160"/>
              </a:lnSpc>
              <a:spcBef>
                <a:spcPts val="0"/>
              </a:spcBef>
              <a:spcAft>
                <a:spcPts val="0"/>
              </a:spcAft>
              <a:defRPr sz="1600" b="0">
                <a:solidFill>
                  <a:srgbClr val="ECE9DF"/>
                </a:solidFill>
                <a:latin typeface="Noto Sans CJK SC"/>
              </a:defRPr>
            </a:pPr>
            <a:r>
              <a:t>地、协议撕毁、姓名牌扫落、手铐</a:t>
            </a:r>
          </a:p>
          <a:p>
            <a:pPr>
              <a:lnSpc>
                <a:spcPts val="2160"/>
              </a:lnSpc>
              <a:spcBef>
                <a:spcPts val="0"/>
              </a:spcBef>
              <a:spcAft>
                <a:spcPts val="0"/>
              </a:spcAft>
              <a:defRPr sz="1600" b="0">
                <a:solidFill>
                  <a:srgbClr val="ECE9DF"/>
                </a:solidFill>
                <a:latin typeface="Noto Sans CJK SC"/>
              </a:defRPr>
            </a:pPr>
            <a:r>
              <a:t>。</a:t>
            </a:r>
          </a:p>
        </p:txBody>
      </p:sp>
      <p:sp>
        <p:nvSpPr>
          <p:cNvPr id="15" name="Rectangle 14"/>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转换清单 / B</a:t>
            </a:r>
          </a:p>
        </p:txBody>
      </p:sp>
      <p:sp>
        <p:nvSpPr>
          <p:cNvPr id="17" name="TextBox 16"/>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拍完生日先保护／收英雄画。</a:t>
            </a:r>
          </a:p>
          <a:p>
            <a:pPr>
              <a:lnSpc>
                <a:spcPts val="2160"/>
              </a:lnSpc>
              <a:spcBef>
                <a:spcPts val="0"/>
              </a:spcBef>
              <a:spcAft>
                <a:spcPts val="0"/>
              </a:spcAft>
              <a:defRPr sz="1600" b="0">
                <a:solidFill>
                  <a:srgbClr val="ECE9DF"/>
                </a:solidFill>
                <a:latin typeface="Noto Sans CJK SC"/>
              </a:defRPr>
            </a:pPr>
            <a:r>
              <a:t>清理糖、液体、闪粉再重铺地面。</a:t>
            </a:r>
          </a:p>
          <a:p>
            <a:pPr>
              <a:lnSpc>
                <a:spcPts val="2160"/>
              </a:lnSpc>
              <a:spcBef>
                <a:spcPts val="0"/>
              </a:spcBef>
              <a:spcAft>
                <a:spcPts val="0"/>
              </a:spcAft>
              <a:defRPr sz="1600" b="0">
                <a:solidFill>
                  <a:srgbClr val="ECE9DF"/>
                </a:solidFill>
                <a:latin typeface="Noto Sans CJK SC"/>
              </a:defRPr>
            </a:pPr>
            <a:r>
              <a:t>撤生日背景板与礼炮；屏幕做实机</a:t>
            </a:r>
          </a:p>
          <a:p>
            <a:pPr>
              <a:lnSpc>
                <a:spcPts val="2160"/>
              </a:lnSpc>
              <a:spcBef>
                <a:spcPts val="0"/>
              </a:spcBef>
              <a:spcAft>
                <a:spcPts val="0"/>
              </a:spcAft>
              <a:defRPr sz="1600" b="0">
                <a:solidFill>
                  <a:srgbClr val="ECE9DF"/>
                </a:solidFill>
                <a:latin typeface="Noto Sans CJK SC"/>
              </a:defRPr>
            </a:pPr>
            <a:r>
              <a:t>测试。</a:t>
            </a:r>
          </a:p>
          <a:p>
            <a:pPr>
              <a:lnSpc>
                <a:spcPts val="2160"/>
              </a:lnSpc>
              <a:spcBef>
                <a:spcPts val="0"/>
              </a:spcBef>
              <a:spcAft>
                <a:spcPts val="0"/>
              </a:spcAft>
              <a:defRPr sz="1600" b="0">
                <a:solidFill>
                  <a:srgbClr val="ECE9DF"/>
                </a:solidFill>
                <a:latin typeface="Noto Sans CJK SC"/>
              </a:defRPr>
            </a:pPr>
            <a:r>
              <a:t>头饰留椅背的位置和最后出门线固</a:t>
            </a:r>
          </a:p>
          <a:p>
            <a:pPr>
              <a:lnSpc>
                <a:spcPts val="2160"/>
              </a:lnSpc>
              <a:spcBef>
                <a:spcPts val="0"/>
              </a:spcBef>
              <a:spcAft>
                <a:spcPts val="0"/>
              </a:spcAft>
              <a:defRPr sz="1600" b="0">
                <a:solidFill>
                  <a:srgbClr val="ECE9DF"/>
                </a:solidFill>
                <a:latin typeface="Noto Sans CJK SC"/>
              </a:defRPr>
            </a:pPr>
            <a:r>
              <a:t>定。</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屏幕与印刷 / Graphics Bible</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165</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契约 / A</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E5 书房 PDF13–15：签字及股东页</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E33–34 画室 PDF69–72：补充页</a:t>
            </a:r>
          </a:p>
          <a:p>
            <a:pPr>
              <a:lnSpc>
                <a:spcPts val="2160"/>
              </a:lnSpc>
              <a:spcBef>
                <a:spcPts val="0"/>
              </a:spcBef>
              <a:spcAft>
                <a:spcPts val="0"/>
              </a:spcAft>
              <a:defRPr sz="1600" b="0">
                <a:solidFill>
                  <a:srgbClr val="ECE9DF"/>
                </a:solidFill>
                <a:latin typeface="Noto Sans CJK SC"/>
              </a:defRPr>
            </a:pPr>
            <a:r>
              <a:t>；起草日 November 14，三年前事</a:t>
            </a:r>
          </a:p>
          <a:p>
            <a:pPr>
              <a:lnSpc>
                <a:spcPts val="2160"/>
              </a:lnSpc>
              <a:spcBef>
                <a:spcPts val="0"/>
              </a:spcBef>
              <a:spcAft>
                <a:spcPts val="0"/>
              </a:spcAft>
              <a:defRPr sz="1600" b="0">
                <a:solidFill>
                  <a:srgbClr val="ECE9DF"/>
                </a:solidFill>
                <a:latin typeface="Noto Sans CJK SC"/>
              </a:defRPr>
            </a:pPr>
            <a:r>
              <a:t>故日。</a:t>
            </a:r>
          </a:p>
          <a:p>
            <a:pPr>
              <a:lnSpc>
                <a:spcPts val="2160"/>
              </a:lnSpc>
              <a:spcBef>
                <a:spcPts val="0"/>
              </a:spcBef>
              <a:spcAft>
                <a:spcPts val="0"/>
              </a:spcAft>
              <a:defRPr sz="1600" b="0">
                <a:solidFill>
                  <a:srgbClr val="ECE9DF"/>
                </a:solidFill>
                <a:latin typeface="Noto Sans CJK SC"/>
              </a:defRPr>
            </a:pPr>
            <a:r>
              <a:t>E55 宴会 PDF104–106：撕毁；个</a:t>
            </a:r>
          </a:p>
          <a:p>
            <a:pPr>
              <a:lnSpc>
                <a:spcPts val="2160"/>
              </a:lnSpc>
              <a:spcBef>
                <a:spcPts val="0"/>
              </a:spcBef>
              <a:spcAft>
                <a:spcPts val="0"/>
              </a:spcAft>
              <a:defRPr sz="1600" b="0">
                <a:solidFill>
                  <a:srgbClr val="ECE9DF"/>
                </a:solidFill>
                <a:latin typeface="Noto Sans CJK SC"/>
              </a:defRPr>
            </a:pPr>
            <a:r>
              <a:t>人印章。</a:t>
            </a:r>
          </a:p>
          <a:p>
            <a:pPr>
              <a:lnSpc>
                <a:spcPts val="2160"/>
              </a:lnSpc>
              <a:spcBef>
                <a:spcPts val="0"/>
              </a:spcBef>
              <a:spcAft>
                <a:spcPts val="0"/>
              </a:spcAft>
              <a:defRPr sz="1600" b="0">
                <a:solidFill>
                  <a:srgbClr val="ECE9DF"/>
                </a:solidFill>
                <a:latin typeface="Noto Sans CJK SC"/>
              </a:defRPr>
            </a:pPr>
            <a:r>
              <a:t>B：完好／折痕／撕毁版本；印刷</a:t>
            </a:r>
          </a:p>
          <a:p>
            <a:pPr>
              <a:lnSpc>
                <a:spcPts val="2160"/>
              </a:lnSpc>
              <a:spcBef>
                <a:spcPts val="0"/>
              </a:spcBef>
              <a:spcAft>
                <a:spcPts val="0"/>
              </a:spcAft>
              <a:defRPr sz="1600" b="0">
                <a:solidFill>
                  <a:srgbClr val="ECE9DF"/>
                </a:solidFill>
                <a:latin typeface="Noto Sans CJK SC"/>
              </a:defRPr>
            </a:pPr>
            <a:r>
              <a:t>前清稿。</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手机 / A</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E1贷款通知；E13 WhatsApp药片照</a:t>
            </a:r>
          </a:p>
          <a:p>
            <a:pPr>
              <a:lnSpc>
                <a:spcPts val="2160"/>
              </a:lnSpc>
              <a:spcBef>
                <a:spcPts val="0"/>
              </a:spcBef>
              <a:spcAft>
                <a:spcPts val="0"/>
              </a:spcAft>
              <a:defRPr sz="1600" b="0">
                <a:solidFill>
                  <a:srgbClr val="ECE9DF"/>
                </a:solidFill>
                <a:latin typeface="Noto Sans CJK SC"/>
              </a:defRPr>
            </a:pPr>
            <a:r>
              <a:t>片；E14分析；E18匿名邀约；E28</a:t>
            </a:r>
          </a:p>
          <a:p>
            <a:pPr>
              <a:lnSpc>
                <a:spcPts val="2160"/>
              </a:lnSpc>
              <a:spcBef>
                <a:spcPts val="0"/>
              </a:spcBef>
              <a:spcAft>
                <a:spcPts val="0"/>
              </a:spcAft>
              <a:defRPr sz="1600" b="0">
                <a:solidFill>
                  <a:srgbClr val="ECE9DF"/>
                </a:solidFill>
                <a:latin typeface="Noto Sans CJK SC"/>
              </a:defRPr>
            </a:pPr>
            <a:r>
              <a:t>停合作邮件；E35定位；E43婚纱照</a:t>
            </a:r>
          </a:p>
          <a:p>
            <a:pPr>
              <a:lnSpc>
                <a:spcPts val="2160"/>
              </a:lnSpc>
              <a:spcBef>
                <a:spcPts val="0"/>
              </a:spcBef>
              <a:spcAft>
                <a:spcPts val="0"/>
              </a:spcAft>
              <a:defRPr sz="1600" b="0">
                <a:solidFill>
                  <a:srgbClr val="ECE9DF"/>
                </a:solidFill>
                <a:latin typeface="Noto Sans CJK SC"/>
              </a:defRPr>
            </a:pPr>
            <a:r>
              <a:t>；E46 Northbridge记录；E55账户冻</a:t>
            </a:r>
          </a:p>
          <a:p>
            <a:pPr>
              <a:lnSpc>
                <a:spcPts val="2160"/>
              </a:lnSpc>
              <a:spcBef>
                <a:spcPts val="0"/>
              </a:spcBef>
              <a:spcAft>
                <a:spcPts val="0"/>
              </a:spcAft>
              <a:defRPr sz="1600" b="0">
                <a:solidFill>
                  <a:srgbClr val="ECE9DF"/>
                </a:solidFill>
                <a:latin typeface="Noto Sans CJK SC"/>
              </a:defRPr>
            </a:pPr>
            <a:r>
              <a:t>结。</a:t>
            </a:r>
          </a:p>
          <a:p>
            <a:pPr>
              <a:lnSpc>
                <a:spcPts val="2160"/>
              </a:lnSpc>
              <a:spcBef>
                <a:spcPts val="0"/>
              </a:spcBef>
              <a:spcAft>
                <a:spcPts val="0"/>
              </a:spcAft>
              <a:defRPr sz="1600" b="0">
                <a:solidFill>
                  <a:srgbClr val="ECE9DF"/>
                </a:solidFill>
                <a:latin typeface="Noto Sans CJK SC"/>
              </a:defRPr>
            </a:pPr>
            <a:r>
              <a:t>完整标题与页码见Evidence表。</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回放 / A＋B</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E52 PDF101：康复室无人，Gloria</a:t>
            </a:r>
          </a:p>
          <a:p>
            <a:pPr>
              <a:lnSpc>
                <a:spcPts val="2160"/>
              </a:lnSpc>
              <a:spcBef>
                <a:spcPts val="0"/>
              </a:spcBef>
              <a:spcAft>
                <a:spcPts val="0"/>
              </a:spcAft>
              <a:defRPr sz="1600" b="0">
                <a:solidFill>
                  <a:srgbClr val="ECE9DF"/>
                </a:solidFill>
                <a:latin typeface="Noto Sans CJK SC"/>
              </a:defRPr>
            </a:pPr>
            <a:r>
              <a:t>从台脚拾白片入袋／口袋，定格。</a:t>
            </a:r>
          </a:p>
          <a:p>
            <a:pPr>
              <a:lnSpc>
                <a:spcPts val="2160"/>
              </a:lnSpc>
              <a:spcBef>
                <a:spcPts val="0"/>
              </a:spcBef>
              <a:spcAft>
                <a:spcPts val="0"/>
              </a:spcAft>
              <a:defRPr sz="1600" b="0">
                <a:solidFill>
                  <a:srgbClr val="ECE9DF"/>
                </a:solidFill>
                <a:latin typeface="Noto Sans CJK SC"/>
              </a:defRPr>
            </a:pPr>
            <a:r>
              <a:t>B：与E13拍摄位置、衣着、药片和</a:t>
            </a:r>
          </a:p>
          <a:p>
            <a:pPr>
              <a:lnSpc>
                <a:spcPts val="2160"/>
              </a:lnSpc>
              <a:spcBef>
                <a:spcPts val="0"/>
              </a:spcBef>
              <a:spcAft>
                <a:spcPts val="0"/>
              </a:spcAft>
              <a:defRPr sz="1600" b="0">
                <a:solidFill>
                  <a:srgbClr val="ECE9DF"/>
                </a:solidFill>
                <a:latin typeface="Noto Sans CJK SC"/>
              </a:defRPr>
            </a:pPr>
            <a:r>
              <a:t>桌脚对应；剪辑提供可循环冻结素</a:t>
            </a:r>
          </a:p>
          <a:p>
            <a:pPr>
              <a:lnSpc>
                <a:spcPts val="2160"/>
              </a:lnSpc>
              <a:spcBef>
                <a:spcPts val="0"/>
              </a:spcBef>
              <a:spcAft>
                <a:spcPts val="0"/>
              </a:spcAft>
              <a:defRPr sz="1600" b="0">
                <a:solidFill>
                  <a:srgbClr val="ECE9DF"/>
                </a:solidFill>
                <a:latin typeface="Noto Sans CJK SC"/>
              </a:defRPr>
            </a:pPr>
            <a:r>
              <a:t>材。</a:t>
            </a:r>
          </a:p>
          <a:p>
            <a:pPr>
              <a:lnSpc>
                <a:spcPts val="2160"/>
              </a:lnSpc>
              <a:spcBef>
                <a:spcPts val="0"/>
              </a:spcBef>
              <a:spcAft>
                <a:spcPts val="0"/>
              </a:spcAft>
              <a:defRPr sz="1600" b="0">
                <a:solidFill>
                  <a:srgbClr val="ECE9DF"/>
                </a:solidFill>
                <a:latin typeface="Noto Sans CJK SC"/>
              </a:defRPr>
            </a:pPr>
            <a:r>
              <a:t>屏幕不得只放泛化CCTV画面。</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英雄道具连续性 / The Objects Carry Story</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166</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旧画 / A→B</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A：E28黑森林／红痕；E29酒液；</a:t>
            </a:r>
          </a:p>
          <a:p>
            <a:pPr>
              <a:lnSpc>
                <a:spcPts val="2160"/>
              </a:lnSpc>
              <a:spcBef>
                <a:spcPts val="0"/>
              </a:spcBef>
              <a:spcAft>
                <a:spcPts val="0"/>
              </a:spcAft>
              <a:defRPr sz="1600" b="0">
                <a:solidFill>
                  <a:srgbClr val="ECE9DF"/>
                </a:solidFill>
                <a:latin typeface="Noto Sans CJK SC"/>
              </a:defRPr>
            </a:pPr>
            <a:r>
              <a:t>E32银白覆盖酒痕、远端一点星光</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B：干净／湿损／修复中／完成四</a:t>
            </a:r>
          </a:p>
          <a:p>
            <a:pPr>
              <a:lnSpc>
                <a:spcPts val="2160"/>
              </a:lnSpc>
              <a:spcBef>
                <a:spcPts val="0"/>
              </a:spcBef>
              <a:spcAft>
                <a:spcPts val="0"/>
              </a:spcAft>
              <a:defRPr sz="1600" b="0">
                <a:solidFill>
                  <a:srgbClr val="ECE9DF"/>
                </a:solidFill>
                <a:latin typeface="Noto Sans CJK SC"/>
              </a:defRPr>
            </a:pPr>
            <a:r>
              <a:t>阶段版本；倒地画框防护。</a:t>
            </a:r>
          </a:p>
          <a:p>
            <a:pPr>
              <a:lnSpc>
                <a:spcPts val="2160"/>
              </a:lnSpc>
              <a:spcBef>
                <a:spcPts val="0"/>
              </a:spcBef>
              <a:spcAft>
                <a:spcPts val="0"/>
              </a:spcAft>
              <a:defRPr sz="1600" b="0">
                <a:solidFill>
                  <a:srgbClr val="ECE9DF"/>
                </a:solidFill>
                <a:latin typeface="Noto Sans CJK SC"/>
              </a:defRPr>
            </a:pPr>
            <a:r>
              <a:t>不能把储藏室所有画与英雄画自动</a:t>
            </a:r>
          </a:p>
          <a:p>
            <a:pPr>
              <a:lnSpc>
                <a:spcPts val="2160"/>
              </a:lnSpc>
              <a:spcBef>
                <a:spcPts val="0"/>
              </a:spcBef>
              <a:spcAft>
                <a:spcPts val="0"/>
              </a:spcAft>
              <a:defRPr sz="1600" b="0">
                <a:solidFill>
                  <a:srgbClr val="ECE9DF"/>
                </a:solidFill>
                <a:latin typeface="Noto Sans CJK SC"/>
              </a:defRPr>
            </a:pPr>
            <a:r>
              <a:t>认作同一幅。</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药片 / A→B</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A：E12–13白片；E14–15蓝片／</a:t>
            </a:r>
          </a:p>
          <a:p>
            <a:pPr>
              <a:lnSpc>
                <a:spcPts val="2160"/>
              </a:lnSpc>
              <a:spcBef>
                <a:spcPts val="0"/>
              </a:spcBef>
              <a:spcAft>
                <a:spcPts val="0"/>
              </a:spcAft>
              <a:defRPr sz="1600" b="0">
                <a:solidFill>
                  <a:srgbClr val="ECE9DF"/>
                </a:solidFill>
                <a:latin typeface="Noto Sans CJK SC"/>
              </a:defRPr>
            </a:pPr>
            <a:r>
              <a:t>白维C替换；E52–56袋中与落地证</a:t>
            </a:r>
          </a:p>
          <a:p>
            <a:pPr>
              <a:lnSpc>
                <a:spcPts val="2160"/>
              </a:lnSpc>
              <a:spcBef>
                <a:spcPts val="0"/>
              </a:spcBef>
              <a:spcAft>
                <a:spcPts val="0"/>
              </a:spcAft>
              <a:defRPr sz="1600" b="0">
                <a:solidFill>
                  <a:srgbClr val="ECE9DF"/>
                </a:solidFill>
                <a:latin typeface="Noto Sans CJK SC"/>
              </a:defRPr>
            </a:pPr>
            <a:r>
              <a:t>物。</a:t>
            </a:r>
          </a:p>
          <a:p>
            <a:pPr>
              <a:lnSpc>
                <a:spcPts val="2160"/>
              </a:lnSpc>
              <a:spcBef>
                <a:spcPts val="0"/>
              </a:spcBef>
              <a:spcAft>
                <a:spcPts val="0"/>
              </a:spcAft>
              <a:defRPr sz="1600" b="0">
                <a:solidFill>
                  <a:srgbClr val="ECE9DF"/>
                </a:solidFill>
                <a:latin typeface="Noto Sans CJK SC"/>
              </a:defRPr>
            </a:pPr>
            <a:r>
              <a:t>B：拍清形状、分数线、包装批号</a:t>
            </a:r>
          </a:p>
          <a:p>
            <a:pPr>
              <a:lnSpc>
                <a:spcPts val="2160"/>
              </a:lnSpc>
              <a:spcBef>
                <a:spcPts val="0"/>
              </a:spcBef>
              <a:spcAft>
                <a:spcPts val="0"/>
              </a:spcAft>
              <a:defRPr sz="1600" b="0">
                <a:solidFill>
                  <a:srgbClr val="ECE9DF"/>
                </a:solidFill>
                <a:latin typeface="Noto Sans CJK SC"/>
              </a:defRPr>
            </a:pPr>
            <a:r>
              <a:t>；不可直接替换颜色。</a:t>
            </a:r>
          </a:p>
          <a:p>
            <a:pPr>
              <a:lnSpc>
                <a:spcPts val="2160"/>
              </a:lnSpc>
              <a:spcBef>
                <a:spcPts val="0"/>
              </a:spcBef>
              <a:spcAft>
                <a:spcPts val="0"/>
              </a:spcAft>
              <a:defRPr sz="1600" b="0">
                <a:solidFill>
                  <a:srgbClr val="ECE9DF"/>
                </a:solidFill>
                <a:latin typeface="Noto Sans CJK SC"/>
              </a:defRPr>
            </a:pPr>
            <a:r>
              <a:t>可食替身与跌落版由道具确认。</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驯鹿头饰 / A→B</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A：E9–10发光帽；E57椅背头箍；</a:t>
            </a:r>
          </a:p>
          <a:p>
            <a:pPr>
              <a:lnSpc>
                <a:spcPts val="2160"/>
              </a:lnSpc>
              <a:spcBef>
                <a:spcPts val="0"/>
              </a:spcBef>
              <a:spcAft>
                <a:spcPts val="0"/>
              </a:spcAft>
              <a:defRPr sz="1600" b="0">
                <a:solidFill>
                  <a:srgbClr val="ECE9DF"/>
                </a:solidFill>
                <a:latin typeface="Noto Sans CJK SC"/>
              </a:defRPr>
            </a:pPr>
            <a:r>
              <a:t>E58手持；E59戴回Bryce。</a:t>
            </a:r>
          </a:p>
          <a:p>
            <a:pPr>
              <a:lnSpc>
                <a:spcPts val="2160"/>
              </a:lnSpc>
              <a:spcBef>
                <a:spcPts val="0"/>
              </a:spcBef>
              <a:spcAft>
                <a:spcPts val="0"/>
              </a:spcAft>
              <a:defRPr sz="1600" b="0">
                <a:solidFill>
                  <a:srgbClr val="ECE9DF"/>
                </a:solidFill>
                <a:latin typeface="Noto Sans CJK SC"/>
              </a:defRPr>
            </a:pPr>
            <a:r>
              <a:t>B：帽／头箍形态是否同一物件待</a:t>
            </a:r>
          </a:p>
          <a:p>
            <a:pPr>
              <a:lnSpc>
                <a:spcPts val="2160"/>
              </a:lnSpc>
              <a:spcBef>
                <a:spcPts val="0"/>
              </a:spcBef>
              <a:spcAft>
                <a:spcPts val="0"/>
              </a:spcAft>
              <a:defRPr sz="1600" b="0">
                <a:solidFill>
                  <a:srgbClr val="ECE9DF"/>
                </a:solidFill>
                <a:latin typeface="Noto Sans CJK SC"/>
              </a:defRPr>
            </a:pPr>
            <a:r>
              <a:t>导演确认；发光、电量、雪湿版本</a:t>
            </a:r>
          </a:p>
          <a:p>
            <a:pPr>
              <a:lnSpc>
                <a:spcPts val="2160"/>
              </a:lnSpc>
              <a:spcBef>
                <a:spcPts val="0"/>
              </a:spcBef>
              <a:spcAft>
                <a:spcPts val="0"/>
              </a:spcAft>
              <a:defRPr sz="1600" b="0">
                <a:solidFill>
                  <a:srgbClr val="ECE9DF"/>
                </a:solidFill>
                <a:latin typeface="Noto Sans CJK SC"/>
              </a:defRPr>
            </a:pPr>
            <a:r>
              <a:t>需登记。</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时间与文本问题 / Continuity Questions</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167</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明确需确认</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E11康复室：标题NIGHT，正文“</a:t>
            </a:r>
          </a:p>
          <a:p>
            <a:pPr>
              <a:lnSpc>
                <a:spcPts val="2160"/>
              </a:lnSpc>
              <a:spcBef>
                <a:spcPts val="0"/>
              </a:spcBef>
              <a:spcAft>
                <a:spcPts val="0"/>
              </a:spcAft>
              <a:defRPr sz="1600" b="0">
                <a:solidFill>
                  <a:srgbClr val="ECE9DF"/>
                </a:solidFill>
                <a:latin typeface="Noto Sans CJK SC"/>
              </a:defRPr>
            </a:pPr>
            <a:r>
              <a:t>The next morning”。PDF27。</a:t>
            </a:r>
          </a:p>
          <a:p>
            <a:pPr>
              <a:lnSpc>
                <a:spcPts val="2160"/>
              </a:lnSpc>
              <a:spcBef>
                <a:spcPts val="0"/>
              </a:spcBef>
              <a:spcAft>
                <a:spcPts val="0"/>
              </a:spcAft>
              <a:defRPr sz="1600" b="0">
                <a:solidFill>
                  <a:srgbClr val="ECE9DF"/>
                </a:solidFill>
                <a:latin typeface="Noto Sans CJK SC"/>
              </a:defRPr>
            </a:pPr>
            <a:r>
              <a:t>E17卧室→E18客厅：信封抛下／落</a:t>
            </a:r>
          </a:p>
          <a:p>
            <a:pPr>
              <a:lnSpc>
                <a:spcPts val="2160"/>
              </a:lnSpc>
              <a:spcBef>
                <a:spcPts val="0"/>
              </a:spcBef>
              <a:spcAft>
                <a:spcPts val="0"/>
              </a:spcAft>
              <a:defRPr sz="1600" b="0">
                <a:solidFill>
                  <a:srgbClr val="ECE9DF"/>
                </a:solidFill>
                <a:latin typeface="Noto Sans CJK SC"/>
              </a:defRPr>
            </a:pPr>
            <a:r>
              <a:t>地动作跨标题。PDF42。</a:t>
            </a:r>
          </a:p>
          <a:p>
            <a:pPr>
              <a:lnSpc>
                <a:spcPts val="2160"/>
              </a:lnSpc>
              <a:spcBef>
                <a:spcPts val="0"/>
              </a:spcBef>
              <a:spcAft>
                <a:spcPts val="0"/>
              </a:spcAft>
              <a:defRPr sz="1600" b="0">
                <a:solidFill>
                  <a:srgbClr val="ECE9DF"/>
                </a:solidFill>
                <a:latin typeface="Noto Sans CJK SC"/>
              </a:defRPr>
            </a:pPr>
            <a:r>
              <a:t>E46夜→E47下午的证据交接：日序</a:t>
            </a:r>
          </a:p>
          <a:p>
            <a:pPr>
              <a:lnSpc>
                <a:spcPts val="2160"/>
              </a:lnSpc>
              <a:spcBef>
                <a:spcPts val="0"/>
              </a:spcBef>
              <a:spcAft>
                <a:spcPts val="0"/>
              </a:spcAft>
              <a:defRPr sz="1600" b="0">
                <a:solidFill>
                  <a:srgbClr val="ECE9DF"/>
                </a:solidFill>
                <a:latin typeface="Noto Sans CJK SC"/>
              </a:defRPr>
            </a:pPr>
            <a:r>
              <a:t>需场记确认。</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不能擅自合并</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Gloria庄园卧室 ≠ 公寓 ≠ 客房。</a:t>
            </a:r>
          </a:p>
          <a:p>
            <a:pPr>
              <a:lnSpc>
                <a:spcPts val="2160"/>
              </a:lnSpc>
              <a:spcBef>
                <a:spcPts val="0"/>
              </a:spcBef>
              <a:spcAft>
                <a:spcPts val="0"/>
              </a:spcAft>
              <a:defRPr sz="1600" b="0">
                <a:solidFill>
                  <a:srgbClr val="ECE9DF"/>
                </a:solidFill>
                <a:latin typeface="Noto Sans CJK SC"/>
              </a:defRPr>
            </a:pPr>
            <a:r>
              <a:t>Grand Hall ≠ Banquet Hall。</a:t>
            </a:r>
          </a:p>
          <a:p>
            <a:pPr>
              <a:lnSpc>
                <a:spcPts val="2160"/>
              </a:lnSpc>
              <a:spcBef>
                <a:spcPts val="0"/>
              </a:spcBef>
              <a:spcAft>
                <a:spcPts val="0"/>
              </a:spcAft>
              <a:defRPr sz="1600" b="0">
                <a:solidFill>
                  <a:srgbClr val="ECE9DF"/>
                </a:solidFill>
                <a:latin typeface="Noto Sans CJK SC"/>
              </a:defRPr>
            </a:pPr>
            <a:r>
              <a:t>Storage Hall ≠ Studio Corridor ≠ Up</a:t>
            </a:r>
          </a:p>
          <a:p>
            <a:pPr>
              <a:lnSpc>
                <a:spcPts val="2160"/>
              </a:lnSpc>
              <a:spcBef>
                <a:spcPts val="0"/>
              </a:spcBef>
              <a:spcAft>
                <a:spcPts val="0"/>
              </a:spcAft>
              <a:defRPr sz="1600" b="0">
                <a:solidFill>
                  <a:srgbClr val="ECE9DF"/>
                </a:solidFill>
                <a:latin typeface="Noto Sans CJK SC"/>
              </a:defRPr>
            </a:pPr>
            <a:r>
              <a:t>per Hall。</a:t>
            </a:r>
          </a:p>
          <a:p>
            <a:pPr>
              <a:lnSpc>
                <a:spcPts val="2160"/>
              </a:lnSpc>
              <a:spcBef>
                <a:spcPts val="0"/>
              </a:spcBef>
              <a:spcAft>
                <a:spcPts val="0"/>
              </a:spcAft>
              <a:defRPr sz="1600" b="0">
                <a:solidFill>
                  <a:srgbClr val="ECE9DF"/>
                </a:solidFill>
                <a:latin typeface="Noto Sans CJK SC"/>
              </a:defRPr>
            </a:pPr>
            <a:r>
              <a:t>仓库只写外景／停车场；不加室内</a:t>
            </a:r>
          </a:p>
          <a:p>
            <a:pPr>
              <a:lnSpc>
                <a:spcPts val="2160"/>
              </a:lnSpc>
              <a:spcBef>
                <a:spcPts val="0"/>
              </a:spcBef>
              <a:spcAft>
                <a:spcPts val="0"/>
              </a:spcAft>
              <a:defRPr sz="1600" b="0">
                <a:solidFill>
                  <a:srgbClr val="ECE9DF"/>
                </a:solidFill>
                <a:latin typeface="Noto Sans CJK SC"/>
              </a:defRPr>
            </a:pPr>
            <a:r>
              <a:t>场。</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回忆／屏幕层</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E42车内回忆、E46婚纱店回忆为嵌</a:t>
            </a:r>
          </a:p>
          <a:p>
            <a:pPr>
              <a:lnSpc>
                <a:spcPts val="2160"/>
              </a:lnSpc>
              <a:spcBef>
                <a:spcPts val="0"/>
              </a:spcBef>
              <a:spcAft>
                <a:spcPts val="0"/>
              </a:spcAft>
              <a:defRPr sz="1600" b="0">
                <a:solidFill>
                  <a:srgbClr val="ECE9DF"/>
                </a:solidFill>
                <a:latin typeface="Noto Sans CJK SC"/>
              </a:defRPr>
            </a:pPr>
            <a:r>
              <a:t>入闪回，工作簿另列。</a:t>
            </a:r>
          </a:p>
          <a:p>
            <a:pPr>
              <a:lnSpc>
                <a:spcPts val="2160"/>
              </a:lnSpc>
              <a:spcBef>
                <a:spcPts val="0"/>
              </a:spcBef>
              <a:spcAft>
                <a:spcPts val="0"/>
              </a:spcAft>
              <a:defRPr sz="1600" b="0">
                <a:solidFill>
                  <a:srgbClr val="ECE9DF"/>
                </a:solidFill>
                <a:latin typeface="Noto Sans CJK SC"/>
              </a:defRPr>
            </a:pPr>
            <a:r>
              <a:t>E52康复室为监控内容：需要拍摄</a:t>
            </a:r>
          </a:p>
          <a:p>
            <a:pPr>
              <a:lnSpc>
                <a:spcPts val="2160"/>
              </a:lnSpc>
              <a:spcBef>
                <a:spcPts val="0"/>
              </a:spcBef>
              <a:spcAft>
                <a:spcPts val="0"/>
              </a:spcAft>
              <a:defRPr sz="1600" b="0">
                <a:solidFill>
                  <a:srgbClr val="ECE9DF"/>
                </a:solidFill>
                <a:latin typeface="Noto Sans CJK SC"/>
              </a:defRPr>
            </a:pPr>
            <a:r>
              <a:t>素材，不是宴会现场新增房间。</a:t>
            </a:r>
          </a:p>
          <a:p>
            <a:pPr>
              <a:lnSpc>
                <a:spcPts val="2160"/>
              </a:lnSpc>
              <a:spcBef>
                <a:spcPts val="0"/>
              </a:spcBef>
              <a:spcAft>
                <a:spcPts val="0"/>
              </a:spcAft>
              <a:defRPr sz="1600" b="0">
                <a:solidFill>
                  <a:srgbClr val="ECE9DF"/>
                </a:solidFill>
                <a:latin typeface="Noto Sans CJK SC"/>
              </a:defRPr>
            </a:pPr>
            <a:r>
              <a:t>不将对白中的炸药威胁当必需特效</a:t>
            </a:r>
          </a:p>
          <a:p>
            <a:pPr>
              <a:lnSpc>
                <a:spcPts val="2160"/>
              </a:lnSpc>
              <a:spcBef>
                <a:spcPts val="0"/>
              </a:spcBef>
              <a:spcAft>
                <a:spcPts val="0"/>
              </a:spcAft>
              <a:defRPr sz="1600" b="0">
                <a:solidFill>
                  <a:srgbClr val="ECE9DF"/>
                </a:solidFill>
                <a:latin typeface="Noto Sans CJK SC"/>
              </a:defRPr>
            </a:pPr>
            <a:r>
              <a: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采购与搭景优先级 / Acquisition Plan</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168</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第一批 / P0</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锁轮椅、动作家具、治疗台及训练</a:t>
            </a:r>
          </a:p>
          <a:p>
            <a:pPr>
              <a:lnSpc>
                <a:spcPts val="2160"/>
              </a:lnSpc>
              <a:spcBef>
                <a:spcPts val="0"/>
              </a:spcBef>
              <a:spcAft>
                <a:spcPts val="0"/>
              </a:spcAft>
              <a:defRPr sz="1600" b="0">
                <a:solidFill>
                  <a:srgbClr val="ECE9DF"/>
                </a:solidFill>
                <a:latin typeface="Noto Sans CJK SC"/>
              </a:defRPr>
            </a:pPr>
            <a:r>
              <a:t>道具。</a:t>
            </a:r>
          </a:p>
          <a:p>
            <a:pPr>
              <a:lnSpc>
                <a:spcPts val="2160"/>
              </a:lnSpc>
              <a:spcBef>
                <a:spcPts val="0"/>
              </a:spcBef>
              <a:spcAft>
                <a:spcPts val="0"/>
              </a:spcAft>
              <a:defRPr sz="1600" b="0">
                <a:solidFill>
                  <a:srgbClr val="ECE9DF"/>
                </a:solidFill>
                <a:latin typeface="Noto Sans CJK SC"/>
              </a:defRPr>
            </a:pPr>
            <a:r>
              <a:t>清稿全部证据文件与屏幕文案。</a:t>
            </a:r>
          </a:p>
          <a:p>
            <a:pPr>
              <a:lnSpc>
                <a:spcPts val="2160"/>
              </a:lnSpc>
              <a:spcBef>
                <a:spcPts val="0"/>
              </a:spcBef>
              <a:spcAft>
                <a:spcPts val="0"/>
              </a:spcAft>
              <a:defRPr sz="1600" b="0">
                <a:solidFill>
                  <a:srgbClr val="ECE9DF"/>
                </a:solidFill>
                <a:latin typeface="Noto Sans CJK SC"/>
              </a:defRPr>
            </a:pPr>
            <a:r>
              <a:t>旧画制作／损坏／修复测试。</a:t>
            </a:r>
          </a:p>
          <a:p>
            <a:pPr>
              <a:lnSpc>
                <a:spcPts val="2160"/>
              </a:lnSpc>
              <a:spcBef>
                <a:spcPts val="0"/>
              </a:spcBef>
              <a:spcAft>
                <a:spcPts val="0"/>
              </a:spcAft>
              <a:defRPr sz="1600" b="0">
                <a:solidFill>
                  <a:srgbClr val="ECE9DF"/>
                </a:solidFill>
                <a:latin typeface="Noto Sans CJK SC"/>
              </a:defRPr>
            </a:pPr>
            <a:r>
              <a:t>生日复位与车辆特技会议。</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第二批 / P1</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庄园家具按同套木色租赁。</a:t>
            </a:r>
          </a:p>
          <a:p>
            <a:pPr>
              <a:lnSpc>
                <a:spcPts val="2160"/>
              </a:lnSpc>
              <a:spcBef>
                <a:spcPts val="0"/>
              </a:spcBef>
              <a:spcAft>
                <a:spcPts val="0"/>
              </a:spcAft>
              <a:defRPr sz="1600" b="0">
                <a:solidFill>
                  <a:srgbClr val="ECE9DF"/>
                </a:solidFill>
                <a:latin typeface="Noto Sans CJK SC"/>
              </a:defRPr>
            </a:pPr>
            <a:r>
              <a:t>市场货架和装饰采购；树灯做开关</a:t>
            </a:r>
          </a:p>
          <a:p>
            <a:pPr>
              <a:lnSpc>
                <a:spcPts val="2160"/>
              </a:lnSpc>
              <a:spcBef>
                <a:spcPts val="0"/>
              </a:spcBef>
              <a:spcAft>
                <a:spcPts val="0"/>
              </a:spcAft>
              <a:defRPr sz="1600" b="0">
                <a:solidFill>
                  <a:srgbClr val="ECE9DF"/>
                </a:solidFill>
                <a:latin typeface="Noto Sans CJK SC"/>
              </a:defRPr>
            </a:pPr>
            <a:r>
              <a:t>／曝光测试。</a:t>
            </a:r>
          </a:p>
          <a:p>
            <a:pPr>
              <a:lnSpc>
                <a:spcPts val="2160"/>
              </a:lnSpc>
              <a:spcBef>
                <a:spcPts val="0"/>
              </a:spcBef>
              <a:spcAft>
                <a:spcPts val="0"/>
              </a:spcAft>
              <a:defRPr sz="1600" b="0">
                <a:solidFill>
                  <a:srgbClr val="ECE9DF"/>
                </a:solidFill>
                <a:latin typeface="Noto Sans CJK SC"/>
              </a:defRPr>
            </a:pPr>
            <a:r>
              <a:t>床品、餐食、茶具与服装盒。</a:t>
            </a:r>
          </a:p>
          <a:p>
            <a:pPr>
              <a:lnSpc>
                <a:spcPts val="2160"/>
              </a:lnSpc>
              <a:spcBef>
                <a:spcPts val="0"/>
              </a:spcBef>
              <a:spcAft>
                <a:spcPts val="0"/>
              </a:spcAft>
              <a:defRPr sz="1600" b="0">
                <a:solidFill>
                  <a:srgbClr val="ECE9DF"/>
                </a:solidFill>
                <a:latin typeface="Noto Sans CJK SC"/>
              </a:defRPr>
            </a:pPr>
            <a:r>
              <a:t>量、价、供应商TBD。</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交接 / B</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Props：手持、英雄与动作版本。</a:t>
            </a:r>
          </a:p>
          <a:p>
            <a:pPr>
              <a:lnSpc>
                <a:spcPts val="2160"/>
              </a:lnSpc>
              <a:spcBef>
                <a:spcPts val="0"/>
              </a:spcBef>
              <a:spcAft>
                <a:spcPts val="0"/>
              </a:spcAft>
              <a:defRPr sz="1600" b="0">
                <a:solidFill>
                  <a:srgbClr val="ECE9DF"/>
                </a:solidFill>
                <a:latin typeface="Noto Sans CJK SC"/>
              </a:defRPr>
            </a:pPr>
            <a:r>
              <a:t>Set Dec：家具、背景、织物。</a:t>
            </a:r>
          </a:p>
          <a:p>
            <a:pPr>
              <a:lnSpc>
                <a:spcPts val="2160"/>
              </a:lnSpc>
              <a:spcBef>
                <a:spcPts val="0"/>
              </a:spcBef>
              <a:spcAft>
                <a:spcPts val="0"/>
              </a:spcAft>
              <a:defRPr sz="1600" b="0">
                <a:solidFill>
                  <a:srgbClr val="ECE9DF"/>
                </a:solidFill>
                <a:latin typeface="Noto Sans CJK SC"/>
              </a:defRPr>
            </a:pPr>
            <a:r>
              <a:t>Graphics：文件、家徽、UI。</a:t>
            </a:r>
          </a:p>
          <a:p>
            <a:pPr>
              <a:lnSpc>
                <a:spcPts val="2160"/>
              </a:lnSpc>
              <a:spcBef>
                <a:spcPts val="0"/>
              </a:spcBef>
              <a:spcAft>
                <a:spcPts val="0"/>
              </a:spcAft>
              <a:defRPr sz="1600" b="0">
                <a:solidFill>
                  <a:srgbClr val="ECE9DF"/>
                </a:solidFill>
                <a:latin typeface="Noto Sans CJK SC"/>
              </a:defRPr>
            </a:pPr>
            <a:r>
              <a:t>SFX / Stunts / Costume / Medical：按</a:t>
            </a:r>
          </a:p>
          <a:p>
            <a:pPr>
              <a:lnSpc>
                <a:spcPts val="2160"/>
              </a:lnSpc>
              <a:spcBef>
                <a:spcPts val="0"/>
              </a:spcBef>
              <a:spcAft>
                <a:spcPts val="0"/>
              </a:spcAft>
              <a:defRPr sz="1600" b="0">
                <a:solidFill>
                  <a:srgbClr val="ECE9DF"/>
                </a:solidFill>
                <a:latin typeface="Noto Sans CJK SC"/>
              </a:defRPr>
            </a:pPr>
            <a:r>
              <a:t>动作逐项会签。</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9400"/>
            <a:ext cx="10985500" cy="279400"/>
          </a:xfrm>
          <a:prstGeom prst="rect">
            <a:avLst/>
          </a:prstGeom>
          <a:noFill/>
        </p:spPr>
        <p:txBody>
          <a:bodyPr wrap="none" lIns="0" rIns="0" tIns="0" bIns="0">
            <a:spAutoFit/>
          </a:bodyPr>
          <a:lstStyle/>
          <a:p>
            <a:pPr>
              <a:lnSpc>
                <a:spcPts val="1350"/>
              </a:lnSpc>
              <a:spcBef>
                <a:spcPts val="0"/>
              </a:spcBef>
              <a:spcAft>
                <a:spcPts val="0"/>
              </a:spcAft>
              <a:defRPr sz="1000" b="0">
                <a:solidFill>
                  <a:srgbClr val="C4A36C"/>
                </a:solidFill>
                <a:latin typeface="Noto Sans CJK SC"/>
              </a:defRPr>
            </a:pPr>
            <a:r>
              <a:t>TT1 / PRODUCTION DESIGN</a:t>
            </a:r>
          </a:p>
        </p:txBody>
      </p:sp>
      <p:sp>
        <p:nvSpPr>
          <p:cNvPr id="4" name="TextBox 3"/>
          <p:cNvSpPr txBox="1"/>
          <p:nvPr/>
        </p:nvSpPr>
        <p:spPr>
          <a:xfrm>
            <a:off x="457200" y="673100"/>
            <a:ext cx="11303000" cy="812800"/>
          </a:xfrm>
          <a:prstGeom prst="rect">
            <a:avLst/>
          </a:prstGeom>
          <a:noFill/>
        </p:spPr>
        <p:txBody>
          <a:bodyPr wrap="none" lIns="0" rIns="0" tIns="0" bIns="0">
            <a:spAutoFit/>
          </a:bodyPr>
          <a:lstStyle/>
          <a:p>
            <a:pPr>
              <a:lnSpc>
                <a:spcPts val="3645"/>
              </a:lnSpc>
              <a:spcBef>
                <a:spcPts val="0"/>
              </a:spcBef>
              <a:spcAft>
                <a:spcPts val="0"/>
              </a:spcAft>
              <a:defRPr sz="2700" b="1">
                <a:solidFill>
                  <a:srgbClr val="ECE9DF"/>
                </a:solidFill>
                <a:latin typeface="Noto Sans CJK SC"/>
              </a:defRPr>
            </a:pPr>
            <a:r>
              <a:t>收景与交付 / Review Gate</a:t>
            </a:r>
          </a:p>
        </p:txBody>
      </p:sp>
      <p:sp>
        <p:nvSpPr>
          <p:cNvPr id="5" name="Rectangle 4"/>
          <p:cNvSpPr/>
          <p:nvPr/>
        </p:nvSpPr>
        <p:spPr>
          <a:xfrm>
            <a:off x="457200" y="6464300"/>
            <a:ext cx="11277600" cy="12700"/>
          </a:xfrm>
          <a:prstGeom prst="rect">
            <a:avLst/>
          </a:prstGeom>
          <a:solidFill>
            <a:srgbClr val="435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78600"/>
            <a:ext cx="10922000" cy="203200"/>
          </a:xfrm>
          <a:prstGeom prst="rect">
            <a:avLst/>
          </a:prstGeom>
          <a:noFill/>
        </p:spPr>
        <p:txBody>
          <a:bodyPr wrap="none" lIns="0" rIns="0" tIns="0" bIns="0">
            <a:spAutoFit/>
          </a:bodyPr>
          <a:lstStyle/>
          <a:p>
            <a:pPr>
              <a:lnSpc>
                <a:spcPts val="1080"/>
              </a:lnSpc>
              <a:spcBef>
                <a:spcPts val="0"/>
              </a:spcBef>
              <a:spcAft>
                <a:spcPts val="0"/>
              </a:spcAft>
              <a:defRPr sz="800" b="0">
                <a:solidFill>
                  <a:srgbClr val="A7B0B2"/>
                </a:solidFill>
                <a:latin typeface="Noto Sans CJK SC"/>
              </a:defRPr>
            </a:pPr>
            <a:r>
              <a:t>TT1  •  DESIGN DEVELOPMENT v1  |  A 剧本要求 · B 制作建议 · C 可选美化  |  PDF页码含封面</a:t>
            </a:r>
          </a:p>
        </p:txBody>
      </p:sp>
      <p:sp>
        <p:nvSpPr>
          <p:cNvPr id="7" name="TextBox 6"/>
          <p:cNvSpPr txBox="1"/>
          <p:nvPr/>
        </p:nvSpPr>
        <p:spPr>
          <a:xfrm>
            <a:off x="11366500" y="6578600"/>
            <a:ext cx="444500" cy="203200"/>
          </a:xfrm>
          <a:prstGeom prst="rect">
            <a:avLst/>
          </a:prstGeom>
          <a:noFill/>
        </p:spPr>
        <p:txBody>
          <a:bodyPr wrap="none" lIns="0" rIns="0" tIns="0" bIns="0">
            <a:spAutoFit/>
          </a:bodyPr>
          <a:lstStyle/>
          <a:p>
            <a:pPr>
              <a:lnSpc>
                <a:spcPts val="1215"/>
              </a:lnSpc>
              <a:spcBef>
                <a:spcPts val="0"/>
              </a:spcBef>
              <a:spcAft>
                <a:spcPts val="0"/>
              </a:spcAft>
              <a:defRPr sz="900" b="0">
                <a:solidFill>
                  <a:srgbClr val="C4A36C"/>
                </a:solidFill>
                <a:latin typeface="Noto Sans CJK SC"/>
              </a:defRPr>
            </a:pPr>
            <a:r>
              <a:t>169</a:t>
            </a:r>
          </a:p>
        </p:txBody>
      </p:sp>
      <p:sp>
        <p:nvSpPr>
          <p:cNvPr id="8" name="Rectangle 7"/>
          <p:cNvSpPr/>
          <p:nvPr/>
        </p:nvSpPr>
        <p:spPr>
          <a:xfrm>
            <a:off x="4572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已覆盖</a:t>
            </a:r>
          </a:p>
        </p:txBody>
      </p:sp>
      <p:sp>
        <p:nvSpPr>
          <p:cNvPr id="10" name="TextBox 9"/>
          <p:cNvSpPr txBox="1"/>
          <p:nvPr/>
        </p:nvSpPr>
        <p:spPr>
          <a:xfrm>
            <a:off x="6858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59集 / 94条场景标题。</a:t>
            </a:r>
          </a:p>
          <a:p>
            <a:pPr>
              <a:lnSpc>
                <a:spcPts val="2160"/>
              </a:lnSpc>
              <a:spcBef>
                <a:spcPts val="0"/>
              </a:spcBef>
              <a:spcAft>
                <a:spcPts val="0"/>
              </a:spcAft>
              <a:defRPr sz="1600" b="0">
                <a:solidFill>
                  <a:srgbClr val="ECE9DF"/>
                </a:solidFill>
                <a:latin typeface="Noto Sans CJK SC"/>
              </a:defRPr>
            </a:pPr>
            <a:r>
              <a:t>30个地点／子区域均有设计、陈设</a:t>
            </a:r>
          </a:p>
          <a:p>
            <a:pPr>
              <a:lnSpc>
                <a:spcPts val="2160"/>
              </a:lnSpc>
              <a:spcBef>
                <a:spcPts val="0"/>
              </a:spcBef>
              <a:spcAft>
                <a:spcPts val="0"/>
              </a:spcAft>
              <a:defRPr sz="1600" b="0">
                <a:solidFill>
                  <a:srgbClr val="ECE9DF"/>
                </a:solidFill>
                <a:latin typeface="Noto Sans CJK SC"/>
              </a:defRPr>
            </a:pPr>
            <a:r>
              <a:t>、道具与动线页。</a:t>
            </a:r>
          </a:p>
          <a:p>
            <a:pPr>
              <a:lnSpc>
                <a:spcPts val="2160"/>
              </a:lnSpc>
              <a:spcBef>
                <a:spcPts val="0"/>
              </a:spcBef>
              <a:spcAft>
                <a:spcPts val="0"/>
              </a:spcAft>
              <a:defRPr sz="1600" b="0">
                <a:solidFill>
                  <a:srgbClr val="ECE9DF"/>
                </a:solidFill>
                <a:latin typeface="Noto Sans CJK SC"/>
              </a:defRPr>
            </a:pPr>
            <a:r>
              <a:t>配套XLSX含逐场依据、采购主表</a:t>
            </a:r>
          </a:p>
          <a:p>
            <a:pPr>
              <a:lnSpc>
                <a:spcPts val="2160"/>
              </a:lnSpc>
              <a:spcBef>
                <a:spcPts val="0"/>
              </a:spcBef>
              <a:spcAft>
                <a:spcPts val="0"/>
              </a:spcAft>
              <a:defRPr sz="1600" b="0">
                <a:solidFill>
                  <a:srgbClr val="ECE9DF"/>
                </a:solidFill>
                <a:latin typeface="Noto Sans CJK SC"/>
              </a:defRPr>
            </a:pPr>
            <a:r>
              <a:t>、布景清单与连续性矩阵。</a:t>
            </a:r>
          </a:p>
        </p:txBody>
      </p:sp>
      <p:sp>
        <p:nvSpPr>
          <p:cNvPr id="11" name="Rectangle 10"/>
          <p:cNvSpPr/>
          <p:nvPr/>
        </p:nvSpPr>
        <p:spPr>
          <a:xfrm>
            <a:off x="42926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12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仍待输入</a:t>
            </a:r>
          </a:p>
        </p:txBody>
      </p:sp>
      <p:sp>
        <p:nvSpPr>
          <p:cNvPr id="13" name="TextBox 12"/>
          <p:cNvSpPr txBox="1"/>
          <p:nvPr/>
        </p:nvSpPr>
        <p:spPr>
          <a:xfrm>
            <a:off x="45212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Delusion参考PDF和原始参考照片</a:t>
            </a:r>
          </a:p>
          <a:p>
            <a:pPr>
              <a:lnSpc>
                <a:spcPts val="2160"/>
              </a:lnSpc>
              <a:spcBef>
                <a:spcPts val="0"/>
              </a:spcBef>
              <a:spcAft>
                <a:spcPts val="0"/>
              </a:spcAft>
              <a:defRPr sz="1600" b="0">
                <a:solidFill>
                  <a:srgbClr val="ECE9DF"/>
                </a:solidFill>
                <a:latin typeface="Noto Sans CJK SC"/>
              </a:defRPr>
            </a:pPr>
            <a:r>
              <a:t>。</a:t>
            </a:r>
          </a:p>
          <a:p>
            <a:pPr>
              <a:lnSpc>
                <a:spcPts val="2160"/>
              </a:lnSpc>
              <a:spcBef>
                <a:spcPts val="0"/>
              </a:spcBef>
              <a:spcAft>
                <a:spcPts val="0"/>
              </a:spcAft>
              <a:defRPr sz="1600" b="0">
                <a:solidFill>
                  <a:srgbClr val="ECE9DF"/>
                </a:solidFill>
                <a:latin typeface="Noto Sans CJK SC"/>
              </a:defRPr>
            </a:pPr>
            <a:r>
              <a:t>实景测量、四墙照片、预算、排期</a:t>
            </a:r>
          </a:p>
          <a:p>
            <a:pPr>
              <a:lnSpc>
                <a:spcPts val="2160"/>
              </a:lnSpc>
              <a:spcBef>
                <a:spcPts val="0"/>
              </a:spcBef>
              <a:spcAft>
                <a:spcPts val="0"/>
              </a:spcAft>
              <a:defRPr sz="1600" b="0">
                <a:solidFill>
                  <a:srgbClr val="ECE9DF"/>
                </a:solidFill>
                <a:latin typeface="Noto Sans CJK SC"/>
              </a:defRPr>
            </a:pPr>
            <a:r>
              <a:t>、供应商与审批。</a:t>
            </a:r>
          </a:p>
          <a:p>
            <a:pPr>
              <a:lnSpc>
                <a:spcPts val="2160"/>
              </a:lnSpc>
              <a:spcBef>
                <a:spcPts val="0"/>
              </a:spcBef>
              <a:spcAft>
                <a:spcPts val="0"/>
              </a:spcAft>
              <a:defRPr sz="1600" b="0">
                <a:solidFill>
                  <a:srgbClr val="ECE9DF"/>
                </a:solidFill>
                <a:latin typeface="Noto Sans CJK SC"/>
              </a:defRPr>
            </a:pPr>
            <a:r>
              <a:t>照片补齐前，不宣称已匹配参考或</a:t>
            </a:r>
          </a:p>
          <a:p>
            <a:pPr>
              <a:lnSpc>
                <a:spcPts val="2160"/>
              </a:lnSpc>
              <a:spcBef>
                <a:spcPts val="0"/>
              </a:spcBef>
              <a:spcAft>
                <a:spcPts val="0"/>
              </a:spcAft>
              <a:defRPr sz="1600" b="0">
                <a:solidFill>
                  <a:srgbClr val="ECE9DF"/>
                </a:solidFill>
                <a:latin typeface="Noto Sans CJK SC"/>
              </a:defRPr>
            </a:pPr>
            <a:r>
              <a:t>可直接开工。</a:t>
            </a:r>
          </a:p>
        </p:txBody>
      </p:sp>
      <p:sp>
        <p:nvSpPr>
          <p:cNvPr id="14" name="Rectangle 13"/>
          <p:cNvSpPr/>
          <p:nvPr/>
        </p:nvSpPr>
        <p:spPr>
          <a:xfrm>
            <a:off x="8128000" y="2095499"/>
            <a:ext cx="3606800" cy="4127500"/>
          </a:xfrm>
          <a:prstGeom prst="rect">
            <a:avLst/>
          </a:prstGeom>
          <a:solidFill>
            <a:srgbClr val="1C2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2311400"/>
            <a:ext cx="3149600" cy="508000"/>
          </a:xfrm>
          <a:prstGeom prst="rect">
            <a:avLst/>
          </a:prstGeom>
          <a:noFill/>
        </p:spPr>
        <p:txBody>
          <a:bodyPr wrap="none" lIns="0" rIns="0" tIns="0" bIns="0">
            <a:spAutoFit/>
          </a:bodyPr>
          <a:lstStyle/>
          <a:p>
            <a:pPr>
              <a:lnSpc>
                <a:spcPts val="2430"/>
              </a:lnSpc>
              <a:spcBef>
                <a:spcPts val="0"/>
              </a:spcBef>
              <a:spcAft>
                <a:spcPts val="0"/>
              </a:spcAft>
              <a:defRPr sz="1800" b="0">
                <a:solidFill>
                  <a:srgbClr val="C4A36C"/>
                </a:solidFill>
                <a:latin typeface="Noto Sans CJK SC"/>
              </a:defRPr>
            </a:pPr>
            <a:r>
              <a:t>Google Slides</a:t>
            </a:r>
          </a:p>
        </p:txBody>
      </p:sp>
      <p:sp>
        <p:nvSpPr>
          <p:cNvPr id="16" name="TextBox 15"/>
          <p:cNvSpPr txBox="1"/>
          <p:nvPr/>
        </p:nvSpPr>
        <p:spPr>
          <a:xfrm>
            <a:off x="8356600" y="2959100"/>
            <a:ext cx="3149600" cy="2984500"/>
          </a:xfrm>
          <a:prstGeom prst="rect">
            <a:avLst/>
          </a:prstGeom>
          <a:noFill/>
        </p:spPr>
        <p:txBody>
          <a:bodyPr wrap="none" lIns="0" rIns="0" tIns="0" bIns="0">
            <a:spAutoFit/>
          </a:bodyPr>
          <a:lstStyle/>
          <a:p>
            <a:pPr>
              <a:lnSpc>
                <a:spcPts val="2160"/>
              </a:lnSpc>
              <a:spcBef>
                <a:spcPts val="0"/>
              </a:spcBef>
              <a:spcAft>
                <a:spcPts val="0"/>
              </a:spcAft>
              <a:defRPr sz="1600" b="0">
                <a:solidFill>
                  <a:srgbClr val="ECE9DF"/>
                </a:solidFill>
                <a:latin typeface="Noto Sans CJK SC"/>
              </a:defRPr>
            </a:pPr>
            <a:r>
              <a:t>交付可编辑PPTX：文本、矩形、</a:t>
            </a:r>
          </a:p>
          <a:p>
            <a:pPr>
              <a:lnSpc>
                <a:spcPts val="2160"/>
              </a:lnSpc>
              <a:spcBef>
                <a:spcPts val="0"/>
              </a:spcBef>
              <a:spcAft>
                <a:spcPts val="0"/>
              </a:spcAft>
              <a:defRPr sz="1600" b="0">
                <a:solidFill>
                  <a:srgbClr val="ECE9DF"/>
                </a:solidFill>
                <a:latin typeface="Noto Sans CJK SC"/>
              </a:defRPr>
            </a:pPr>
            <a:r>
              <a:t>标签与动线均可编辑。</a:t>
            </a:r>
          </a:p>
          <a:p>
            <a:pPr>
              <a:lnSpc>
                <a:spcPts val="2160"/>
              </a:lnSpc>
              <a:spcBef>
                <a:spcPts val="0"/>
              </a:spcBef>
              <a:spcAft>
                <a:spcPts val="0"/>
              </a:spcAft>
              <a:defRPr sz="1600" b="0">
                <a:solidFill>
                  <a:srgbClr val="ECE9DF"/>
                </a:solidFill>
                <a:latin typeface="Noto Sans CJK SC"/>
              </a:defRPr>
            </a:pPr>
            <a:r>
              <a:t>导入Google Drive → 用Google Slides</a:t>
            </a:r>
          </a:p>
          <a:p>
            <a:pPr>
              <a:lnSpc>
                <a:spcPts val="2160"/>
              </a:lnSpc>
              <a:spcBef>
                <a:spcPts val="0"/>
              </a:spcBef>
              <a:spcAft>
                <a:spcPts val="0"/>
              </a:spcAft>
              <a:defRPr sz="1600" b="0">
                <a:solidFill>
                  <a:srgbClr val="ECE9DF"/>
                </a:solidFill>
                <a:latin typeface="Noto Sans CJK SC"/>
              </a:defRPr>
            </a:pPr>
            <a:r>
              <a:t>打开。</a:t>
            </a:r>
          </a:p>
          <a:p>
            <a:pPr>
              <a:lnSpc>
                <a:spcPts val="2160"/>
              </a:lnSpc>
              <a:spcBef>
                <a:spcPts val="0"/>
              </a:spcBef>
              <a:spcAft>
                <a:spcPts val="0"/>
              </a:spcAft>
              <a:defRPr sz="1600" b="0">
                <a:solidFill>
                  <a:srgbClr val="ECE9DF"/>
                </a:solidFill>
                <a:latin typeface="Noto Sans CJK SC"/>
              </a:defRPr>
            </a:pPr>
            <a:r>
              <a:t>本版未在Google Slides中实测字体</a:t>
            </a:r>
          </a:p>
          <a:p>
            <a:pPr>
              <a:lnSpc>
                <a:spcPts val="2160"/>
              </a:lnSpc>
              <a:spcBef>
                <a:spcPts val="0"/>
              </a:spcBef>
              <a:spcAft>
                <a:spcPts val="0"/>
              </a:spcAft>
              <a:defRPr sz="1600" b="0">
                <a:solidFill>
                  <a:srgbClr val="ECE9DF"/>
                </a:solidFill>
                <a:latin typeface="Noto Sans CJK SC"/>
              </a:defRPr>
            </a:pPr>
            <a:r>
              <a:t>／分页；导入后复核。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